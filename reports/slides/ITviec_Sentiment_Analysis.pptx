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104b64d9034e44" /><Relationship Type="http://schemas.openxmlformats.org/officeDocument/2006/relationships/extended-properties" Target="/docProps/app.xml" Id="R5c463af1901f4b6e" /><Relationship Type="http://schemas.openxmlformats.org/officeDocument/2006/relationships/officeDocument" Target="/ppt/presentation.xml" Id="R0976b4fbd065422f" /></Relationships>
</file>

<file path=ppt/presentation.xml><?xml version="1.0" encoding="utf-8"?>
<p:presentation xmlns:p="http://schemas.openxmlformats.org/presentationml/2006/main">
  <p:sldMasterIdLst>
    <p:sldMasterId xmlns:r="http://schemas.openxmlformats.org/officeDocument/2006/relationships" id="2147483648" r:id="R2d080989e9044be6"/>
  </p:sldMasterIdLst>
  <p:notesMasterIdLst>
    <p:notesMasterId xmlns:r="http://schemas.openxmlformats.org/officeDocument/2006/relationships" r:id="Rb73a8179296d4e27"/>
  </p:notesMasterIdLst>
  <p:sldIdLst>
    <p:sldId xmlns:r="http://schemas.openxmlformats.org/officeDocument/2006/relationships" id="256" r:id="R3c28f0e360d74299"/>
    <p:sldId xmlns:r="http://schemas.openxmlformats.org/officeDocument/2006/relationships" id="257" r:id="R560380687fdb4c7c"/>
    <p:sldId xmlns:r="http://schemas.openxmlformats.org/officeDocument/2006/relationships" id="258" r:id="R486d8988d78648e7"/>
    <p:sldId xmlns:r="http://schemas.openxmlformats.org/officeDocument/2006/relationships" id="259" r:id="R19418cc0c11c4460"/>
    <p:sldId xmlns:r="http://schemas.openxmlformats.org/officeDocument/2006/relationships" id="260" r:id="R3f181d29bb034c01"/>
    <p:sldId xmlns:r="http://schemas.openxmlformats.org/officeDocument/2006/relationships" id="261" r:id="Rd24de3dbef014e93"/>
    <p:sldId xmlns:r="http://schemas.openxmlformats.org/officeDocument/2006/relationships" id="262" r:id="Re08c46a5d6994fce"/>
    <p:sldId xmlns:r="http://schemas.openxmlformats.org/officeDocument/2006/relationships" id="263" r:id="R4f225be2f22e4100"/>
    <p:sldId xmlns:r="http://schemas.openxmlformats.org/officeDocument/2006/relationships" id="264" r:id="Rcd39c75f823a4c1d"/>
    <p:sldId xmlns:r="http://schemas.openxmlformats.org/officeDocument/2006/relationships" id="265" r:id="Rb28cd8d2440b4564"/>
    <p:sldId xmlns:r="http://schemas.openxmlformats.org/officeDocument/2006/relationships" id="266" r:id="Rd8d98e5a42854f3c"/>
    <p:sldId xmlns:r="http://schemas.openxmlformats.org/officeDocument/2006/relationships" id="267" r:id="R3a042a536c7b403a"/>
    <p:sldId xmlns:r="http://schemas.openxmlformats.org/officeDocument/2006/relationships" id="268" r:id="Rcccc8e9202114bac"/>
    <p:sldId xmlns:r="http://schemas.openxmlformats.org/officeDocument/2006/relationships" id="269" r:id="R69dbfc26310a447a"/>
    <p:sldId xmlns:r="http://schemas.openxmlformats.org/officeDocument/2006/relationships" id="270" r:id="R99f999ff747a4ad4"/>
    <p:sldId xmlns:r="http://schemas.openxmlformats.org/officeDocument/2006/relationships" id="271" r:id="R9274943345314909"/>
    <p:sldId xmlns:r="http://schemas.openxmlformats.org/officeDocument/2006/relationships" id="272" r:id="R4427032783894bd9"/>
    <p:sldId xmlns:r="http://schemas.openxmlformats.org/officeDocument/2006/relationships" id="273" r:id="Raf16210d61ba40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a84f9c15fd4a8f" /><Relationship Type="http://schemas.openxmlformats.org/officeDocument/2006/relationships/slideMaster" Target="/ppt/slideMasters/slideMaster1.xml" Id="R2d080989e9044be6" /><Relationship Type="http://schemas.openxmlformats.org/officeDocument/2006/relationships/notesMaster" Target="/ppt/notesMasters/notesMaster1.xml" Id="Rb73a8179296d4e27" /><Relationship Type="http://schemas.openxmlformats.org/officeDocument/2006/relationships/presProps" Target="/ppt/presProps.xml" Id="Raf4157393a414fba" /><Relationship Type="http://schemas.openxmlformats.org/officeDocument/2006/relationships/tableStyles" Target="/ppt/tableStyles.xml" Id="R488db39785884c25" /><Relationship Type="http://schemas.openxmlformats.org/officeDocument/2006/relationships/slide" Target="/ppt/slides/slide1.xml" Id="R3c28f0e360d74299" /><Relationship Type="http://schemas.openxmlformats.org/officeDocument/2006/relationships/slide" Target="/ppt/slides/slide2.xml" Id="R560380687fdb4c7c" /><Relationship Type="http://schemas.openxmlformats.org/officeDocument/2006/relationships/slide" Target="/ppt/slides/slide3.xml" Id="R486d8988d78648e7" /><Relationship Type="http://schemas.openxmlformats.org/officeDocument/2006/relationships/slide" Target="/ppt/slides/slide4.xml" Id="R19418cc0c11c4460" /><Relationship Type="http://schemas.openxmlformats.org/officeDocument/2006/relationships/slide" Target="/ppt/slides/slide5.xml" Id="R3f181d29bb034c01" /><Relationship Type="http://schemas.openxmlformats.org/officeDocument/2006/relationships/slide" Target="/ppt/slides/slide6.xml" Id="Rd24de3dbef014e93" /><Relationship Type="http://schemas.openxmlformats.org/officeDocument/2006/relationships/slide" Target="/ppt/slides/slide7.xml" Id="Re08c46a5d6994fce" /><Relationship Type="http://schemas.openxmlformats.org/officeDocument/2006/relationships/slide" Target="/ppt/slides/slide8.xml" Id="R4f225be2f22e4100" /><Relationship Type="http://schemas.openxmlformats.org/officeDocument/2006/relationships/slide" Target="/ppt/slides/slide9.xml" Id="Rcd39c75f823a4c1d" /><Relationship Type="http://schemas.openxmlformats.org/officeDocument/2006/relationships/slide" Target="/ppt/slides/slide10.xml" Id="Rb28cd8d2440b4564" /><Relationship Type="http://schemas.openxmlformats.org/officeDocument/2006/relationships/slide" Target="/ppt/slides/slide11.xml" Id="Rd8d98e5a42854f3c" /><Relationship Type="http://schemas.openxmlformats.org/officeDocument/2006/relationships/slide" Target="/ppt/slides/slide12.xml" Id="R3a042a536c7b403a" /><Relationship Type="http://schemas.openxmlformats.org/officeDocument/2006/relationships/slide" Target="/ppt/slides/slide13.xml" Id="Rcccc8e9202114bac" /><Relationship Type="http://schemas.openxmlformats.org/officeDocument/2006/relationships/slide" Target="/ppt/slides/slide14.xml" Id="R69dbfc26310a447a" /><Relationship Type="http://schemas.openxmlformats.org/officeDocument/2006/relationships/slide" Target="/ppt/slides/slide15.xml" Id="R99f999ff747a4ad4" /><Relationship Type="http://schemas.openxmlformats.org/officeDocument/2006/relationships/slide" Target="/ppt/slides/slide16.xml" Id="R9274943345314909" /><Relationship Type="http://schemas.openxmlformats.org/officeDocument/2006/relationships/slide" Target="/ppt/slides/slide17.xml" Id="R4427032783894bd9" /><Relationship Type="http://schemas.openxmlformats.org/officeDocument/2006/relationships/slide" Target="/ppt/slides/slide18.xml" Id="Raf16210d61ba40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090e5ad3bd4b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75ff07aa6f4203" /><Relationship Type="http://schemas.openxmlformats.org/officeDocument/2006/relationships/notesMaster" Target="/ppt/notesMasters/notesMaster1.xml" Id="R13d4329c25f142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5d36f60dff45ad" /><Relationship Type="http://schemas.openxmlformats.org/officeDocument/2006/relationships/notesMaster" Target="/ppt/notesMasters/notesMaster1.xml" Id="R66d81159960342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d87041f6794bd5" /><Relationship Type="http://schemas.openxmlformats.org/officeDocument/2006/relationships/notesMaster" Target="/ppt/notesMasters/notesMaster1.xml" Id="Rf91d42e92c8542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afcf75c96a46c1" /><Relationship Type="http://schemas.openxmlformats.org/officeDocument/2006/relationships/notesMaster" Target="/ppt/notesMasters/notesMaster1.xml" Id="R27a897dc3e8349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abeacad3e84f89" /><Relationship Type="http://schemas.openxmlformats.org/officeDocument/2006/relationships/notesMaster" Target="/ppt/notesMasters/notesMaster1.xml" Id="Raf1a70336d1f45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14be4a0e6c4d5b" /><Relationship Type="http://schemas.openxmlformats.org/officeDocument/2006/relationships/notesMaster" Target="/ppt/notesMasters/notesMaster1.xml" Id="R53db79423d524d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a4a782fe774ff2" /><Relationship Type="http://schemas.openxmlformats.org/officeDocument/2006/relationships/notesMaster" Target="/ppt/notesMasters/notesMaster1.xml" Id="Raccad5b507fd4a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bc9f4402054797" /><Relationship Type="http://schemas.openxmlformats.org/officeDocument/2006/relationships/notesMaster" Target="/ppt/notesMasters/notesMaster1.xml" Id="Rbbf8a4b16f834e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64bf0a427940ce" /><Relationship Type="http://schemas.openxmlformats.org/officeDocument/2006/relationships/notesMaster" Target="/ppt/notesMasters/notesMaster1.xml" Id="Rf25399cad9364c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92c0b323f34947" /><Relationship Type="http://schemas.openxmlformats.org/officeDocument/2006/relationships/notesMaster" Target="/ppt/notesMasters/notesMaster1.xml" Id="R5facb78b83f34d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439f35b34348f0" /><Relationship Type="http://schemas.openxmlformats.org/officeDocument/2006/relationships/notesMaster" Target="/ppt/notesMasters/notesMaster1.xml" Id="R030f6da0d5b04a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34bf132cc746fa" /><Relationship Type="http://schemas.openxmlformats.org/officeDocument/2006/relationships/notesMaster" Target="/ppt/notesMasters/notesMaster1.xml" Id="R4e25a23937c542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e8947c2da84003" /><Relationship Type="http://schemas.openxmlformats.org/officeDocument/2006/relationships/notesMaster" Target="/ppt/notesMasters/notesMaster1.xml" Id="R4ffdcb56715a48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90c0df0aed4bfa" /><Relationship Type="http://schemas.openxmlformats.org/officeDocument/2006/relationships/notesMaster" Target="/ppt/notesMasters/notesMaster1.xml" Id="Raf08fbb7b6b543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e80a2cfd5c4c2a" /><Relationship Type="http://schemas.openxmlformats.org/officeDocument/2006/relationships/notesMaster" Target="/ppt/notesMasters/notesMaster1.xml" Id="Ra33eb7e94d774e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82dad702264b56" /><Relationship Type="http://schemas.openxmlformats.org/officeDocument/2006/relationships/notesMaster" Target="/ppt/notesMasters/notesMaster1.xml" Id="Rde178bf6caf14f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0f8c94e5ca48e8" /><Relationship Type="http://schemas.openxmlformats.org/officeDocument/2006/relationships/notesMaster" Target="/ppt/notesMasters/notesMaster1.xml" Id="R43f862570fb94b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deb6051d73490d" /><Relationship Type="http://schemas.openxmlformats.org/officeDocument/2006/relationships/notesMaster" Target="/ppt/notesMasters/notesMaster1.xml" Id="Rc449c06e1f8e46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25s (0:25)]</a:t>
            </a:r>
          </a:p>
          <a:p xmlns:a="http://schemas.openxmlformats.org/drawingml/2006/main">
            <a:r>
              <a:t>Kính chào Thầy Cáp Phạm Đình Thăng và các bạn. Nhóm sinh viên năm nhất báo cáo đồ án phân tích cảm xúc 8.414 review ITviec ba lớp Tích cực, Trung tính, Tiêu cực. (~25s)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Hai thử thách: mất cân bằng lớp 11:1 (73,8% vs 6,8%) nên cần Macro F1 làm thước đo chính. Nhãn yếu suy từ số sao, lời review thường vừa khen vừa chê.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Quy trình 5 bước: làm sạch 2 tầng, TF-IDF, thử 5 mô hình với SMOTE trên tập Development. Bản retrained_v2 đạt Macro F1 0,5764 trên cùng Final Test cũ làm đối chứng.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Tầng 1 chuẩn hóa ký tự và thuật ngữ IT. Tầng 2 tách từ tiếng Việt và tuyệt đối giữ lại từ phủ định (không, chưa) và từ mức độ (thấp, thiếu) để tránh hiểu ngược câu.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30s (0:30)]</a:t>
            </a:r>
          </a:p>
          <a:p xmlns:a="http://schemas.openxmlformats.org/drawingml/2006/main">
            <a:r>
              <a:t>Lương và Quản lý tương quan cao nhất với rating (&gt;0,73), văn phòng thấp hơn (~0,54). Pipeline chính chỉ dùng văn bản vì thực tế người dùng không chấm điểm phụ. (~30s)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TF-IDF thêm Bigram tăng Macro F1 từ 55,69% lên 57,22%, giữ được cụm “không lương”, “thiếu minh bạch”. Cấu hình 5.000 đặc trưng, chia tập Stratified 80/20 giữ nguyên tỷ lệ lớp.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Thử 5 mô hình cơ bản. SMOTE chỉ áp dụng bên trong fold huấn luyện để chống rò rỉ dữ liệu (Data Leakage), giữ nguyên vẹn tập validation.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Thí nghiệm bổ sung theo góp ý giảng viên: F1 là thước đo chọn cấu hình, không phải một bước train bật/tắt. Nhóm so sánh 9 cấu hình Logistic Regression C=1.0 trên cùng 6.731 review Development, Stratified 5-Fold CV. TF-IDF fit riêng từng fold; SMOTE chỉ trong phần train. Chọn bằng Accuracy ra unigram+bigram không xử lý mất cân bằng: Accuracy 0,7705, Macro F1 0,4702. Chọn bằng Macro F1 ra unigram+bigram class weight: Macro F1 0,5839, Accuracy 0,7326. SMOTE hiện triển khai đạt Macro F1 0,5815 trong cùng phép thử, chênh rất nhỏ. Các kết quả trên là CV Development, không phải Final Test. Nguồn nội bộ: reports/evaluation/metric_selection_ablation.json.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Cùng Logistic Regression C=1, cùng 6.731 review Development, Stratified 5-Fold CV và tiền xử lý đã hiệu chỉnh. Các bộ ba là CV Macro F1 theo thứ tự không xử lý / class weight / SMOTE: unigram 0,4624 / 0,5645 / 0,5582; bigram 0,4239 / 0,5510 / 0,5369; unigram+bigram 0,4702 / 0,5839 / 0,5815. Mốc không dùng văn bản luôn đoán lớp đông nhất, Accuracy 0,7376 và Macro F1 0,2830. Tập Final Test không tham gia.</a:t>
            </a:r>
          </a:p>
          <a:p xmlns:a="http://schemas.openxmlformats.org/drawingml/2006/main">
            <a:r>
              <a:t>[Sources]</a:t>
            </a:r>
          </a:p>
          <a:p xmlns:a="http://schemas.openxmlformats.org/drawingml/2006/main">
            <a:r>
              <a:t>reports/evaluation/metric_selection_ablation.json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Thí nghiệm class weight theo từng mô hình. Cùng 6.731 review Development, tiền xử lý mới, TF-IDF unigram+bigram, Stratified 5-fold CV. Các số trên slide là Macro F1 theo thứ tự không xử lý / class weight / SMOTE. Multinomial Naive Bayes: Không xử lý .412, Class weight N/A, SMOTE .560; Logistic Regression: Không xử lý .470, Class weight .584, SMOTE .582; Linear SVM: Không xử lý .414, Class weight .576, SMOTE .582; Random Forest: Không xử lý .357, Class weight .533, SMOTE .481; Stacking Ensemble: Không xử lý .567, Class weight .571, SMOTE .528. MultinomialNB không hỗ trợ class_weight. Với Stacking, class_weight áp dụng cho LR, SVM, RF và meta LR; NB thành phần không có tham số này. SMOTE chỉ trong fold train, không dùng Final Test. Đây là thí nghiệm bổ sung với tham số cố định, không thay bảng GridSearchCV gốc. Nguồn: reports/evaluation/model_imbalance_ablation.json.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40s (0:40)]</a:t>
            </a:r>
          </a:p>
          <a:p xmlns:a="http://schemas.openxmlformats.org/drawingml/2006/main">
            <a:r>
              <a:t>Xếp hạng ban đầu: LR (0,5727) và SVM (0,5724) bám sát nhau. Chọn LR vì trả xác suất. Sau sửa tiền xử lý, chạy phép CV riêng tăng lên 0,5815 (không trừ điểm trực tiếp vào bảng cũ). (~40s)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45s (0:45)]</a:t>
            </a:r>
          </a:p>
          <a:p xmlns:a="http://schemas.openxmlformats.org/drawingml/2006/main">
            <a:r>
              <a:t>Final Test cũ: Accuracy 74,33%, Macro F1 0,5764, sai 432 mẫu. Lớp Negative: tìm đúng 52/114 mẫu, Recall chỉ đạt 45,6% (F1 0,3910). Nhận diện lời chê là thách thức lớn nhất của bài toán. (~45s)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này dùng phân tích lỗi của phiên bản gốc trong báo cáo, không phải bản sửa đang demo. Bản gốc sai 442/1.683 review. Nhóm đọc thủ công 15 lỗi có độ tin cậy cao nhất: 10 review có cảm xúc đan xen, 4 trường hợp nhãn rating và nội dung lệch nhau, 1 review dài nhiều khía cạnh. Đây là 15 mẫu được chọn để tìm nguyên nhân, không phải phân bố của toàn bộ 442 lỗi. [Sources] Báo cáo đồ án, mục 4.5 và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Khám phá 5 công ty: Lương &amp; đãi ngộ thấp nhất ở 4/5 công ty, riêng VNG thấp nhất ở Quản lý. Đây là phân tích mô tả trên dữ liệu thu thập, nhóm không xếp hạng công ty thực tế.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Minh họa câu test OT không lương: Bản sửa nhận diện Tiêu cực 99,0%. Bigram “thường_xuyên ot”, “không lương” nổi bật rõ nét. Trục biểu đồ nhân 100 để quan sát, không phải xác suất.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 (0:35)]</a:t>
            </a:r>
          </a:p>
          <a:p xmlns:a="http://schemas.openxmlformats.org/drawingml/2006/main">
            <a:r>
              <a:t>Nhóm sinh viên năm nhất hoàn thành trọn vẹn pipeline học máy. Hạn chế: nhãn yếu từ rating, Negative F1 chỉ 0,3910, mô hình TF-IDF chưa hiểu ngữ nghĩa sâu của câu phức. (~35s)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30s (0:30)]</a:t>
            </a:r>
          </a:p>
          <a:p xmlns:a="http://schemas.openxmlformats.org/drawingml/2006/main">
            <a:r>
              <a:t>Đóng góp: Pipeline chuẩn mực, đánh giá minh bạch, ứng dụng demo. Hướng tới: gán nhãn chuẩn, ABSA khía cạnh, PhoBERT. Kết thúc slide, mời bạn Khang live demo. (~30s)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25s (0:25)]</a:t>
            </a:r>
          </a:p>
          <a:p xmlns:a="http://schemas.openxmlformats.org/drawingml/2006/main">
            <a:r>
              <a:t>Bạn Nguyễn Duy Khang chuyển sang ứng dụng Streamlit đã mở sẵn để thao tác trực tiếp 3 tính năng: Insight doanh nghiệp -&gt; Đánh giá 1 lỗi -&gt; Phân tích review theo thời gian thực (~25s dẫn dắt).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3828b8618e42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765a3eb97242f9" /><Relationship Type="http://schemas.openxmlformats.org/officeDocument/2006/relationships/slideLayout" Target="/ppt/slideLayouts/slideLayout1.xml" Id="R74d1cd4d426345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d1cd4d426345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499133347f481a" /><Relationship Type="http://schemas.openxmlformats.org/officeDocument/2006/relationships/image" Target="/ppt/media/image.png" Id="R4ddc7f53e9a84e12" /><Relationship Type="http://schemas.openxmlformats.org/officeDocument/2006/relationships/notesSlide" Target="/ppt/notesSlides/notesSlide1.xml" Id="R25c3a4947fc948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fcb58f12314a4c" /><Relationship Type="http://schemas.openxmlformats.org/officeDocument/2006/relationships/chart" Target="/ppt/slides/charts/chart1.xml" Id="R42b340a5e7e04ef3" /><Relationship Type="http://schemas.openxmlformats.org/officeDocument/2006/relationships/notesSlide" Target="/ppt/notesSlides/notesSlide2.xml" Id="R1097d7eab6cb4e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fe94dff472422d" /><Relationship Type="http://schemas.openxmlformats.org/officeDocument/2006/relationships/notesSlide" Target="/ppt/notesSlides/notesSlide3.xml" Id="Ra7e7f7049e8b43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d9ef52c4cc4504" /><Relationship Type="http://schemas.openxmlformats.org/officeDocument/2006/relationships/notesSlide" Target="/ppt/notesSlides/notesSlide4.xml" Id="Rf933bd5d26184f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02d2b358df45de" /><Relationship Type="http://schemas.openxmlformats.org/officeDocument/2006/relationships/image" Target="/ppt/media/image2.png" Id="Re0f19c17a7f548eb" /><Relationship Type="http://schemas.openxmlformats.org/officeDocument/2006/relationships/notesSlide" Target="/ppt/notesSlides/notesSlide5.xml" Id="R982631a54003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7f9a43ad0c4e6b" /><Relationship Type="http://schemas.openxmlformats.org/officeDocument/2006/relationships/chart" Target="/ppt/slides/charts/chart2.xml" Id="R8107fa741b714f08" /><Relationship Type="http://schemas.openxmlformats.org/officeDocument/2006/relationships/notesSlide" Target="/ppt/notesSlides/notesSlide6.xml" Id="Rfe700efc6ebf47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5c50c7c8114619" /><Relationship Type="http://schemas.openxmlformats.org/officeDocument/2006/relationships/notesSlide" Target="/ppt/notesSlides/notesSlide7.xml" Id="Rb96057ba611e40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76ec1c3be94804" /><Relationship Type="http://schemas.openxmlformats.org/officeDocument/2006/relationships/notesSlide" Target="/ppt/notesSlides/notesSlide8.xml" Id="Rea8b89b90e2345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4dc812a5e845ef" /><Relationship Type="http://schemas.openxmlformats.org/officeDocument/2006/relationships/notesSlide" Target="/ppt/notesSlides/notesSlide9.xml" Id="R7d419afa1ab845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1b456e00624e94" /><Relationship Type="http://schemas.openxmlformats.org/officeDocument/2006/relationships/notesSlide" Target="/ppt/notesSlides/notesSlide10.xml" Id="Rec8ea0c6b6a040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933fe4f0604555" /><Relationship Type="http://schemas.openxmlformats.org/officeDocument/2006/relationships/chart" Target="/ppt/slides/charts/chart3.xml" Id="R381261625f8c4603" /><Relationship Type="http://schemas.openxmlformats.org/officeDocument/2006/relationships/notesSlide" Target="/ppt/notesSlides/notesSlide11.xml" Id="Ra7a835bd22504f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befc23659948b3" /><Relationship Type="http://schemas.openxmlformats.org/officeDocument/2006/relationships/chart" Target="/ppt/slides/charts/chart4.xml" Id="R4259ff5d5b994d17" /><Relationship Type="http://schemas.openxmlformats.org/officeDocument/2006/relationships/notesSlide" Target="/ppt/notesSlides/notesSlide12.xml" Id="R9d95e1ba60474a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f523a2762143ba" /><Relationship Type="http://schemas.openxmlformats.org/officeDocument/2006/relationships/notesSlide" Target="/ppt/notesSlides/notesSlide13.xml" Id="R54ca5d56b4704f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9f9a3c13dc4937" /><Relationship Type="http://schemas.openxmlformats.org/officeDocument/2006/relationships/chart" Target="/ppt/slides/charts/chart5.xml" Id="R4245e05292da446e" /><Relationship Type="http://schemas.openxmlformats.org/officeDocument/2006/relationships/notesSlide" Target="/ppt/notesSlides/notesSlide14.xml" Id="R6b5954523ae242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68a6b9e562e4d19" /><Relationship Type="http://schemas.openxmlformats.org/officeDocument/2006/relationships/chart" Target="/ppt/slides/charts/chart6.xml" Id="R5bb04095018d40d3" /><Relationship Type="http://schemas.openxmlformats.org/officeDocument/2006/relationships/notesSlide" Target="/ppt/notesSlides/notesSlide15.xml" Id="R6e777321a1f84a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f36fbcfc5e4b3a" /><Relationship Type="http://schemas.openxmlformats.org/officeDocument/2006/relationships/notesSlide" Target="/ppt/notesSlides/notesSlide16.xml" Id="Rca5b99912e7e4d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1fb985fdfa248e9" /><Relationship Type="http://schemas.openxmlformats.org/officeDocument/2006/relationships/notesSlide" Target="/ppt/notesSlides/notesSlide17.xml" Id="R83dd6d33d85445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16705a734f5415e" /><Relationship Type="http://schemas.openxmlformats.org/officeDocument/2006/relationships/notesSlide" Target="/ppt/notesSlides/notesSlide18.xml" Id="R88fbc5b1d2b14bdd" /></Relationships>
</file>

<file path=ppt/slides/charts/chart1.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1"/>
              <c:pt idx="0">
                <c:v>8.417 review</c:v>
              </c:pt>
            </c:strLit>
          </c:cat>
          <c:val>
            <c:numLit>
              <c:formatCode>0</c:formatCode>
              <c:ptCount val="1"/>
              <c:pt idx="0">
                <c:v>73.76</c:v>
              </c:pt>
            </c:numLit>
          </c:val>
        </c:ser>
        <c:ser>
          <c:idx val="1"/>
          <c:order val="1"/>
          <c:tx>
            <c:v>Neutral</c:v>
          </c:tx>
          <c:spPr>
            <a:solidFill xmlns:a="http://schemas.openxmlformats.org/drawingml/2006/main">
              <a:srgbClr val="F4D35E"/>
            </a:solidFill>
          </c:spPr>
          <c:cat>
            <c:strLit>
              <c:ptCount val="1"/>
              <c:pt idx="0">
                <c:v>8.417 review</c:v>
              </c:pt>
            </c:strLit>
          </c:cat>
          <c:val>
            <c:numLit>
              <c:formatCode>0</c:formatCode>
              <c:ptCount val="1"/>
              <c:pt idx="0">
                <c:v>19.47</c:v>
              </c:pt>
            </c:numLit>
          </c:val>
        </c:ser>
        <c:ser>
          <c:idx val="2"/>
          <c:order val="2"/>
          <c:tx>
            <c:v>Negative</c:v>
          </c:tx>
          <c:spPr>
            <a:solidFill xmlns:a="http://schemas.openxmlformats.org/drawingml/2006/main">
              <a:srgbClr val="FF667B"/>
            </a:solidFill>
          </c:spPr>
          <c:cat>
            <c:strLit>
              <c:ptCount val="1"/>
              <c:pt idx="0">
                <c:v>8.417 review</c:v>
              </c:pt>
            </c:strLit>
          </c:cat>
          <c:val>
            <c:numLit>
              <c:formatCode>0</c:formatCode>
              <c:ptCount val="1"/>
              <c:pt idx="0">
                <c:v>6.77</c:v>
              </c:pt>
            </c:numLit>
          </c:val>
        </c:ser>
        <c:dLbls>
          <c:txPr>
            <a:bodyPr xmlns:a="http://schemas.openxmlformats.org/drawingml/2006/main" anchorCtr="1"/>
            <a:lstStyle xmlns:a="http://schemas.openxmlformats.org/drawingml/2006/main"/>
            <a:p xmlns:a="http://schemas.openxmlformats.org/drawingml/2006/main">
              <a:pPr>
                <a:defRPr sz="1050"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1"/>
            <c:invertIfNegative val="0"/>
            <c:spPr>
              <a:solidFill xmlns:a="http://schemas.openxmlformats.org/drawingml/2006/main">
                <a:srgbClr val="45D9A0"/>
              </a:solidFill>
            </c:spPr>
          </c:dPt>
          <c:cat>
            <c:strLit>
              <c:ptCount val="2"/>
              <c:pt idx="0">
                <c:v>Unigram (1,1)</c:v>
              </c:pt>
              <c:pt idx="1">
                <c:v>Unigram + bigram (1,2)</c:v>
              </c:pt>
            </c:strLit>
          </c:cat>
          <c:val>
            <c:numLit>
              <c:formatCode>General</c:formatCode>
              <c:ptCount val="2"/>
              <c:pt idx="0">
                <c:v>55.69</c:v>
              </c:pt>
              <c:pt idx="1">
                <c:v>57.22</c:v>
              </c:pt>
            </c:numLit>
          </c:val>
        </c:ser>
        <c:dLbls>
          <c:txPr>
            <a:bodyPr xmlns:a="http://schemas.openxmlformats.org/drawingml/2006/main" anchorCtr="1"/>
            <a:lstStyle xmlns:a="http://schemas.openxmlformats.org/drawingml/2006/main"/>
            <a:p xmlns:a="http://schemas.openxmlformats.org/drawingml/2006/main">
              <a:pPr>
                <a:defRPr sz="120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0"/>
            <c:invertIfNegative val="0"/>
            <c:spPr>
              <a:solidFill xmlns:a="http://schemas.openxmlformats.org/drawingml/2006/main">
                <a:srgbClr val="45D9A0"/>
              </a:solidFill>
            </c:spPr>
          </c:dPt>
          <c:cat>
            <c:strLit>
              <c:ptCount val="5"/>
              <c:pt idx="0">
                <c:v>Logistic Regression</c:v>
              </c:pt>
              <c:pt idx="1">
                <c:v>Linear SVM</c:v>
              </c:pt>
              <c:pt idx="2">
                <c:v>Random Forest</c:v>
              </c:pt>
              <c:pt idx="3">
                <c:v>Stacking</c:v>
              </c:pt>
              <c:pt idx="4">
                <c:v>Naive Bayes</c:v>
              </c:pt>
            </c:strLit>
          </c:cat>
          <c:val>
            <c:numLit>
              <c:formatCode>General</c:formatCode>
              <c:ptCount val="5"/>
              <c:pt idx="0">
                <c:v>57.27</c:v>
              </c:pt>
              <c:pt idx="1">
                <c:v>57.24</c:v>
              </c:pt>
              <c:pt idx="2">
                <c:v>56.64</c:v>
              </c:pt>
              <c:pt idx="3">
                <c:v>55.6</c:v>
              </c:pt>
              <c:pt idx="4">
                <c:v>55.34</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F1 theo lớp (%)</c:v>
          </c:tx>
          <c:spPr>
            <a:solidFill xmlns:a="http://schemas.openxmlformats.org/drawingml/2006/main">
              <a:srgbClr val="FF667B"/>
            </a:solidFill>
          </c:spPr>
          <c:dPt>
            <c:idx val="1"/>
            <c:invertIfNegative val="0"/>
            <c:spPr>
              <a:solidFill xmlns:a="http://schemas.openxmlformats.org/drawingml/2006/main">
                <a:srgbClr val="F4D35E"/>
              </a:solidFill>
            </c:spPr>
          </c:dPt>
          <c:dPt>
            <c:idx val="2"/>
            <c:invertIfNegative val="0"/>
            <c:spPr>
              <a:solidFill xmlns:a="http://schemas.openxmlformats.org/drawingml/2006/main">
                <a:srgbClr val="45D9A0"/>
              </a:solidFill>
            </c:spPr>
          </c:dPt>
          <c:cat>
            <c:strLit>
              <c:ptCount val="3"/>
              <c:pt idx="0">
                <c:v>Negative</c:v>
              </c:pt>
              <c:pt idx="1">
                <c:v>Neutral</c:v>
              </c:pt>
              <c:pt idx="2">
                <c:v>Positive</c:v>
              </c:pt>
            </c:strLit>
          </c:cat>
          <c:val>
            <c:numLit>
              <c:formatCode>General</c:formatCode>
              <c:ptCount val="3"/>
              <c:pt idx="0">
                <c:v>39.1</c:v>
              </c:pt>
              <c:pt idx="1">
                <c:v>47.8</c:v>
              </c:pt>
              <c:pt idx="2">
                <c:v>86.02</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5.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5"/>
              <c:pt idx="0">
                <c:v>KMS</c:v>
              </c:pt>
              <c:pt idx="1">
                <c:v>VNG</c:v>
              </c:pt>
              <c:pt idx="2">
                <c:v>NashTech</c:v>
              </c:pt>
              <c:pt idx="3">
                <c:v>FPT</c:v>
              </c:pt>
              <c:pt idx="4">
                <c:v>Bosch</c:v>
              </c:pt>
            </c:strLit>
          </c:cat>
          <c:val>
            <c:numLit>
              <c:formatCode>0</c:formatCode>
              <c:ptCount val="5"/>
              <c:pt idx="0">
                <c:v>80.5</c:v>
              </c:pt>
              <c:pt idx="1">
                <c:v>75.7</c:v>
              </c:pt>
              <c:pt idx="2">
                <c:v>69.2</c:v>
              </c:pt>
              <c:pt idx="3">
                <c:v>57.7</c:v>
              </c:pt>
              <c:pt idx="4">
                <c:v>39.6</c:v>
              </c:pt>
            </c:numLit>
          </c:val>
        </c:ser>
        <c:ser>
          <c:idx val="1"/>
          <c:order val="1"/>
          <c:tx>
            <c:v>Neutral</c:v>
          </c:tx>
          <c:spPr>
            <a:solidFill xmlns:a="http://schemas.openxmlformats.org/drawingml/2006/main">
              <a:srgbClr val="F4D35E"/>
            </a:solidFill>
          </c:spPr>
          <c:cat>
            <c:strLit>
              <c:ptCount val="5"/>
              <c:pt idx="0">
                <c:v>KMS</c:v>
              </c:pt>
              <c:pt idx="1">
                <c:v>VNG</c:v>
              </c:pt>
              <c:pt idx="2">
                <c:v>NashTech</c:v>
              </c:pt>
              <c:pt idx="3">
                <c:v>FPT</c:v>
              </c:pt>
              <c:pt idx="4">
                <c:v>Bosch</c:v>
              </c:pt>
            </c:strLit>
          </c:cat>
          <c:val>
            <c:numLit>
              <c:formatCode>0</c:formatCode>
              <c:ptCount val="5"/>
              <c:pt idx="0">
                <c:v>14.7</c:v>
              </c:pt>
              <c:pt idx="1">
                <c:v>21.6</c:v>
              </c:pt>
              <c:pt idx="2">
                <c:v>26.3</c:v>
              </c:pt>
              <c:pt idx="3">
                <c:v>33.4</c:v>
              </c:pt>
              <c:pt idx="4">
                <c:v>45</c:v>
              </c:pt>
            </c:numLit>
          </c:val>
        </c:ser>
        <c:ser>
          <c:idx val="2"/>
          <c:order val="2"/>
          <c:tx>
            <c:v>Negative</c:v>
          </c:tx>
          <c:spPr>
            <a:solidFill xmlns:a="http://schemas.openxmlformats.org/drawingml/2006/main">
              <a:srgbClr val="FF667B"/>
            </a:solidFill>
          </c:spPr>
          <c:cat>
            <c:strLit>
              <c:ptCount val="5"/>
              <c:pt idx="0">
                <c:v>KMS</c:v>
              </c:pt>
              <c:pt idx="1">
                <c:v>VNG</c:v>
              </c:pt>
              <c:pt idx="2">
                <c:v>NashTech</c:v>
              </c:pt>
              <c:pt idx="3">
                <c:v>FPT</c:v>
              </c:pt>
              <c:pt idx="4">
                <c:v>Bosch</c:v>
              </c:pt>
            </c:strLit>
          </c:cat>
          <c:val>
            <c:numLit>
              <c:formatCode>0</c:formatCode>
              <c:ptCount val="5"/>
              <c:pt idx="0">
                <c:v>4.8</c:v>
              </c:pt>
              <c:pt idx="1">
                <c:v>2.7</c:v>
              </c:pt>
              <c:pt idx="2">
                <c:v>4.5</c:v>
              </c:pt>
              <c:pt idx="3">
                <c:v>8.9</c:v>
              </c:pt>
              <c:pt idx="4">
                <c:v>15.5</c:v>
              </c:pt>
            </c:numLit>
          </c:val>
        </c:ser>
        <c:dLbls>
          <c:txPr>
            <a:bodyPr xmlns:a="http://schemas.openxmlformats.org/drawingml/2006/main" anchorCtr="1"/>
            <a:lstStyle xmlns:a="http://schemas.openxmlformats.org/drawingml/2006/main"/>
            <a:p xmlns:a="http://schemas.openxmlformats.org/drawingml/2006/main">
              <a:pPr>
                <a:defRPr sz="975"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38"/>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6.xml><?xml version="1.0" encoding="utf-8"?>
<c:chartSpace xmlns:c="http://schemas.openxmlformats.org/drawingml/2006/chart">
  <c:lang val="en-US"/>
  <c:chart>
    <c:plotArea>
      <c:barChart>
        <c:barDir val="bar"/>
        <c:grouping val="clustered"/>
        <c:varyColors val="0"/>
        <c:ser>
          <c:idx val="0"/>
          <c:order val="0"/>
          <c:tx>
            <c:v>TF-IDF (×100)</c:v>
          </c:tx>
          <c:spPr>
            <a:solidFill xmlns:a="http://schemas.openxmlformats.org/drawingml/2006/main">
              <a:srgbClr val="FF667B"/>
            </a:solidFill>
          </c:spPr>
          <c:cat>
            <c:strLit>
              <c:ptCount val="5"/>
              <c:pt idx="0">
                <c:v>không lương</c:v>
              </c:pt>
              <c:pt idx="1">
                <c:v>thường_xuyên</c:v>
              </c:pt>
              <c:pt idx="2">
                <c:v>thiếu</c:v>
              </c:pt>
              <c:pt idx="3">
                <c:v>minh_bạch</c:v>
              </c:pt>
              <c:pt idx="4">
                <c:v>thường_xuyên ot</c:v>
              </c:pt>
            </c:strLit>
          </c:cat>
          <c:val>
            <c:numLit>
              <c:formatCode>General</c:formatCode>
              <c:ptCount val="5"/>
              <c:pt idx="0">
                <c:v>30.6</c:v>
              </c:pt>
              <c:pt idx="1">
                <c:v>31</c:v>
              </c:pt>
              <c:pt idx="2">
                <c:v>33.9</c:v>
              </c:pt>
              <c:pt idx="3">
                <c:v>37.3</c:v>
              </c:pt>
              <c:pt idx="4">
                <c:v>44.6</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slide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5BB2EF-A34F-4796-AA91-2D0F8ADBA1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5D9A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9AFCBC-3538-44C9-914A-A2CDD7996E2A}"/>
              </a:ext>
            </a:extLst>
          </p:cNvPr>
          <p:cNvSpPr>
            <a:spLocks xmlns:a="http://schemas.openxmlformats.org/drawingml/2006/main" noGrp="1"/>
          </p:cNvSpPr>
          <p:nvPr/>
        </p:nvSpPr>
        <p:spPr>
          <a:xfrm xmlns:a="http://schemas.openxmlformats.org/drawingml/2006/main">
            <a:off x="685800" y="70485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ĐỒ ÁN MÔN HỌC MÁY HỌC</a:t>
            </a:r>
          </a:p>
        </p:txBody>
      </p:sp>
      <p:sp>
        <p:nvSpPr>
          <p:cNvPr id="3" name="">
            <a:extLst xmlns:a="http://schemas.openxmlformats.org/drawingml/2006/main">
              <a:ext uri="{FF2B5EF4-FFF2-40B4-BE49-F238E27FC236}">
                <a16:creationId xmlns:a16="http://schemas.microsoft.com/office/drawing/2014/main" id="{007F7D84-52FB-4509-9927-0F0C22FA36C1}"/>
              </a:ext>
            </a:extLst>
          </p:cNvPr>
          <p:cNvSpPr>
            <a:spLocks xmlns:a="http://schemas.openxmlformats.org/drawingml/2006/main" noGrp="1"/>
          </p:cNvSpPr>
          <p:nvPr/>
        </p:nvSpPr>
        <p:spPr>
          <a:xfrm xmlns:a="http://schemas.openxmlformats.org/drawingml/2006/main">
            <a:off x="685800" y="1257300"/>
            <a:ext cx="752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PHÂN TÍCH CẢM XÚC</a:t>
            </a:r>
          </a:p>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ĐÁNH GIÁ CÔNG TY ITVIEC</a:t>
            </a:r>
          </a:p>
        </p:txBody>
      </p:sp>
      <p:sp>
        <p:nvSpPr>
          <p:cNvPr id="4" name="">
            <a:extLst xmlns:a="http://schemas.openxmlformats.org/drawingml/2006/main">
              <a:ext uri="{FF2B5EF4-FFF2-40B4-BE49-F238E27FC236}">
                <a16:creationId xmlns:a16="http://schemas.microsoft.com/office/drawing/2014/main" id="{2B840CCB-35CD-423C-B68F-69362198B394}"/>
              </a:ext>
            </a:extLst>
          </p:cNvPr>
          <p:cNvSpPr>
            <a:spLocks xmlns:a="http://schemas.openxmlformats.org/drawingml/2006/main" noGrp="1"/>
          </p:cNvSpPr>
          <p:nvPr/>
        </p:nvSpPr>
        <p:spPr>
          <a:xfrm xmlns:a="http://schemas.openxmlformats.org/drawingml/2006/main">
            <a:off x="685800" y="3143250"/>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063"/>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Phân loại ba lớp từ review tiếng Việt bằng TF-IDF và mô hình học máy</a:t>
            </a:r>
          </a:p>
        </p:txBody>
      </p:sp>
      <p:sp>
        <p:nvSpPr>
          <p:cNvPr id="5" name="">
            <a:extLst xmlns:a="http://schemas.openxmlformats.org/drawingml/2006/main">
              <a:ext uri="{FF2B5EF4-FFF2-40B4-BE49-F238E27FC236}">
                <a16:creationId xmlns:a16="http://schemas.microsoft.com/office/drawing/2014/main" id="{2420D9A8-C848-4EBC-83B9-52F26EB647CF}"/>
              </a:ext>
            </a:extLst>
          </p:cNvPr>
          <p:cNvSpPr>
            <a:spLocks xmlns:a="http://schemas.openxmlformats.org/drawingml/2006/main" noGrp="1"/>
          </p:cNvSpPr>
          <p:nvPr/>
        </p:nvSpPr>
        <p:spPr>
          <a:xfrm xmlns:a="http://schemas.openxmlformats.org/drawingml/2006/main">
            <a:off x="685800" y="4000500"/>
            <a:ext cx="6572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DC0643-2823-4012-BDBD-59C7FEC5F267}"/>
              </a:ext>
            </a:extLst>
          </p:cNvPr>
          <p:cNvSpPr>
            <a:spLocks xmlns:a="http://schemas.openxmlformats.org/drawingml/2006/main" noGrp="1"/>
          </p:cNvSpPr>
          <p:nvPr/>
        </p:nvSpPr>
        <p:spPr>
          <a:xfrm xmlns:a="http://schemas.openxmlformats.org/drawingml/2006/main">
            <a:off x="685800" y="42386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GIẢNG VIÊN HƯỚNG DẪN</a:t>
            </a:r>
          </a:p>
        </p:txBody>
      </p:sp>
      <p:sp>
        <p:nvSpPr>
          <p:cNvPr id="7" name="">
            <a:extLst xmlns:a="http://schemas.openxmlformats.org/drawingml/2006/main">
              <a:ext uri="{FF2B5EF4-FFF2-40B4-BE49-F238E27FC236}">
                <a16:creationId xmlns:a16="http://schemas.microsoft.com/office/drawing/2014/main" id="{6B361795-E170-4788-B1AC-C7125097509A}"/>
              </a:ext>
            </a:extLst>
          </p:cNvPr>
          <p:cNvSpPr>
            <a:spLocks xmlns:a="http://schemas.openxmlformats.org/drawingml/2006/main" noGrp="1"/>
          </p:cNvSpPr>
          <p:nvPr/>
        </p:nvSpPr>
        <p:spPr>
          <a:xfrm xmlns:a="http://schemas.openxmlformats.org/drawingml/2006/main">
            <a:off x="685800" y="4476750"/>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F4F7FB"/>
                </a:solidFill>
                <a:latin typeface="Helvetica Neue"/>
                <a:ea typeface="Helvetica Neue"/>
                <a:cs typeface="Helvetica Neue"/>
              </a:defRPr>
            </a:pPr>
            <a:r>
              <a:rPr sz="1950" b="1">
                <a:solidFill>
                  <a:srgbClr val="F4F7FB"/>
                </a:solidFill>
                <a:latin typeface="Helvetica Neue"/>
                <a:ea typeface="Helvetica Neue"/>
                <a:cs typeface="Helvetica Neue"/>
              </a:rPr>
              <a:t>Thầy Cáp Phạm Đình Thăng</a:t>
            </a:r>
          </a:p>
        </p:txBody>
      </p:sp>
      <p:sp>
        <p:nvSpPr>
          <p:cNvPr id="8" name="">
            <a:extLst xmlns:a="http://schemas.openxmlformats.org/drawingml/2006/main">
              <a:ext uri="{FF2B5EF4-FFF2-40B4-BE49-F238E27FC236}">
                <a16:creationId xmlns:a16="http://schemas.microsoft.com/office/drawing/2014/main" id="{76571FE6-32B1-4C54-B65D-9945BE143075}"/>
              </a:ext>
            </a:extLst>
          </p:cNvPr>
          <p:cNvSpPr>
            <a:spLocks xmlns:a="http://schemas.openxmlformats.org/drawingml/2006/main" noGrp="1"/>
          </p:cNvSpPr>
          <p:nvPr/>
        </p:nvSpPr>
        <p:spPr>
          <a:xfrm xmlns:a="http://schemas.openxmlformats.org/drawingml/2006/main">
            <a:off x="685800" y="4857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Khoa Khoa học Máy tính</a:t>
            </a:r>
          </a:p>
        </p:txBody>
      </p:sp>
      <p:sp>
        <p:nvSpPr>
          <p:cNvPr id="9" name="">
            <a:extLst xmlns:a="http://schemas.openxmlformats.org/drawingml/2006/main">
              <a:ext uri="{FF2B5EF4-FFF2-40B4-BE49-F238E27FC236}">
                <a16:creationId xmlns:a16="http://schemas.microsoft.com/office/drawing/2014/main" id="{6566BD4B-1749-4D69-B69C-4897674C4B66}"/>
              </a:ext>
            </a:extLst>
          </p:cNvPr>
          <p:cNvSpPr>
            <a:spLocks xmlns:a="http://schemas.openxmlformats.org/drawingml/2006/main" noGrp="1"/>
          </p:cNvSpPr>
          <p:nvPr/>
        </p:nvSpPr>
        <p:spPr>
          <a:xfrm xmlns:a="http://schemas.openxmlformats.org/drawingml/2006/main">
            <a:off x="685800" y="52863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SINH VIÊN THỰC HIỆN</a:t>
            </a:r>
          </a:p>
        </p:txBody>
      </p:sp>
      <p:sp>
        <p:nvSpPr>
          <p:cNvPr id="10" name="">
            <a:extLst xmlns:a="http://schemas.openxmlformats.org/drawingml/2006/main">
              <a:ext uri="{FF2B5EF4-FFF2-40B4-BE49-F238E27FC236}">
                <a16:creationId xmlns:a16="http://schemas.microsoft.com/office/drawing/2014/main" id="{AABF2EE9-47F6-491A-983B-D78AB187388A}"/>
              </a:ext>
            </a:extLst>
          </p:cNvPr>
          <p:cNvSpPr>
            <a:spLocks xmlns:a="http://schemas.openxmlformats.org/drawingml/2006/main" noGrp="1"/>
          </p:cNvSpPr>
          <p:nvPr/>
        </p:nvSpPr>
        <p:spPr>
          <a:xfrm xmlns:a="http://schemas.openxmlformats.org/drawingml/2006/main">
            <a:off x="685800" y="55245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4F7FB"/>
                </a:solidFill>
                <a:latin typeface="Helvetica Neue"/>
                <a:ea typeface="Helvetica Neue"/>
                <a:cs typeface="Helvetica Neue"/>
              </a:defRPr>
            </a:pPr>
            <a:r>
              <a:rPr sz="1275" b="1">
                <a:solidFill>
                  <a:srgbClr val="F4F7FB"/>
                </a:solidFill>
                <a:latin typeface="Helvetica Neue"/>
                <a:ea typeface="Helvetica Neue"/>
                <a:cs typeface="Helvetica Neue"/>
              </a:rPr>
              <a:t>Hoàng Hôn · Văn Duy · Duy Khang · Thành Trung</a:t>
            </a:r>
          </a:p>
        </p:txBody>
      </p:sp>
      <p:sp>
        <p:nvSpPr>
          <p:cNvPr id="12" name="">
            <a:extLst xmlns:a="http://schemas.openxmlformats.org/drawingml/2006/main">
              <a:ext uri="{FF2B5EF4-FFF2-40B4-BE49-F238E27FC236}">
                <a16:creationId xmlns:a16="http://schemas.microsoft.com/office/drawing/2014/main" id="{D49A222F-539C-4112-B149-0A1DCA8C989B}"/>
              </a:ext>
            </a:extLst>
          </p:cNvPr>
          <p:cNvSpPr>
            <a:spLocks xmlns:a="http://schemas.openxmlformats.org/drawingml/2006/main" noGrp="1"/>
          </p:cNvSpPr>
          <p:nvPr/>
        </p:nvSpPr>
        <p:spPr>
          <a:xfrm xmlns:a="http://schemas.openxmlformats.org/drawingml/2006/main">
            <a:off x="685800" y="6153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45D9A0"/>
                </a:solidFill>
                <a:latin typeface="Helvetica Neue"/>
                <a:ea typeface="Helvetica Neue"/>
                <a:cs typeface="Helvetica Neue"/>
              </a:defRPr>
            </a:pPr>
            <a:r>
              <a:rPr sz="1200" b="0">
                <a:solidFill>
                  <a:srgbClr val="45D9A0"/>
                </a:solidFill>
                <a:latin typeface="Helvetica Neue"/>
                <a:ea typeface="Helvetica Neue"/>
                <a:cs typeface="Helvetica Neue"/>
              </a:rPr>
              <a:t>8.417 review nguồn  |  8.414 review mô hình hóa  |  3 lớp cảm xúc</a:t>
            </a:r>
          </a:p>
        </p:txBody>
      </p:sp>
      <p:pic>
        <p:nvPicPr>
          <p:cNvPr id="26" name="Picture 13"/>
          <p:cNvPicPr>
            <a:picLocks xmlns:a="http://schemas.openxmlformats.org/drawingml/2006/main" noChangeAspect="1"/>
          </p:cNvPicPr>
          <p:nvPr/>
        </p:nvPicPr>
        <p:blipFill>
          <a:blip xmlns:r="http://schemas.openxmlformats.org/officeDocument/2006/relationships" xmlns:a="http://schemas.openxmlformats.org/drawingml/2006/main" r:embed="R4ddc7f53e9a84e12"/>
          <a:stretch xmlns:a="http://schemas.openxmlformats.org/drawingml/2006/main">
            <a:fillRect l="0" t="0" r="0" b="0"/>
          </a:stretch>
        </p:blipFill>
        <p:spPr>
          <a:xfrm xmlns:a="http://schemas.openxmlformats.org/drawingml/2006/main">
            <a:off x="8239125" y="1476375"/>
            <a:ext cx="3095625" cy="3095625"/>
          </a:xfrm>
          <a:prstGeom xmlns:a="http://schemas.openxmlformats.org/drawingml/2006/main" prst="rect">
            <a:avLst/>
          </a:prstGeom>
        </p:spPr>
      </p:pic>
    </p:spTree>
    <p:extLst>
      <p:ext uri="{BB962C8B-B14F-4D97-AF65-F5344CB8AC3E}">
        <p14:creationId xmlns:p14="http://schemas.microsoft.com/office/powerpoint/2010/main" val="2138715498"/>
      </p:ext>
    </p:extLst>
  </p:cSld>
</p:sld>
</file>

<file path=ppt/slides/slide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EC5F624-8A58-49BC-A4F0-A3546886CF6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01 · BÀI TOÁN</a:t>
            </a:r>
          </a:p>
        </p:txBody>
      </p:sp>
      <p:sp>
        <p:nvSpPr>
          <p:cNvPr id="2" name="">
            <a:extLst xmlns:a="http://schemas.openxmlformats.org/drawingml/2006/main">
              <a:ext uri="{FF2B5EF4-FFF2-40B4-BE49-F238E27FC236}">
                <a16:creationId xmlns:a16="http://schemas.microsoft.com/office/drawing/2014/main" id="{FCD36A58-C1A7-4769-911E-81E39CDE7C7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Dữ liệu lệch mạnh và nhãn chỉ là nhãn yếu</a:t>
            </a:r>
          </a:p>
        </p:txBody>
      </p:sp>
      <p:sp>
        <p:nvSpPr>
          <p:cNvPr id="3" name="">
            <a:extLst xmlns:a="http://schemas.openxmlformats.org/drawingml/2006/main">
              <a:ext uri="{FF2B5EF4-FFF2-40B4-BE49-F238E27FC236}">
                <a16:creationId xmlns:a16="http://schemas.microsoft.com/office/drawing/2014/main" id="{0427D931-6E15-470F-9C55-AA3DC2DEE690}"/>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CD5C35-908F-4FD1-9591-7F83B4851693}"/>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02 / 18</a:t>
            </a:r>
          </a:p>
        </p:txBody>
      </p:sp>
      <p:sp>
        <p:nvSpPr>
          <p:cNvPr id="5" name="">
            <a:extLst xmlns:a="http://schemas.openxmlformats.org/drawingml/2006/main">
              <a:ext uri="{FF2B5EF4-FFF2-40B4-BE49-F238E27FC236}">
                <a16:creationId xmlns:a16="http://schemas.microsoft.com/office/drawing/2014/main" id="{A137458A-9EF1-46A8-A9D3-68951FB8B4FD}"/>
              </a:ext>
            </a:extLst>
          </p:cNvPr>
          <p:cNvSpPr>
            <a:spLocks xmlns:a="http://schemas.openxmlformats.org/drawingml/2006/main" noGrp="1"/>
          </p:cNvSpPr>
          <p:nvPr/>
        </p:nvSpPr>
        <p:spPr>
          <a:xfrm xmlns:a="http://schemas.openxmlformats.org/drawingml/2006/main">
            <a:off x="666750" y="17621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9C5A"/>
                </a:solidFill>
                <a:latin typeface="Helvetica Neue"/>
                <a:ea typeface="Helvetica Neue"/>
                <a:cs typeface="Helvetica Neue"/>
              </a:defRPr>
            </a:pPr>
            <a:r>
              <a:rPr sz="975" b="1">
                <a:solidFill>
                  <a:srgbClr val="FF9C5A"/>
                </a:solidFill>
                <a:latin typeface="Helvetica Neue"/>
                <a:ea typeface="Helvetica Neue"/>
                <a:cs typeface="Helvetica Neue"/>
              </a:rPr>
              <a:t>POSITIVE : NEGATIVE</a:t>
            </a:r>
          </a:p>
        </p:txBody>
      </p:sp>
      <p:sp>
        <p:nvSpPr>
          <p:cNvPr id="6" name="">
            <a:extLst xmlns:a="http://schemas.openxmlformats.org/drawingml/2006/main">
              <a:ext uri="{FF2B5EF4-FFF2-40B4-BE49-F238E27FC236}">
                <a16:creationId xmlns:a16="http://schemas.microsoft.com/office/drawing/2014/main" id="{685A82A1-1C27-43B5-8CBC-1A382AB7B7DF}"/>
              </a:ext>
            </a:extLst>
          </p:cNvPr>
          <p:cNvSpPr>
            <a:spLocks xmlns:a="http://schemas.openxmlformats.org/drawingml/2006/main" noGrp="1"/>
          </p:cNvSpPr>
          <p:nvPr/>
        </p:nvSpPr>
        <p:spPr>
          <a:xfrm xmlns:a="http://schemas.openxmlformats.org/drawingml/2006/main">
            <a:off x="666750" y="2028825"/>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10,9 : 1</a:t>
            </a:r>
          </a:p>
        </p:txBody>
      </p:sp>
      <p:sp>
        <p:nvSpPr>
          <p:cNvPr id="7" name="">
            <a:extLst xmlns:a="http://schemas.openxmlformats.org/drawingml/2006/main">
              <a:ext uri="{FF2B5EF4-FFF2-40B4-BE49-F238E27FC236}">
                <a16:creationId xmlns:a16="http://schemas.microsoft.com/office/drawing/2014/main" id="{F55158EB-9801-4ED4-8797-8730452F93F6}"/>
              </a:ext>
            </a:extLst>
          </p:cNvPr>
          <p:cNvSpPr>
            <a:spLocks xmlns:a="http://schemas.openxmlformats.org/drawingml/2006/main" noGrp="1"/>
          </p:cNvSpPr>
          <p:nvPr/>
        </p:nvSpPr>
        <p:spPr>
          <a:xfrm xmlns:a="http://schemas.openxmlformats.org/drawingml/2006/main">
            <a:off x="666750" y="2714625"/>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Nếu luôn đoán Positive, Accuracy đã gần 73,8%. Vì vậy, dự án chọn Macro F1 làm thước đo chính.</a:t>
            </a:r>
          </a:p>
        </p:txBody>
      </p:sp>
      <p:graphicFrame>
        <p:nvGraphicFramePr>
          <p:cNvPr id="28" name="Chart"/>
          <p:cNvGraphicFramePr/>
          <p:nvPr/>
        </p:nvGraphicFramePr>
        <p:xfrm>
          <a:off xmlns:a="http://schemas.openxmlformats.org/drawingml/2006/main" x="3857625" y="1695450"/>
          <a:ext xmlns:a="http://schemas.openxmlformats.org/drawingml/2006/main" cx="7381875" cy="1714500"/>
        </p:xfrm>
        <a:graphic xmlns:a="http://schemas.openxmlformats.org/drawingml/2006/main">
          <a:graphicData uri="http://schemas.openxmlformats.org/drawingml/2006/chart">
            <c:chart xmlns:r="http://schemas.openxmlformats.org/officeDocument/2006/relationships" xmlns:c="http://schemas.openxmlformats.org/drawingml/2006/chart" r:id="R42b340a5e7e04ef3"/>
          </a:graphicData>
        </a:graphic>
      </p:graphicFrame>
      <p:sp>
        <p:nvSpPr>
          <p:cNvPr id="9" name="">
            <a:extLst xmlns:a="http://schemas.openxmlformats.org/drawingml/2006/main">
              <a:ext uri="{FF2B5EF4-FFF2-40B4-BE49-F238E27FC236}">
                <a16:creationId xmlns:a16="http://schemas.microsoft.com/office/drawing/2014/main" id="{5E7EFBDA-A88B-4E5E-A7FB-FA6B9CE41650}"/>
              </a:ext>
            </a:extLst>
          </p:cNvPr>
          <p:cNvSpPr>
            <a:spLocks xmlns:a="http://schemas.openxmlformats.org/drawingml/2006/main" noGrp="1"/>
          </p:cNvSpPr>
          <p:nvPr/>
        </p:nvSpPr>
        <p:spPr>
          <a:xfrm xmlns:a="http://schemas.openxmlformats.org/drawingml/2006/main">
            <a:off x="4000500" y="1790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TỶ LỆ (%)</a:t>
            </a:r>
          </a:p>
        </p:txBody>
      </p:sp>
      <p:sp>
        <p:nvSpPr>
          <p:cNvPr id="10" name="">
            <a:extLst xmlns:a="http://schemas.openxmlformats.org/drawingml/2006/main">
              <a:ext uri="{FF2B5EF4-FFF2-40B4-BE49-F238E27FC236}">
                <a16:creationId xmlns:a16="http://schemas.microsoft.com/office/drawing/2014/main" id="{D2321B1A-4939-4350-9700-7A39C80922F9}"/>
              </a:ext>
            </a:extLst>
          </p:cNvPr>
          <p:cNvSpPr>
            <a:spLocks xmlns:a="http://schemas.openxmlformats.org/drawingml/2006/main" noGrp="1"/>
          </p:cNvSpPr>
          <p:nvPr/>
        </p:nvSpPr>
        <p:spPr>
          <a:xfrm xmlns:a="http://schemas.openxmlformats.org/drawingml/2006/main">
            <a:off x="3857625" y="38576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8D88D1-C216-4957-9C6D-9F6ED4C284CF}"/>
              </a:ext>
            </a:extLst>
          </p:cNvPr>
          <p:cNvSpPr>
            <a:spLocks xmlns:a="http://schemas.openxmlformats.org/drawingml/2006/main" noGrp="1"/>
          </p:cNvSpPr>
          <p:nvPr/>
        </p:nvSpPr>
        <p:spPr>
          <a:xfrm xmlns:a="http://schemas.openxmlformats.org/drawingml/2006/main">
            <a:off x="4048125" y="37909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Ngôn ngữ pha trộn</a:t>
            </a:r>
          </a:p>
        </p:txBody>
      </p:sp>
      <p:sp>
        <p:nvSpPr>
          <p:cNvPr id="12" name="">
            <a:extLst xmlns:a="http://schemas.openxmlformats.org/drawingml/2006/main">
              <a:ext uri="{FF2B5EF4-FFF2-40B4-BE49-F238E27FC236}">
                <a16:creationId xmlns:a16="http://schemas.microsoft.com/office/drawing/2014/main" id="{EC2B5D0E-7D55-4034-B7B3-59AACAEEDD7C}"/>
              </a:ext>
            </a:extLst>
          </p:cNvPr>
          <p:cNvSpPr>
            <a:spLocks xmlns:a="http://schemas.openxmlformats.org/drawingml/2006/main" noGrp="1"/>
          </p:cNvSpPr>
          <p:nvPr/>
        </p:nvSpPr>
        <p:spPr>
          <a:xfrm xmlns:a="http://schemas.openxmlformats.org/drawingml/2006/main">
            <a:off x="4048125" y="40767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Review dùng tiếng Việt, thuật ngữ IT, teencode và emoji.</a:t>
            </a:r>
          </a:p>
        </p:txBody>
      </p:sp>
      <p:sp>
        <p:nvSpPr>
          <p:cNvPr id="13" name="">
            <a:extLst xmlns:a="http://schemas.openxmlformats.org/drawingml/2006/main">
              <a:ext uri="{FF2B5EF4-FFF2-40B4-BE49-F238E27FC236}">
                <a16:creationId xmlns:a16="http://schemas.microsoft.com/office/drawing/2014/main" id="{A42DB84C-FEDF-46BB-AC7A-7D539A32C88C}"/>
              </a:ext>
            </a:extLst>
          </p:cNvPr>
          <p:cNvSpPr>
            <a:spLocks xmlns:a="http://schemas.openxmlformats.org/drawingml/2006/main" noGrp="1"/>
          </p:cNvSpPr>
          <p:nvPr/>
        </p:nvSpPr>
        <p:spPr>
          <a:xfrm xmlns:a="http://schemas.openxmlformats.org/drawingml/2006/main">
            <a:off x="3857625" y="45815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09A09B-CF50-4680-B8F3-787374560FD8}"/>
              </a:ext>
            </a:extLst>
          </p:cNvPr>
          <p:cNvSpPr>
            <a:spLocks xmlns:a="http://schemas.openxmlformats.org/drawingml/2006/main" noGrp="1"/>
          </p:cNvSpPr>
          <p:nvPr/>
        </p:nvSpPr>
        <p:spPr>
          <a:xfrm xmlns:a="http://schemas.openxmlformats.org/drawingml/2006/main">
            <a:off x="4048125" y="45148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Cảm xúc lẫn lộn</a:t>
            </a:r>
          </a:p>
        </p:txBody>
      </p:sp>
      <p:sp>
        <p:nvSpPr>
          <p:cNvPr id="15" name="">
            <a:extLst xmlns:a="http://schemas.openxmlformats.org/drawingml/2006/main">
              <a:ext uri="{FF2B5EF4-FFF2-40B4-BE49-F238E27FC236}">
                <a16:creationId xmlns:a16="http://schemas.microsoft.com/office/drawing/2014/main" id="{ACEE9513-1453-48A3-8279-D4F6CCEEEB57}"/>
              </a:ext>
            </a:extLst>
          </p:cNvPr>
          <p:cNvSpPr>
            <a:spLocks xmlns:a="http://schemas.openxmlformats.org/drawingml/2006/main" noGrp="1"/>
          </p:cNvSpPr>
          <p:nvPr/>
        </p:nvSpPr>
        <p:spPr>
          <a:xfrm xmlns:a="http://schemas.openxmlformats.org/drawingml/2006/main">
            <a:off x="4048125" y="48006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Một review thường khen môi trường nhưng chê lương, OT hoặc quản lý.</a:t>
            </a:r>
          </a:p>
        </p:txBody>
      </p:sp>
      <p:sp>
        <p:nvSpPr>
          <p:cNvPr id="16" name="">
            <a:extLst xmlns:a="http://schemas.openxmlformats.org/drawingml/2006/main">
              <a:ext uri="{FF2B5EF4-FFF2-40B4-BE49-F238E27FC236}">
                <a16:creationId xmlns:a16="http://schemas.microsoft.com/office/drawing/2014/main" id="{62909BB6-754D-43DB-9C1C-3069764353D2}"/>
              </a:ext>
            </a:extLst>
          </p:cNvPr>
          <p:cNvSpPr>
            <a:spLocks xmlns:a="http://schemas.openxmlformats.org/drawingml/2006/main" noGrp="1"/>
          </p:cNvSpPr>
          <p:nvPr/>
        </p:nvSpPr>
        <p:spPr>
          <a:xfrm xmlns:a="http://schemas.openxmlformats.org/drawingml/2006/main">
            <a:off x="3857625" y="530542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8DF2DD-4C34-4FB7-812D-B6B250EAD267}"/>
              </a:ext>
            </a:extLst>
          </p:cNvPr>
          <p:cNvSpPr>
            <a:spLocks xmlns:a="http://schemas.openxmlformats.org/drawingml/2006/main" noGrp="1"/>
          </p:cNvSpPr>
          <p:nvPr/>
        </p:nvSpPr>
        <p:spPr>
          <a:xfrm xmlns:a="http://schemas.openxmlformats.org/drawingml/2006/main">
            <a:off x="4048125" y="5238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Nhãn suy ra từ rating</a:t>
            </a:r>
          </a:p>
        </p:txBody>
      </p:sp>
      <p:sp>
        <p:nvSpPr>
          <p:cNvPr id="18" name="">
            <a:extLst xmlns:a="http://schemas.openxmlformats.org/drawingml/2006/main">
              <a:ext uri="{FF2B5EF4-FFF2-40B4-BE49-F238E27FC236}">
                <a16:creationId xmlns:a16="http://schemas.microsoft.com/office/drawing/2014/main" id="{80E436AE-9E03-406B-9779-1BEA5BA32B0F}"/>
              </a:ext>
            </a:extLst>
          </p:cNvPr>
          <p:cNvSpPr>
            <a:spLocks xmlns:a="http://schemas.openxmlformats.org/drawingml/2006/main" noGrp="1"/>
          </p:cNvSpPr>
          <p:nvPr/>
        </p:nvSpPr>
        <p:spPr>
          <a:xfrm xmlns:a="http://schemas.openxmlformats.org/drawingml/2006/main">
            <a:off x="4048125" y="55245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Rating 1–5 sao tạo nhãn weak label, không phải nhãn vàng do chuyên gia gán.</a:t>
            </a:r>
          </a:p>
        </p:txBody>
      </p:sp>
    </p:spTree>
    <p:extLst>
      <p:ext uri="{BB962C8B-B14F-4D97-AF65-F5344CB8AC3E}">
        <p14:creationId xmlns:p14="http://schemas.microsoft.com/office/powerpoint/2010/main" val="787731041"/>
      </p:ext>
    </p:extLst>
  </p:cSld>
</p:sld>
</file>

<file path=ppt/slides/slide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DBBE772-9D3B-46FA-A2CB-0735D1A200B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02 · KIẾN TRÚC</a:t>
            </a:r>
          </a:p>
        </p:txBody>
      </p:sp>
      <p:sp>
        <p:nvSpPr>
          <p:cNvPr id="2" name="">
            <a:extLst xmlns:a="http://schemas.openxmlformats.org/drawingml/2006/main">
              <a:ext uri="{FF2B5EF4-FFF2-40B4-BE49-F238E27FC236}">
                <a16:creationId xmlns:a16="http://schemas.microsoft.com/office/drawing/2014/main" id="{18831197-4A6B-48D7-BC20-2560D6ED58A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Pipeline từ dữ liệu nguồn đến ứng dụng</a:t>
            </a:r>
          </a:p>
        </p:txBody>
      </p:sp>
      <p:sp>
        <p:nvSpPr>
          <p:cNvPr id="3" name="">
            <a:extLst xmlns:a="http://schemas.openxmlformats.org/drawingml/2006/main">
              <a:ext uri="{FF2B5EF4-FFF2-40B4-BE49-F238E27FC236}">
                <a16:creationId xmlns:a16="http://schemas.microsoft.com/office/drawing/2014/main" id="{67E50C9B-8442-421D-8C16-4D91222711FF}"/>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594738-FD32-428F-AA9F-7AE33AD10DF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03 / 18</a:t>
            </a:r>
          </a:p>
        </p:txBody>
      </p:sp>
      <p:sp>
        <p:nvSpPr>
          <p:cNvPr id="5" name="">
            <a:extLst xmlns:a="http://schemas.openxmlformats.org/drawingml/2006/main">
              <a:ext uri="{FF2B5EF4-FFF2-40B4-BE49-F238E27FC236}">
                <a16:creationId xmlns:a16="http://schemas.microsoft.com/office/drawing/2014/main" id="{EBC78CF2-4510-4054-B096-32C4BC792C46}"/>
              </a:ext>
            </a:extLst>
          </p:cNvPr>
          <p:cNvSpPr>
            <a:spLocks xmlns:a="http://schemas.openxmlformats.org/drawingml/2006/main" noGrp="1"/>
          </p:cNvSpPr>
          <p:nvPr/>
        </p:nvSpPr>
        <p:spPr>
          <a:xfrm xmlns:a="http://schemas.openxmlformats.org/drawingml/2006/main">
            <a:off x="6096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F1E7BF0-F0B6-4F4F-A06F-77621EE1B935}"/>
              </a:ext>
            </a:extLst>
          </p:cNvPr>
          <p:cNvSpPr>
            <a:spLocks xmlns:a="http://schemas.openxmlformats.org/drawingml/2006/main" noGrp="1"/>
          </p:cNvSpPr>
          <p:nvPr/>
        </p:nvSpPr>
        <p:spPr>
          <a:xfrm xmlns:a="http://schemas.openxmlformats.org/drawingml/2006/main">
            <a:off x="6096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Dữ liệu</a:t>
            </a:r>
          </a:p>
        </p:txBody>
      </p:sp>
      <p:sp>
        <p:nvSpPr>
          <p:cNvPr id="7" name="">
            <a:extLst xmlns:a="http://schemas.openxmlformats.org/drawingml/2006/main">
              <a:ext uri="{FF2B5EF4-FFF2-40B4-BE49-F238E27FC236}">
                <a16:creationId xmlns:a16="http://schemas.microsoft.com/office/drawing/2014/main" id="{E357D004-C4FD-4127-AFE7-0EF3B44D9292}"/>
              </a:ext>
            </a:extLst>
          </p:cNvPr>
          <p:cNvSpPr>
            <a:spLocks xmlns:a="http://schemas.openxmlformats.org/drawingml/2006/main" noGrp="1"/>
          </p:cNvSpPr>
          <p:nvPr/>
        </p:nvSpPr>
        <p:spPr>
          <a:xfrm xmlns:a="http://schemas.openxmlformats.org/drawingml/2006/main">
            <a:off x="6096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8.417 review</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Title + Liked + Improvement</a:t>
            </a:r>
          </a:p>
        </p:txBody>
      </p:sp>
      <p:sp>
        <p:nvSpPr>
          <p:cNvPr id="8" name="">
            <a:extLst xmlns:a="http://schemas.openxmlformats.org/drawingml/2006/main">
              <a:ext uri="{FF2B5EF4-FFF2-40B4-BE49-F238E27FC236}">
                <a16:creationId xmlns:a16="http://schemas.microsoft.com/office/drawing/2014/main" id="{1AB466D9-E96C-4D80-A836-CC7A7FD4A3A0}"/>
              </a:ext>
            </a:extLst>
          </p:cNvPr>
          <p:cNvSpPr>
            <a:spLocks xmlns:a="http://schemas.openxmlformats.org/drawingml/2006/main" noGrp="1"/>
          </p:cNvSpPr>
          <p:nvPr/>
        </p:nvSpPr>
        <p:spPr>
          <a:xfrm xmlns:a="http://schemas.openxmlformats.org/drawingml/2006/main">
            <a:off x="609600" y="3638550"/>
            <a:ext cx="17907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DB7113-1CC8-4FB0-8B55-D2BA2E2724B3}"/>
              </a:ext>
            </a:extLst>
          </p:cNvPr>
          <p:cNvSpPr>
            <a:spLocks xmlns:a="http://schemas.openxmlformats.org/drawingml/2006/main" noGrp="1"/>
          </p:cNvSpPr>
          <p:nvPr/>
        </p:nvSpPr>
        <p:spPr>
          <a:xfrm xmlns:a="http://schemas.openxmlformats.org/drawingml/2006/main">
            <a:off x="28765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5BA2F13-973B-469C-8222-4B53674E8DFA}"/>
              </a:ext>
            </a:extLst>
          </p:cNvPr>
          <p:cNvSpPr>
            <a:spLocks xmlns:a="http://schemas.openxmlformats.org/drawingml/2006/main" noGrp="1"/>
          </p:cNvSpPr>
          <p:nvPr/>
        </p:nvSpPr>
        <p:spPr>
          <a:xfrm xmlns:a="http://schemas.openxmlformats.org/drawingml/2006/main">
            <a:off x="28765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Tiền xử lý</a:t>
            </a:r>
          </a:p>
        </p:txBody>
      </p:sp>
      <p:sp>
        <p:nvSpPr>
          <p:cNvPr id="11" name="">
            <a:extLst xmlns:a="http://schemas.openxmlformats.org/drawingml/2006/main">
              <a:ext uri="{FF2B5EF4-FFF2-40B4-BE49-F238E27FC236}">
                <a16:creationId xmlns:a16="http://schemas.microsoft.com/office/drawing/2014/main" id="{837ED5B2-E5A3-4450-B391-2024E664CEC9}"/>
              </a:ext>
            </a:extLst>
          </p:cNvPr>
          <p:cNvSpPr>
            <a:spLocks xmlns:a="http://schemas.openxmlformats.org/drawingml/2006/main" noGrp="1"/>
          </p:cNvSpPr>
          <p:nvPr/>
        </p:nvSpPr>
        <p:spPr>
          <a:xfrm xmlns:a="http://schemas.openxmlformats.org/drawingml/2006/main">
            <a:off x="28765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Unicode, emoji, teencode</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tách từ</a:t>
            </a:r>
          </a:p>
        </p:txBody>
      </p:sp>
      <p:sp>
        <p:nvSpPr>
          <p:cNvPr id="12" name="">
            <a:extLst xmlns:a="http://schemas.openxmlformats.org/drawingml/2006/main">
              <a:ext uri="{FF2B5EF4-FFF2-40B4-BE49-F238E27FC236}">
                <a16:creationId xmlns:a16="http://schemas.microsoft.com/office/drawing/2014/main" id="{5DB85CCC-FA0A-419E-BCF8-513764F7F720}"/>
              </a:ext>
            </a:extLst>
          </p:cNvPr>
          <p:cNvSpPr>
            <a:spLocks xmlns:a="http://schemas.openxmlformats.org/drawingml/2006/main" noGrp="1"/>
          </p:cNvSpPr>
          <p:nvPr/>
        </p:nvSpPr>
        <p:spPr>
          <a:xfrm xmlns:a="http://schemas.openxmlformats.org/drawingml/2006/main">
            <a:off x="2876550" y="3638550"/>
            <a:ext cx="17907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8F8AD5-20F8-493E-93CF-9D6A65C861E3}"/>
              </a:ext>
            </a:extLst>
          </p:cNvPr>
          <p:cNvSpPr>
            <a:spLocks xmlns:a="http://schemas.openxmlformats.org/drawingml/2006/main" noGrp="1"/>
          </p:cNvSpPr>
          <p:nvPr/>
        </p:nvSpPr>
        <p:spPr>
          <a:xfrm xmlns:a="http://schemas.openxmlformats.org/drawingml/2006/main">
            <a:off x="51435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0CADA06-3EB7-4D00-A366-091FA3F8A5C1}"/>
              </a:ext>
            </a:extLst>
          </p:cNvPr>
          <p:cNvSpPr>
            <a:spLocks xmlns:a="http://schemas.openxmlformats.org/drawingml/2006/main" noGrp="1"/>
          </p:cNvSpPr>
          <p:nvPr/>
        </p:nvSpPr>
        <p:spPr>
          <a:xfrm xmlns:a="http://schemas.openxmlformats.org/drawingml/2006/main">
            <a:off x="51435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Đặc trưng</a:t>
            </a:r>
          </a:p>
        </p:txBody>
      </p:sp>
      <p:sp>
        <p:nvSpPr>
          <p:cNvPr id="15" name="">
            <a:extLst xmlns:a="http://schemas.openxmlformats.org/drawingml/2006/main">
              <a:ext uri="{FF2B5EF4-FFF2-40B4-BE49-F238E27FC236}">
                <a16:creationId xmlns:a16="http://schemas.microsoft.com/office/drawing/2014/main" id="{7799AFF3-C9AE-4FD6-B1D2-BBD281424600}"/>
              </a:ext>
            </a:extLst>
          </p:cNvPr>
          <p:cNvSpPr>
            <a:spLocks xmlns:a="http://schemas.openxmlformats.org/drawingml/2006/main" noGrp="1"/>
          </p:cNvSpPr>
          <p:nvPr/>
        </p:nvSpPr>
        <p:spPr>
          <a:xfrm xmlns:a="http://schemas.openxmlformats.org/drawingml/2006/main">
            <a:off x="51435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TF-IDF unigram + bigram</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5.000 chiều</a:t>
            </a:r>
          </a:p>
        </p:txBody>
      </p:sp>
      <p:sp>
        <p:nvSpPr>
          <p:cNvPr id="16" name="">
            <a:extLst xmlns:a="http://schemas.openxmlformats.org/drawingml/2006/main">
              <a:ext uri="{FF2B5EF4-FFF2-40B4-BE49-F238E27FC236}">
                <a16:creationId xmlns:a16="http://schemas.microsoft.com/office/drawing/2014/main" id="{DA39511F-0C8A-44D9-84DF-EBE44609E4C6}"/>
              </a:ext>
            </a:extLst>
          </p:cNvPr>
          <p:cNvSpPr>
            <a:spLocks xmlns:a="http://schemas.openxmlformats.org/drawingml/2006/main" noGrp="1"/>
          </p:cNvSpPr>
          <p:nvPr/>
        </p:nvSpPr>
        <p:spPr>
          <a:xfrm xmlns:a="http://schemas.openxmlformats.org/drawingml/2006/main">
            <a:off x="5143500" y="3638550"/>
            <a:ext cx="1790700" cy="762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D8F489-041B-4095-9E29-DDB50ADFF482}"/>
              </a:ext>
            </a:extLst>
          </p:cNvPr>
          <p:cNvSpPr>
            <a:spLocks xmlns:a="http://schemas.openxmlformats.org/drawingml/2006/main" noGrp="1"/>
          </p:cNvSpPr>
          <p:nvPr/>
        </p:nvSpPr>
        <p:spPr>
          <a:xfrm xmlns:a="http://schemas.openxmlformats.org/drawingml/2006/main">
            <a:off x="74104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B43F9813-5BB7-42F6-A7B1-AF3187992B59}"/>
              </a:ext>
            </a:extLst>
          </p:cNvPr>
          <p:cNvSpPr>
            <a:spLocks xmlns:a="http://schemas.openxmlformats.org/drawingml/2006/main" noGrp="1"/>
          </p:cNvSpPr>
          <p:nvPr/>
        </p:nvSpPr>
        <p:spPr>
          <a:xfrm xmlns:a="http://schemas.openxmlformats.org/drawingml/2006/main">
            <a:off x="74104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Huấn luyện</a:t>
            </a:r>
          </a:p>
        </p:txBody>
      </p:sp>
      <p:sp>
        <p:nvSpPr>
          <p:cNvPr id="19" name="">
            <a:extLst xmlns:a="http://schemas.openxmlformats.org/drawingml/2006/main">
              <a:ext uri="{FF2B5EF4-FFF2-40B4-BE49-F238E27FC236}">
                <a16:creationId xmlns:a16="http://schemas.microsoft.com/office/drawing/2014/main" id="{64A48DCF-8A3A-416D-B807-40CD9AAFB95C}"/>
              </a:ext>
            </a:extLst>
          </p:cNvPr>
          <p:cNvSpPr>
            <a:spLocks xmlns:a="http://schemas.openxmlformats.org/drawingml/2006/main" noGrp="1"/>
          </p:cNvSpPr>
          <p:nvPr/>
        </p:nvSpPr>
        <p:spPr>
          <a:xfrm xmlns:a="http://schemas.openxmlformats.org/drawingml/2006/main">
            <a:off x="74104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 mô hình</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Stratified 5-fold CV</a:t>
            </a:r>
          </a:p>
        </p:txBody>
      </p:sp>
      <p:sp>
        <p:nvSpPr>
          <p:cNvPr id="20" name="">
            <a:extLst xmlns:a="http://schemas.openxmlformats.org/drawingml/2006/main">
              <a:ext uri="{FF2B5EF4-FFF2-40B4-BE49-F238E27FC236}">
                <a16:creationId xmlns:a16="http://schemas.microsoft.com/office/drawing/2014/main" id="{031D793D-74D5-4307-BD6F-717755BEE513}"/>
              </a:ext>
            </a:extLst>
          </p:cNvPr>
          <p:cNvSpPr>
            <a:spLocks xmlns:a="http://schemas.openxmlformats.org/drawingml/2006/main" noGrp="1"/>
          </p:cNvSpPr>
          <p:nvPr/>
        </p:nvSpPr>
        <p:spPr>
          <a:xfrm xmlns:a="http://schemas.openxmlformats.org/drawingml/2006/main">
            <a:off x="7410450" y="3638550"/>
            <a:ext cx="17907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D8989C-D8AB-4BED-92C5-E45F2C4F353D}"/>
              </a:ext>
            </a:extLst>
          </p:cNvPr>
          <p:cNvSpPr>
            <a:spLocks xmlns:a="http://schemas.openxmlformats.org/drawingml/2006/main" noGrp="1"/>
          </p:cNvSpPr>
          <p:nvPr/>
        </p:nvSpPr>
        <p:spPr>
          <a:xfrm xmlns:a="http://schemas.openxmlformats.org/drawingml/2006/main">
            <a:off x="96774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05</a:t>
            </a:r>
          </a:p>
        </p:txBody>
      </p:sp>
      <p:sp>
        <p:nvSpPr>
          <p:cNvPr id="22" name="">
            <a:extLst xmlns:a="http://schemas.openxmlformats.org/drawingml/2006/main">
              <a:ext uri="{FF2B5EF4-FFF2-40B4-BE49-F238E27FC236}">
                <a16:creationId xmlns:a16="http://schemas.microsoft.com/office/drawing/2014/main" id="{4EEE3434-9DEC-431B-AD37-4C13B29FB255}"/>
              </a:ext>
            </a:extLst>
          </p:cNvPr>
          <p:cNvSpPr>
            <a:spLocks xmlns:a="http://schemas.openxmlformats.org/drawingml/2006/main" noGrp="1"/>
          </p:cNvSpPr>
          <p:nvPr/>
        </p:nvSpPr>
        <p:spPr>
          <a:xfrm xmlns:a="http://schemas.openxmlformats.org/drawingml/2006/main">
            <a:off x="96774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Ứng dụng</a:t>
            </a:r>
          </a:p>
        </p:txBody>
      </p:sp>
      <p:sp>
        <p:nvSpPr>
          <p:cNvPr id="23" name="">
            <a:extLst xmlns:a="http://schemas.openxmlformats.org/drawingml/2006/main">
              <a:ext uri="{FF2B5EF4-FFF2-40B4-BE49-F238E27FC236}">
                <a16:creationId xmlns:a16="http://schemas.microsoft.com/office/drawing/2014/main" id="{E8C21206-35B4-437C-993F-CC73E923EFD4}"/>
              </a:ext>
            </a:extLst>
          </p:cNvPr>
          <p:cNvSpPr>
            <a:spLocks xmlns:a="http://schemas.openxmlformats.org/drawingml/2006/main" noGrp="1"/>
          </p:cNvSpPr>
          <p:nvPr/>
        </p:nvSpPr>
        <p:spPr>
          <a:xfrm xmlns:a="http://schemas.openxmlformats.org/drawingml/2006/main">
            <a:off x="96774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Đánh giá, insight</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Streamlit</a:t>
            </a:r>
          </a:p>
        </p:txBody>
      </p:sp>
      <p:sp>
        <p:nvSpPr>
          <p:cNvPr id="24" name="">
            <a:extLst xmlns:a="http://schemas.openxmlformats.org/drawingml/2006/main">
              <a:ext uri="{FF2B5EF4-FFF2-40B4-BE49-F238E27FC236}">
                <a16:creationId xmlns:a16="http://schemas.microsoft.com/office/drawing/2014/main" id="{673C9797-B44F-4229-83EA-C42272305002}"/>
              </a:ext>
            </a:extLst>
          </p:cNvPr>
          <p:cNvSpPr>
            <a:spLocks xmlns:a="http://schemas.openxmlformats.org/drawingml/2006/main" noGrp="1"/>
          </p:cNvSpPr>
          <p:nvPr/>
        </p:nvSpPr>
        <p:spPr>
          <a:xfrm xmlns:a="http://schemas.openxmlformats.org/drawingml/2006/main">
            <a:off x="9677400" y="3638550"/>
            <a:ext cx="1790700" cy="762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cxnSp>
        <p:nvCxnSpPr>
          <p:cNvPr id="282" name=""/>
          <p:cNvCxnSpPr>
            <a:stCxn xmlns:a="http://schemas.openxmlformats.org/drawingml/2006/main" id="8" idx="3"/>
            <a:endCxn xmlns:a="http://schemas.openxmlformats.org/drawingml/2006/main" id="12" idx="1"/>
          </p:cNvCxnSpPr>
          <p:nvPr/>
        </p:nvCxnSpPr>
        <p:spPr>
          <a:xfrm xmlns:a="http://schemas.openxmlformats.org/drawingml/2006/main">
            <a:off x="24003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283" name=""/>
          <p:cNvCxnSpPr>
            <a:stCxn xmlns:a="http://schemas.openxmlformats.org/drawingml/2006/main" id="12" idx="3"/>
            <a:endCxn xmlns:a="http://schemas.openxmlformats.org/drawingml/2006/main" id="16" idx="1"/>
          </p:cNvCxnSpPr>
          <p:nvPr/>
        </p:nvCxnSpPr>
        <p:spPr>
          <a:xfrm xmlns:a="http://schemas.openxmlformats.org/drawingml/2006/main">
            <a:off x="46672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284" name=""/>
          <p:cNvCxnSpPr>
            <a:stCxn xmlns:a="http://schemas.openxmlformats.org/drawingml/2006/main" id="16" idx="3"/>
            <a:endCxn xmlns:a="http://schemas.openxmlformats.org/drawingml/2006/main" id="20" idx="1"/>
          </p:cNvCxnSpPr>
          <p:nvPr/>
        </p:nvCxnSpPr>
        <p:spPr>
          <a:xfrm xmlns:a="http://schemas.openxmlformats.org/drawingml/2006/main">
            <a:off x="69342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285" name=""/>
          <p:cNvCxnSpPr>
            <a:stCxn xmlns:a="http://schemas.openxmlformats.org/drawingml/2006/main" id="20" idx="3"/>
            <a:endCxn xmlns:a="http://schemas.openxmlformats.org/drawingml/2006/main" id="24" idx="1"/>
          </p:cNvCxnSpPr>
          <p:nvPr/>
        </p:nvCxnSpPr>
        <p:spPr>
          <a:xfrm xmlns:a="http://schemas.openxmlformats.org/drawingml/2006/main">
            <a:off x="92011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29" name="">
            <a:extLst xmlns:a="http://schemas.openxmlformats.org/drawingml/2006/main">
              <a:ext uri="{FF2B5EF4-FFF2-40B4-BE49-F238E27FC236}">
                <a16:creationId xmlns:a16="http://schemas.microsoft.com/office/drawing/2014/main" id="{9786EFB7-D2B7-4ADA-BDB8-347F085F0E3E}"/>
              </a:ext>
            </a:extLst>
          </p:cNvPr>
          <p:cNvSpPr>
            <a:spLocks xmlns:a="http://schemas.openxmlformats.org/drawingml/2006/main" noGrp="1"/>
          </p:cNvSpPr>
          <p:nvPr/>
        </p:nvSpPr>
        <p:spPr>
          <a:xfrm xmlns:a="http://schemas.openxmlformats.org/drawingml/2006/main">
            <a:off x="609600" y="4476750"/>
            <a:ext cx="10972800" cy="1143000"/>
          </a:xfrm>
          <a:prstGeom xmlns:a="http://schemas.openxmlformats.org/drawingml/2006/main" prst="roundRect">
            <a:avLst>
              <a:gd name="adj" fmla="val 13333"/>
            </a:avLst>
          </a:prstGeom>
          <a:solidFill xmlns:a="http://schemas.openxmlformats.org/drawingml/2006/main">
            <a:srgbClr val="121A26"/>
          </a:solidFill>
          <a:ln xmlns:a="http://schemas.openxmlformats.org/drawingml/2006/main" w="9525">
            <a:solidFill>
              <a:srgbClr val="2A3B52"/>
            </a:solidFill>
            <a:prstDash val="solid"/>
          </a:ln>
        </p:spPr>
      </p:sp>
      <p:sp>
        <p:nvSpPr>
          <p:cNvPr id="30" name="">
            <a:extLst xmlns:a="http://schemas.openxmlformats.org/drawingml/2006/main">
              <a:ext uri="{FF2B5EF4-FFF2-40B4-BE49-F238E27FC236}">
                <a16:creationId xmlns:a16="http://schemas.microsoft.com/office/drawing/2014/main" id="{F312553B-51BE-4DA6-AFA5-CE35BDE8DCBD}"/>
              </a:ext>
            </a:extLst>
          </p:cNvPr>
          <p:cNvSpPr>
            <a:spLocks xmlns:a="http://schemas.openxmlformats.org/drawingml/2006/main" noGrp="1"/>
          </p:cNvSpPr>
          <p:nvPr/>
        </p:nvSpPr>
        <p:spPr>
          <a:xfrm xmlns:a="http://schemas.openxmlformats.org/drawingml/2006/main">
            <a:off x="857250" y="47148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Kết quả cuối</a:t>
            </a:r>
          </a:p>
        </p:txBody>
      </p:sp>
      <p:sp>
        <p:nvSpPr>
          <p:cNvPr id="31" name="">
            <a:extLst xmlns:a="http://schemas.openxmlformats.org/drawingml/2006/main">
              <a:ext uri="{FF2B5EF4-FFF2-40B4-BE49-F238E27FC236}">
                <a16:creationId xmlns:a16="http://schemas.microsoft.com/office/drawing/2014/main" id="{96DAE4F5-B8B6-43BC-BCF0-E49DAB0F5554}"/>
              </a:ext>
            </a:extLst>
          </p:cNvPr>
          <p:cNvSpPr>
            <a:spLocks xmlns:a="http://schemas.openxmlformats.org/drawingml/2006/main" noGrp="1"/>
          </p:cNvSpPr>
          <p:nvPr/>
        </p:nvSpPr>
        <p:spPr>
          <a:xfrm xmlns:a="http://schemas.openxmlformats.org/drawingml/2006/main">
            <a:off x="857250" y="5067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Logistic Regression + SMOTE</a:t>
            </a:r>
          </a:p>
        </p:txBody>
      </p:sp>
      <p:sp>
        <p:nvSpPr>
          <p:cNvPr id="32" name="">
            <a:extLst xmlns:a="http://schemas.openxmlformats.org/drawingml/2006/main">
              <a:ext uri="{FF2B5EF4-FFF2-40B4-BE49-F238E27FC236}">
                <a16:creationId xmlns:a16="http://schemas.microsoft.com/office/drawing/2014/main" id="{D8DE7B0B-5812-4197-9124-7AC5723D3144}"/>
              </a:ext>
            </a:extLst>
          </p:cNvPr>
          <p:cNvSpPr>
            <a:spLocks xmlns:a="http://schemas.openxmlformats.org/drawingml/2006/main" noGrp="1"/>
          </p:cNvSpPr>
          <p:nvPr/>
        </p:nvSpPr>
        <p:spPr>
          <a:xfrm xmlns:a="http://schemas.openxmlformats.org/drawingml/2006/main">
            <a:off x="4762500"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Final Test: Macro F1 0,5764</a:t>
            </a:r>
          </a:p>
        </p:txBody>
      </p:sp>
      <p:sp>
        <p:nvSpPr>
          <p:cNvPr id="33" name="">
            <a:extLst xmlns:a="http://schemas.openxmlformats.org/drawingml/2006/main">
              <a:ext uri="{FF2B5EF4-FFF2-40B4-BE49-F238E27FC236}">
                <a16:creationId xmlns:a16="http://schemas.microsoft.com/office/drawing/2014/main" id="{ACC6F12F-FC6E-4A03-A354-44AD96E7058F}"/>
              </a:ext>
            </a:extLst>
          </p:cNvPr>
          <p:cNvSpPr>
            <a:spLocks xmlns:a="http://schemas.openxmlformats.org/drawingml/2006/main" noGrp="1"/>
          </p:cNvSpPr>
          <p:nvPr/>
        </p:nvSpPr>
        <p:spPr>
          <a:xfrm xmlns:a="http://schemas.openxmlformats.org/drawingml/2006/main">
            <a:off x="8048625"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45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Web demo dự đoán theo thời gian thực</a:t>
            </a:r>
          </a:p>
        </p:txBody>
      </p:sp>
    </p:spTree>
    <p:extLst>
      <p:ext uri="{BB962C8B-B14F-4D97-AF65-F5344CB8AC3E}">
        <p14:creationId xmlns:p14="http://schemas.microsoft.com/office/powerpoint/2010/main" val="1751698290"/>
      </p:ext>
    </p:extLst>
  </p:cSld>
</p:sld>
</file>

<file path=ppt/slides/slide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B5AAD9-9882-4F64-915D-17535A772D9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03 · TIỀN XỬ LÝ</a:t>
            </a:r>
          </a:p>
        </p:txBody>
      </p:sp>
      <p:sp>
        <p:nvSpPr>
          <p:cNvPr id="2" name="">
            <a:extLst xmlns:a="http://schemas.openxmlformats.org/drawingml/2006/main">
              <a:ext uri="{FF2B5EF4-FFF2-40B4-BE49-F238E27FC236}">
                <a16:creationId xmlns:a16="http://schemas.microsoft.com/office/drawing/2014/main" id="{34203F13-7403-4363-915A-8DD7CD41F4D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Làm sạch văn bản tiếng Việt theo hai tầng</a:t>
            </a:r>
          </a:p>
        </p:txBody>
      </p:sp>
      <p:sp>
        <p:nvSpPr>
          <p:cNvPr id="3" name="">
            <a:extLst xmlns:a="http://schemas.openxmlformats.org/drawingml/2006/main">
              <a:ext uri="{FF2B5EF4-FFF2-40B4-BE49-F238E27FC236}">
                <a16:creationId xmlns:a16="http://schemas.microsoft.com/office/drawing/2014/main" id="{9295BC80-DED8-4243-8CE7-9563E56F454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1EBCAA-3444-426B-AE47-439D60377548}"/>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04 / 18</a:t>
            </a:r>
          </a:p>
        </p:txBody>
      </p:sp>
      <p:sp>
        <p:nvSpPr>
          <p:cNvPr id="5" name="">
            <a:extLst xmlns:a="http://schemas.openxmlformats.org/drawingml/2006/main">
              <a:ext uri="{FF2B5EF4-FFF2-40B4-BE49-F238E27FC236}">
                <a16:creationId xmlns:a16="http://schemas.microsoft.com/office/drawing/2014/main" id="{3EC9DEBC-7606-43BC-BD73-FC4CEAFF7A01}"/>
              </a:ext>
            </a:extLst>
          </p:cNvPr>
          <p:cNvSpPr>
            <a:spLocks xmlns:a="http://schemas.openxmlformats.org/drawingml/2006/main" noGrp="1"/>
          </p:cNvSpPr>
          <p:nvPr/>
        </p:nvSpPr>
        <p:spPr>
          <a:xfrm xmlns:a="http://schemas.openxmlformats.org/drawingml/2006/main">
            <a:off x="666750" y="181927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5FAAAC-2734-4E08-8D4F-2DB173D5A11B}"/>
              </a:ext>
            </a:extLst>
          </p:cNvPr>
          <p:cNvSpPr>
            <a:spLocks xmlns:a="http://schemas.openxmlformats.org/drawingml/2006/main" noGrp="1"/>
          </p:cNvSpPr>
          <p:nvPr/>
        </p:nvSpPr>
        <p:spPr>
          <a:xfrm xmlns:a="http://schemas.openxmlformats.org/drawingml/2006/main">
            <a:off x="857250" y="1752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cơ bản</a:t>
            </a:r>
          </a:p>
        </p:txBody>
      </p:sp>
      <p:sp>
        <p:nvSpPr>
          <p:cNvPr id="7" name="">
            <a:extLst xmlns:a="http://schemas.openxmlformats.org/drawingml/2006/main">
              <a:ext uri="{FF2B5EF4-FFF2-40B4-BE49-F238E27FC236}">
                <a16:creationId xmlns:a16="http://schemas.microsoft.com/office/drawing/2014/main" id="{3BA83F2F-F270-44A1-AAFD-96C663221B0D}"/>
              </a:ext>
            </a:extLst>
          </p:cNvPr>
          <p:cNvSpPr>
            <a:spLocks xmlns:a="http://schemas.openxmlformats.org/drawingml/2006/main" noGrp="1"/>
          </p:cNvSpPr>
          <p:nvPr/>
        </p:nvSpPr>
        <p:spPr>
          <a:xfrm xmlns:a="http://schemas.openxmlformats.org/drawingml/2006/main">
            <a:off x="857250" y="2038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Unicode NFC, URL, email và chữ thường.</a:t>
            </a:r>
          </a:p>
        </p:txBody>
      </p:sp>
      <p:sp>
        <p:nvSpPr>
          <p:cNvPr id="8" name="">
            <a:extLst xmlns:a="http://schemas.openxmlformats.org/drawingml/2006/main">
              <a:ext uri="{FF2B5EF4-FFF2-40B4-BE49-F238E27FC236}">
                <a16:creationId xmlns:a16="http://schemas.microsoft.com/office/drawing/2014/main" id="{10BC76EE-0863-4897-BD29-4CA698387204}"/>
              </a:ext>
            </a:extLst>
          </p:cNvPr>
          <p:cNvSpPr>
            <a:spLocks xmlns:a="http://schemas.openxmlformats.org/drawingml/2006/main" noGrp="1"/>
          </p:cNvSpPr>
          <p:nvPr/>
        </p:nvSpPr>
        <p:spPr>
          <a:xfrm xmlns:a="http://schemas.openxmlformats.org/drawingml/2006/main">
            <a:off x="666750" y="27717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0038207-F784-45C0-A53D-BD73E471B059}"/>
              </a:ext>
            </a:extLst>
          </p:cNvPr>
          <p:cNvSpPr>
            <a:spLocks xmlns:a="http://schemas.openxmlformats.org/drawingml/2006/main" noGrp="1"/>
          </p:cNvSpPr>
          <p:nvPr/>
        </p:nvSpPr>
        <p:spPr>
          <a:xfrm xmlns:a="http://schemas.openxmlformats.org/drawingml/2006/main">
            <a:off x="857250" y="2705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tín hiệu</a:t>
            </a:r>
          </a:p>
        </p:txBody>
      </p:sp>
      <p:sp>
        <p:nvSpPr>
          <p:cNvPr id="10" name="">
            <a:extLst xmlns:a="http://schemas.openxmlformats.org/drawingml/2006/main">
              <a:ext uri="{FF2B5EF4-FFF2-40B4-BE49-F238E27FC236}">
                <a16:creationId xmlns:a16="http://schemas.microsoft.com/office/drawing/2014/main" id="{C6E92361-A0E1-4297-A337-3FEAA9238CCB}"/>
              </a:ext>
            </a:extLst>
          </p:cNvPr>
          <p:cNvSpPr>
            <a:spLocks xmlns:a="http://schemas.openxmlformats.org/drawingml/2006/main" noGrp="1"/>
          </p:cNvSpPr>
          <p:nvPr/>
        </p:nvSpPr>
        <p:spPr>
          <a:xfrm xmlns:a="http://schemas.openxmlformats.org/drawingml/2006/main">
            <a:off x="857250" y="2990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Emoji, emojicon, teencode và thuật ngữ IT.</a:t>
            </a:r>
          </a:p>
        </p:txBody>
      </p:sp>
      <p:sp>
        <p:nvSpPr>
          <p:cNvPr id="11" name="">
            <a:extLst xmlns:a="http://schemas.openxmlformats.org/drawingml/2006/main">
              <a:ext uri="{FF2B5EF4-FFF2-40B4-BE49-F238E27FC236}">
                <a16:creationId xmlns:a16="http://schemas.microsoft.com/office/drawing/2014/main" id="{1C556FBB-37DA-41DA-AFFD-085449D355EF}"/>
              </a:ext>
            </a:extLst>
          </p:cNvPr>
          <p:cNvSpPr>
            <a:spLocks xmlns:a="http://schemas.openxmlformats.org/drawingml/2006/main" noGrp="1"/>
          </p:cNvSpPr>
          <p:nvPr/>
        </p:nvSpPr>
        <p:spPr>
          <a:xfrm xmlns:a="http://schemas.openxmlformats.org/drawingml/2006/main">
            <a:off x="666750" y="372427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3CA30F-9F70-4FCA-89EB-D50480DAB584}"/>
              </a:ext>
            </a:extLst>
          </p:cNvPr>
          <p:cNvSpPr>
            <a:spLocks xmlns:a="http://schemas.openxmlformats.org/drawingml/2006/main" noGrp="1"/>
          </p:cNvSpPr>
          <p:nvPr/>
        </p:nvSpPr>
        <p:spPr>
          <a:xfrm xmlns:a="http://schemas.openxmlformats.org/drawingml/2006/main">
            <a:off x="857250" y="3657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Tách từ</a:t>
            </a:r>
          </a:p>
        </p:txBody>
      </p:sp>
      <p:sp>
        <p:nvSpPr>
          <p:cNvPr id="13" name="">
            <a:extLst xmlns:a="http://schemas.openxmlformats.org/drawingml/2006/main">
              <a:ext uri="{FF2B5EF4-FFF2-40B4-BE49-F238E27FC236}">
                <a16:creationId xmlns:a16="http://schemas.microsoft.com/office/drawing/2014/main" id="{AC684033-F02F-4D2C-865D-3094590AB0E2}"/>
              </a:ext>
            </a:extLst>
          </p:cNvPr>
          <p:cNvSpPr>
            <a:spLocks xmlns:a="http://schemas.openxmlformats.org/drawingml/2006/main" noGrp="1"/>
          </p:cNvSpPr>
          <p:nvPr/>
        </p:nvSpPr>
        <p:spPr>
          <a:xfrm xmlns:a="http://schemas.openxmlformats.org/drawingml/2006/main">
            <a:off x="857250" y="3943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Ưu tiên underthesea, dùng pyvi khi cần fallback.</a:t>
            </a:r>
          </a:p>
        </p:txBody>
      </p:sp>
      <p:sp>
        <p:nvSpPr>
          <p:cNvPr id="14" name="">
            <a:extLst xmlns:a="http://schemas.openxmlformats.org/drawingml/2006/main">
              <a:ext uri="{FF2B5EF4-FFF2-40B4-BE49-F238E27FC236}">
                <a16:creationId xmlns:a16="http://schemas.microsoft.com/office/drawing/2014/main" id="{8C0D534B-8CF4-465A-89D8-341F7981A5DD}"/>
              </a:ext>
            </a:extLst>
          </p:cNvPr>
          <p:cNvSpPr>
            <a:spLocks xmlns:a="http://schemas.openxmlformats.org/drawingml/2006/main" noGrp="1"/>
          </p:cNvSpPr>
          <p:nvPr/>
        </p:nvSpPr>
        <p:spPr>
          <a:xfrm xmlns:a="http://schemas.openxmlformats.org/drawingml/2006/main">
            <a:off x="666750" y="467677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A99B5A-58F3-4391-9242-376B0C2988BA}"/>
              </a:ext>
            </a:extLst>
          </p:cNvPr>
          <p:cNvSpPr>
            <a:spLocks xmlns:a="http://schemas.openxmlformats.org/drawingml/2006/main" noGrp="1"/>
          </p:cNvSpPr>
          <p:nvPr/>
        </p:nvSpPr>
        <p:spPr>
          <a:xfrm xmlns:a="http://schemas.openxmlformats.org/drawingml/2006/main">
            <a:off x="857250" y="4610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Lọc từ dừng</a:t>
            </a:r>
          </a:p>
        </p:txBody>
      </p:sp>
      <p:sp>
        <p:nvSpPr>
          <p:cNvPr id="16" name="">
            <a:extLst xmlns:a="http://schemas.openxmlformats.org/drawingml/2006/main">
              <a:ext uri="{FF2B5EF4-FFF2-40B4-BE49-F238E27FC236}">
                <a16:creationId xmlns:a16="http://schemas.microsoft.com/office/drawing/2014/main" id="{38C506EE-0C2A-43D8-ADAA-79024F0D0F07}"/>
              </a:ext>
            </a:extLst>
          </p:cNvPr>
          <p:cNvSpPr>
            <a:spLocks xmlns:a="http://schemas.openxmlformats.org/drawingml/2006/main" noGrp="1"/>
          </p:cNvSpPr>
          <p:nvPr/>
        </p:nvSpPr>
        <p:spPr>
          <a:xfrm xmlns:a="http://schemas.openxmlformats.org/drawingml/2006/main">
            <a:off x="857250" y="4895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Giữ từ phủ định và từ chỉ mức độ như “thấp”, “nhiều”.</a:t>
            </a:r>
          </a:p>
        </p:txBody>
      </p:sp>
      <p:sp>
        <p:nvSpPr>
          <p:cNvPr id="17" name="">
            <a:extLst xmlns:a="http://schemas.openxmlformats.org/drawingml/2006/main">
              <a:ext uri="{FF2B5EF4-FFF2-40B4-BE49-F238E27FC236}">
                <a16:creationId xmlns:a16="http://schemas.microsoft.com/office/drawing/2014/main" id="{1569691C-0782-4729-81DA-08D16FA4BD9A}"/>
              </a:ext>
            </a:extLst>
          </p:cNvPr>
          <p:cNvSpPr>
            <a:spLocks xmlns:a="http://schemas.openxmlformats.org/drawingml/2006/main" noGrp="1"/>
          </p:cNvSpPr>
          <p:nvPr/>
        </p:nvSpPr>
        <p:spPr>
          <a:xfrm xmlns:a="http://schemas.openxmlformats.org/drawingml/2006/main">
            <a:off x="5715000" y="1666875"/>
            <a:ext cx="5524500" cy="3714750"/>
          </a:xfrm>
          <a:prstGeom xmlns:a="http://schemas.openxmlformats.org/drawingml/2006/main" prst="roundRect">
            <a:avLst>
              <a:gd name="adj" fmla="val 4615"/>
            </a:avLst>
          </a:prstGeom>
          <a:solidFill xmlns:a="http://schemas.openxmlformats.org/drawingml/2006/main">
            <a:srgbClr val="121A26"/>
          </a:solidFill>
          <a:ln xmlns:a="http://schemas.openxmlformats.org/drawingml/2006/main" w="9525">
            <a:solidFill>
              <a:srgbClr val="2A3B52"/>
            </a:solidFill>
            <a:prstDash val="solid"/>
          </a:ln>
        </p:spPr>
      </p:sp>
      <p:sp>
        <p:nvSpPr>
          <p:cNvPr id="18" name="">
            <a:extLst xmlns:a="http://schemas.openxmlformats.org/drawingml/2006/main">
              <a:ext uri="{FF2B5EF4-FFF2-40B4-BE49-F238E27FC236}">
                <a16:creationId xmlns:a16="http://schemas.microsoft.com/office/drawing/2014/main" id="{F532047D-EA1D-4FB7-9FBA-C948EDC22EAE}"/>
              </a:ext>
            </a:extLst>
          </p:cNvPr>
          <p:cNvSpPr>
            <a:spLocks xmlns:a="http://schemas.openxmlformats.org/drawingml/2006/main" noGrp="1"/>
          </p:cNvSpPr>
          <p:nvPr/>
        </p:nvSpPr>
        <p:spPr>
          <a:xfrm xmlns:a="http://schemas.openxmlformats.org/drawingml/2006/main">
            <a:off x="6000750" y="195262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667B"/>
                </a:solidFill>
                <a:latin typeface="Helvetica Neue"/>
                <a:ea typeface="Helvetica Neue"/>
                <a:cs typeface="Helvetica Neue"/>
              </a:defRPr>
            </a:pPr>
            <a:r>
              <a:rPr sz="1050" b="1">
                <a:solidFill>
                  <a:srgbClr val="FF667B"/>
                </a:solidFill>
                <a:latin typeface="Helvetica Neue"/>
                <a:ea typeface="Helvetica Neue"/>
                <a:cs typeface="Helvetica Neue"/>
              </a:rPr>
              <a:t>REVIEW GỐC</a:t>
            </a:r>
          </a:p>
        </p:txBody>
      </p:sp>
      <p:sp>
        <p:nvSpPr>
          <p:cNvPr id="19" name="">
            <a:extLst xmlns:a="http://schemas.openxmlformats.org/drawingml/2006/main">
              <a:ext uri="{FF2B5EF4-FFF2-40B4-BE49-F238E27FC236}">
                <a16:creationId xmlns:a16="http://schemas.microsoft.com/office/drawing/2014/main" id="{7105B755-6A38-48CE-9738-78725D741D05}"/>
              </a:ext>
            </a:extLst>
          </p:cNvPr>
          <p:cNvSpPr>
            <a:spLocks xmlns:a="http://schemas.openxmlformats.org/drawingml/2006/main" noGrp="1"/>
          </p:cNvSpPr>
          <p:nvPr/>
        </p:nvSpPr>
        <p:spPr>
          <a:xfrm xmlns:a="http://schemas.openxmlformats.org/drawingml/2006/main">
            <a:off x="6000750" y="2324100"/>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Lương thấp, quản lý thiếu minh bạch và thường xuyên phải OT không lương.</a:t>
            </a:r>
          </a:p>
        </p:txBody>
      </p:sp>
      <p:sp>
        <p:nvSpPr>
          <p:cNvPr id="20" name="">
            <a:extLst xmlns:a="http://schemas.openxmlformats.org/drawingml/2006/main">
              <a:ext uri="{FF2B5EF4-FFF2-40B4-BE49-F238E27FC236}">
                <a16:creationId xmlns:a16="http://schemas.microsoft.com/office/drawing/2014/main" id="{9110E748-4790-435E-978E-5CDFA9A722C2}"/>
              </a:ext>
            </a:extLst>
          </p:cNvPr>
          <p:cNvSpPr>
            <a:spLocks xmlns:a="http://schemas.openxmlformats.org/drawingml/2006/main" noGrp="1"/>
          </p:cNvSpPr>
          <p:nvPr/>
        </p:nvSpPr>
        <p:spPr>
          <a:xfrm xmlns:a="http://schemas.openxmlformats.org/drawingml/2006/main">
            <a:off x="6000750" y="3371850"/>
            <a:ext cx="4810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277FD2-B9CE-4C74-926A-E441A827FE19}"/>
              </a:ext>
            </a:extLst>
          </p:cNvPr>
          <p:cNvSpPr>
            <a:spLocks xmlns:a="http://schemas.openxmlformats.org/drawingml/2006/main" noGrp="1"/>
          </p:cNvSpPr>
          <p:nvPr/>
        </p:nvSpPr>
        <p:spPr>
          <a:xfrm xmlns:a="http://schemas.openxmlformats.org/drawingml/2006/main">
            <a:off x="6000750" y="3638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45D9A0"/>
                </a:solidFill>
                <a:latin typeface="Helvetica Neue"/>
                <a:ea typeface="Helvetica Neue"/>
                <a:cs typeface="Helvetica Neue"/>
              </a:defRPr>
            </a:pPr>
            <a:r>
              <a:rPr sz="1050" b="1">
                <a:solidFill>
                  <a:srgbClr val="45D9A0"/>
                </a:solidFill>
                <a:latin typeface="Helvetica Neue"/>
                <a:ea typeface="Helvetica Neue"/>
                <a:cs typeface="Helvetica Neue"/>
              </a:rPr>
              <a:t>SAU TIỀN XỬ LÝ</a:t>
            </a:r>
          </a:p>
        </p:txBody>
      </p:sp>
      <p:sp>
        <p:nvSpPr>
          <p:cNvPr id="22" name="">
            <a:extLst xmlns:a="http://schemas.openxmlformats.org/drawingml/2006/main">
              <a:ext uri="{FF2B5EF4-FFF2-40B4-BE49-F238E27FC236}">
                <a16:creationId xmlns:a16="http://schemas.microsoft.com/office/drawing/2014/main" id="{D1D7F89F-CCC3-46A9-A243-98B118AC7748}"/>
              </a:ext>
            </a:extLst>
          </p:cNvPr>
          <p:cNvSpPr>
            <a:spLocks xmlns:a="http://schemas.openxmlformats.org/drawingml/2006/main" noGrp="1"/>
          </p:cNvSpPr>
          <p:nvPr/>
        </p:nvSpPr>
        <p:spPr>
          <a:xfrm xmlns:a="http://schemas.openxmlformats.org/drawingml/2006/main">
            <a:off x="6000750" y="4019550"/>
            <a:ext cx="4810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45D9A0"/>
                </a:solidFill>
                <a:latin typeface="Helvetica Neue"/>
                <a:ea typeface="Helvetica Neue"/>
                <a:cs typeface="Helvetica Neue"/>
              </a:defRPr>
            </a:pPr>
            <a:r>
              <a:rPr sz="1725" b="1">
                <a:solidFill>
                  <a:srgbClr val="45D9A0"/>
                </a:solidFill>
                <a:latin typeface="Helvetica Neue"/>
                <a:ea typeface="Helvetica Neue"/>
                <a:cs typeface="Helvetica Neue"/>
              </a:rPr>
              <a:t>lương thấp quản_lý thiếu minh_bạch thường_xuyên ot không lương</a:t>
            </a:r>
          </a:p>
        </p:txBody>
      </p:sp>
      <p:sp>
        <p:nvSpPr>
          <p:cNvPr id="23" name="">
            <a:extLst xmlns:a="http://schemas.openxmlformats.org/drawingml/2006/main">
              <a:ext uri="{FF2B5EF4-FFF2-40B4-BE49-F238E27FC236}">
                <a16:creationId xmlns:a16="http://schemas.microsoft.com/office/drawing/2014/main" id="{5AD4EDFE-3741-4BD4-AB60-CB4FCD8335DC}"/>
              </a:ext>
            </a:extLst>
          </p:cNvPr>
          <p:cNvSpPr>
            <a:spLocks xmlns:a="http://schemas.openxmlformats.org/drawingml/2006/main" noGrp="1"/>
          </p:cNvSpPr>
          <p:nvPr/>
        </p:nvSpPr>
        <p:spPr>
          <a:xfrm xmlns:a="http://schemas.openxmlformats.org/drawingml/2006/main">
            <a:off x="6000750" y="4905375"/>
            <a:ext cx="481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Ví dụ chạy trên pipeline và model bản sửa hiện tại.</a:t>
            </a:r>
          </a:p>
        </p:txBody>
      </p:sp>
      <p:sp>
        <p:nvSpPr>
          <p:cNvPr id="24" name="">
            <a:extLst xmlns:a="http://schemas.openxmlformats.org/drawingml/2006/main">
              <a:ext uri="{FF2B5EF4-FFF2-40B4-BE49-F238E27FC236}">
                <a16:creationId xmlns:a16="http://schemas.microsoft.com/office/drawing/2014/main" id="{CAAF7C12-EBC6-4CD8-9A5A-4DA4D8414F3E}"/>
              </a:ext>
            </a:extLst>
          </p:cNvPr>
          <p:cNvSpPr>
            <a:spLocks xmlns:a="http://schemas.openxmlformats.org/drawingml/2006/main" noGrp="1"/>
          </p:cNvSpPr>
          <p:nvPr/>
        </p:nvSpPr>
        <p:spPr>
          <a:xfrm xmlns:a="http://schemas.openxmlformats.org/drawingml/2006/main">
            <a:off x="666750" y="59055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Đầu ra clean_basic_text giữ cấu trúc tự nhiên. clean_advance_text phục vụ các mô hình ML.</a:t>
            </a:r>
          </a:p>
        </p:txBody>
      </p:sp>
    </p:spTree>
    <p:extLst>
      <p:ext uri="{BB962C8B-B14F-4D97-AF65-F5344CB8AC3E}">
        <p14:creationId xmlns:p14="http://schemas.microsoft.com/office/powerpoint/2010/main" val="332985770"/>
      </p:ext>
    </p:extLst>
  </p:cSld>
</p:sld>
</file>

<file path=ppt/slides/slide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1346FB-9883-4B84-9B52-E79A6B2C27BB}"/>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04 · EDA</a:t>
            </a:r>
          </a:p>
        </p:txBody>
      </p:sp>
      <p:sp>
        <p:nvSpPr>
          <p:cNvPr id="2" name="">
            <a:extLst xmlns:a="http://schemas.openxmlformats.org/drawingml/2006/main">
              <a:ext uri="{FF2B5EF4-FFF2-40B4-BE49-F238E27FC236}">
                <a16:creationId xmlns:a16="http://schemas.microsoft.com/office/drawing/2014/main" id="{33878350-1E79-415E-B6DF-F3CB2EC54B4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Quản lý và lương liên hệ mạnh nhất với rating</a:t>
            </a:r>
          </a:p>
        </p:txBody>
      </p:sp>
      <p:sp>
        <p:nvSpPr>
          <p:cNvPr id="3" name="">
            <a:extLst xmlns:a="http://schemas.openxmlformats.org/drawingml/2006/main">
              <a:ext uri="{FF2B5EF4-FFF2-40B4-BE49-F238E27FC236}">
                <a16:creationId xmlns:a16="http://schemas.microsoft.com/office/drawing/2014/main" id="{30696153-3FF8-4361-9C51-72CC3478D7E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9ECD4F-2F1F-4A0D-B791-34670FBE7BA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05 / 18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0f19c17a7f548eb"/>
          <a:stretch xmlns:a="http://schemas.openxmlformats.org/drawingml/2006/main"/>
        </p:blipFill>
        <p:spPr>
          <a:xfrm xmlns:a="http://schemas.openxmlformats.org/drawingml/2006/main">
            <a:off x="1405805" y="1619250"/>
            <a:ext cx="497984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F7041F-4DC4-41C0-AB5E-7705729BE32C}"/>
              </a:ext>
            </a:extLst>
          </p:cNvPr>
          <p:cNvSpPr>
            <a:spLocks xmlns:a="http://schemas.openxmlformats.org/drawingml/2006/main" noGrp="1"/>
          </p:cNvSpPr>
          <p:nvPr/>
        </p:nvSpPr>
        <p:spPr>
          <a:xfrm xmlns:a="http://schemas.openxmlformats.org/drawingml/2006/main">
            <a:off x="7810500" y="17907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MANAGEMENT VS RATING</a:t>
            </a:r>
          </a:p>
        </p:txBody>
      </p:sp>
      <p:sp>
        <p:nvSpPr>
          <p:cNvPr id="7" name="">
            <a:extLst xmlns:a="http://schemas.openxmlformats.org/drawingml/2006/main">
              <a:ext uri="{FF2B5EF4-FFF2-40B4-BE49-F238E27FC236}">
                <a16:creationId xmlns:a16="http://schemas.microsoft.com/office/drawing/2014/main" id="{C3C7E627-7A9E-4B74-A067-2326AA9A11CA}"/>
              </a:ext>
            </a:extLst>
          </p:cNvPr>
          <p:cNvSpPr>
            <a:spLocks xmlns:a="http://schemas.openxmlformats.org/drawingml/2006/main" noGrp="1"/>
          </p:cNvSpPr>
          <p:nvPr/>
        </p:nvSpPr>
        <p:spPr>
          <a:xfrm xmlns:a="http://schemas.openxmlformats.org/drawingml/2006/main">
            <a:off x="7810500" y="20574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0,7368</a:t>
            </a:r>
          </a:p>
        </p:txBody>
      </p:sp>
      <p:sp>
        <p:nvSpPr>
          <p:cNvPr id="8" name="">
            <a:extLst xmlns:a="http://schemas.openxmlformats.org/drawingml/2006/main">
              <a:ext uri="{FF2B5EF4-FFF2-40B4-BE49-F238E27FC236}">
                <a16:creationId xmlns:a16="http://schemas.microsoft.com/office/drawing/2014/main" id="{B68D05DA-E07F-431A-B6F1-05E0A53E7085}"/>
              </a:ext>
            </a:extLst>
          </p:cNvPr>
          <p:cNvSpPr>
            <a:spLocks xmlns:a="http://schemas.openxmlformats.org/drawingml/2006/main" noGrp="1"/>
          </p:cNvSpPr>
          <p:nvPr/>
        </p:nvSpPr>
        <p:spPr>
          <a:xfrm xmlns:a="http://schemas.openxmlformats.org/drawingml/2006/main">
            <a:off x="7810500" y="27813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SALARY VS RATING</a:t>
            </a:r>
          </a:p>
        </p:txBody>
      </p:sp>
      <p:sp>
        <p:nvSpPr>
          <p:cNvPr id="9" name="">
            <a:extLst xmlns:a="http://schemas.openxmlformats.org/drawingml/2006/main">
              <a:ext uri="{FF2B5EF4-FFF2-40B4-BE49-F238E27FC236}">
                <a16:creationId xmlns:a16="http://schemas.microsoft.com/office/drawing/2014/main" id="{37214B89-FDBB-45BD-821A-5B592B9454FD}"/>
              </a:ext>
            </a:extLst>
          </p:cNvPr>
          <p:cNvSpPr>
            <a:spLocks xmlns:a="http://schemas.openxmlformats.org/drawingml/2006/main" noGrp="1"/>
          </p:cNvSpPr>
          <p:nvPr/>
        </p:nvSpPr>
        <p:spPr>
          <a:xfrm xmlns:a="http://schemas.openxmlformats.org/drawingml/2006/main">
            <a:off x="7810500" y="30480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0,7343</a:t>
            </a:r>
          </a:p>
        </p:txBody>
      </p:sp>
      <p:sp>
        <p:nvSpPr>
          <p:cNvPr id="10" name="">
            <a:extLst xmlns:a="http://schemas.openxmlformats.org/drawingml/2006/main">
              <a:ext uri="{FF2B5EF4-FFF2-40B4-BE49-F238E27FC236}">
                <a16:creationId xmlns:a16="http://schemas.microsoft.com/office/drawing/2014/main" id="{94C804C6-3018-4620-AFE7-7233228ABAF2}"/>
              </a:ext>
            </a:extLst>
          </p:cNvPr>
          <p:cNvSpPr>
            <a:spLocks xmlns:a="http://schemas.openxmlformats.org/drawingml/2006/main" noGrp="1"/>
          </p:cNvSpPr>
          <p:nvPr/>
        </p:nvSpPr>
        <p:spPr>
          <a:xfrm xmlns:a="http://schemas.openxmlformats.org/drawingml/2006/main">
            <a:off x="7810500" y="37719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OFFICE VS RATING</a:t>
            </a:r>
          </a:p>
        </p:txBody>
      </p:sp>
      <p:sp>
        <p:nvSpPr>
          <p:cNvPr id="11" name="">
            <a:extLst xmlns:a="http://schemas.openxmlformats.org/drawingml/2006/main">
              <a:ext uri="{FF2B5EF4-FFF2-40B4-BE49-F238E27FC236}">
                <a16:creationId xmlns:a16="http://schemas.microsoft.com/office/drawing/2014/main" id="{740B3EE6-2A9A-4D56-B368-9400F3A1BB33}"/>
              </a:ext>
            </a:extLst>
          </p:cNvPr>
          <p:cNvSpPr>
            <a:spLocks xmlns:a="http://schemas.openxmlformats.org/drawingml/2006/main" noGrp="1"/>
          </p:cNvSpPr>
          <p:nvPr/>
        </p:nvSpPr>
        <p:spPr>
          <a:xfrm xmlns:a="http://schemas.openxmlformats.org/drawingml/2006/main">
            <a:off x="7810500" y="40386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0,5423</a:t>
            </a:r>
          </a:p>
        </p:txBody>
      </p:sp>
      <p:sp>
        <p:nvSpPr>
          <p:cNvPr id="12" name="">
            <a:extLst xmlns:a="http://schemas.openxmlformats.org/drawingml/2006/main">
              <a:ext uri="{FF2B5EF4-FFF2-40B4-BE49-F238E27FC236}">
                <a16:creationId xmlns:a16="http://schemas.microsoft.com/office/drawing/2014/main" id="{36BF3FC0-34CF-4DB0-8F26-78F5A2929D13}"/>
              </a:ext>
            </a:extLst>
          </p:cNvPr>
          <p:cNvSpPr>
            <a:spLocks xmlns:a="http://schemas.openxmlformats.org/drawingml/2006/main" noGrp="1"/>
          </p:cNvSpPr>
          <p:nvPr/>
        </p:nvSpPr>
        <p:spPr>
          <a:xfrm xmlns:a="http://schemas.openxmlformats.org/drawingml/2006/main">
            <a:off x="7810500" y="47815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02"/>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Các điểm khía cạnh là tín hiệu dự báo rất mạnh nhưng không có ở đầu vào dự đoán review tự do. Dự án chỉ dùng chúng cho phân tích chẩn đoán.</a:t>
            </a:r>
          </a:p>
        </p:txBody>
      </p:sp>
    </p:spTree>
    <p:extLst>
      <p:ext uri="{BB962C8B-B14F-4D97-AF65-F5344CB8AC3E}">
        <p14:creationId xmlns:p14="http://schemas.microsoft.com/office/powerpoint/2010/main" val="962885509"/>
      </p:ext>
    </p:extLst>
  </p:cSld>
</p:sld>
</file>

<file path=ppt/slides/slide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919C34-ADEE-4835-8862-80CB7F3112F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05 · ĐẶC TRƯNG</a:t>
            </a:r>
          </a:p>
        </p:txBody>
      </p:sp>
      <p:sp>
        <p:nvSpPr>
          <p:cNvPr id="2" name="">
            <a:extLst xmlns:a="http://schemas.openxmlformats.org/drawingml/2006/main">
              <a:ext uri="{FF2B5EF4-FFF2-40B4-BE49-F238E27FC236}">
                <a16:creationId xmlns:a16="http://schemas.microsoft.com/office/drawing/2014/main" id="{4DC38D30-9B20-4D3F-88A7-CAE36243062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Bigram cải thiện Macro F1 thêm 0,0153</a:t>
            </a:r>
          </a:p>
        </p:txBody>
      </p:sp>
      <p:sp>
        <p:nvSpPr>
          <p:cNvPr id="3" name="">
            <a:extLst xmlns:a="http://schemas.openxmlformats.org/drawingml/2006/main">
              <a:ext uri="{FF2B5EF4-FFF2-40B4-BE49-F238E27FC236}">
                <a16:creationId xmlns:a16="http://schemas.microsoft.com/office/drawing/2014/main" id="{FB81D325-5003-4C7F-9562-B2C7B7FE58C6}"/>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6DC1FE-228F-4F1B-A686-D79BDC92F421}"/>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06 / 18</a:t>
            </a:r>
          </a:p>
        </p:txBody>
      </p:sp>
      <p:graphicFrame>
        <p:nvGraphicFramePr>
          <p:cNvPr id="26" name="Chart"/>
          <p:cNvGraphicFramePr/>
          <p:nvPr/>
        </p:nvGraphicFramePr>
        <p:xfrm>
          <a:off xmlns:a="http://schemas.openxmlformats.org/drawingml/2006/main" x="609600" y="1666875"/>
          <a:ext xmlns:a="http://schemas.openxmlformats.org/drawingml/2006/main" cx="6572250" cy="3810000"/>
        </p:xfrm>
        <a:graphic xmlns:a="http://schemas.openxmlformats.org/drawingml/2006/main">
          <a:graphicData uri="http://schemas.openxmlformats.org/drawingml/2006/chart">
            <c:chart xmlns:r="http://schemas.openxmlformats.org/officeDocument/2006/relationships" xmlns:c="http://schemas.openxmlformats.org/drawingml/2006/chart" r:id="R8107fa741b714f08"/>
          </a:graphicData>
        </a:graphic>
      </p:graphicFrame>
      <p:sp>
        <p:nvSpPr>
          <p:cNvPr id="6" name="">
            <a:extLst xmlns:a="http://schemas.openxmlformats.org/drawingml/2006/main">
              <a:ext uri="{FF2B5EF4-FFF2-40B4-BE49-F238E27FC236}">
                <a16:creationId xmlns:a16="http://schemas.microsoft.com/office/drawing/2014/main" id="{3A489022-9F1A-40B7-BC4B-FCC8855A61E8}"/>
              </a:ext>
            </a:extLst>
          </p:cNvPr>
          <p:cNvSpPr>
            <a:spLocks xmlns:a="http://schemas.openxmlformats.org/drawingml/2006/main" noGrp="1"/>
          </p:cNvSpPr>
          <p:nvPr/>
        </p:nvSpPr>
        <p:spPr>
          <a:xfrm xmlns:a="http://schemas.openxmlformats.org/drawingml/2006/main">
            <a:off x="6096000" y="177165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23CCDB39-4652-4ECD-B90E-9D82B9C4ED3D}"/>
              </a:ext>
            </a:extLst>
          </p:cNvPr>
          <p:cNvSpPr>
            <a:spLocks xmlns:a="http://schemas.openxmlformats.org/drawingml/2006/main" noGrp="1"/>
          </p:cNvSpPr>
          <p:nvPr/>
        </p:nvSpPr>
        <p:spPr>
          <a:xfrm xmlns:a="http://schemas.openxmlformats.org/drawingml/2006/main">
            <a:off x="7762875" y="18288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A98F35-398F-4A65-A9BE-08D5B392C3CC}"/>
              </a:ext>
            </a:extLst>
          </p:cNvPr>
          <p:cNvSpPr>
            <a:spLocks xmlns:a="http://schemas.openxmlformats.org/drawingml/2006/main" noGrp="1"/>
          </p:cNvSpPr>
          <p:nvPr/>
        </p:nvSpPr>
        <p:spPr>
          <a:xfrm xmlns:a="http://schemas.openxmlformats.org/drawingml/2006/main">
            <a:off x="7953375" y="17621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5.000 đặc trưng</a:t>
            </a:r>
          </a:p>
        </p:txBody>
      </p:sp>
      <p:sp>
        <p:nvSpPr>
          <p:cNvPr id="9" name="">
            <a:extLst xmlns:a="http://schemas.openxmlformats.org/drawingml/2006/main">
              <a:ext uri="{FF2B5EF4-FFF2-40B4-BE49-F238E27FC236}">
                <a16:creationId xmlns:a16="http://schemas.microsoft.com/office/drawing/2014/main" id="{BAD2D221-5B6F-47A6-8467-6E20D16C3D12}"/>
              </a:ext>
            </a:extLst>
          </p:cNvPr>
          <p:cNvSpPr>
            <a:spLocks xmlns:a="http://schemas.openxmlformats.org/drawingml/2006/main" noGrp="1"/>
          </p:cNvSpPr>
          <p:nvPr/>
        </p:nvSpPr>
        <p:spPr>
          <a:xfrm xmlns:a="http://schemas.openxmlformats.org/drawingml/2006/main">
            <a:off x="7953375" y="20478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Giới hạn từ vựng để giữ ma trận gọn.</a:t>
            </a:r>
          </a:p>
        </p:txBody>
      </p:sp>
      <p:sp>
        <p:nvSpPr>
          <p:cNvPr id="10" name="">
            <a:extLst xmlns:a="http://schemas.openxmlformats.org/drawingml/2006/main">
              <a:ext uri="{FF2B5EF4-FFF2-40B4-BE49-F238E27FC236}">
                <a16:creationId xmlns:a16="http://schemas.microsoft.com/office/drawing/2014/main" id="{49000E1E-260B-4F2B-B098-855433C1E962}"/>
              </a:ext>
            </a:extLst>
          </p:cNvPr>
          <p:cNvSpPr>
            <a:spLocks xmlns:a="http://schemas.openxmlformats.org/drawingml/2006/main" noGrp="1"/>
          </p:cNvSpPr>
          <p:nvPr/>
        </p:nvSpPr>
        <p:spPr>
          <a:xfrm xmlns:a="http://schemas.openxmlformats.org/drawingml/2006/main">
            <a:off x="7762875" y="27051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F9411C-A339-469E-9A23-F766DA93F86B}"/>
              </a:ext>
            </a:extLst>
          </p:cNvPr>
          <p:cNvSpPr>
            <a:spLocks xmlns:a="http://schemas.openxmlformats.org/drawingml/2006/main" noGrp="1"/>
          </p:cNvSpPr>
          <p:nvPr/>
        </p:nvSpPr>
        <p:spPr>
          <a:xfrm xmlns:a="http://schemas.openxmlformats.org/drawingml/2006/main">
            <a:off x="7953375" y="26384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sublinear_tf = True</a:t>
            </a:r>
          </a:p>
        </p:txBody>
      </p:sp>
      <p:sp>
        <p:nvSpPr>
          <p:cNvPr id="12" name="">
            <a:extLst xmlns:a="http://schemas.openxmlformats.org/drawingml/2006/main">
              <a:ext uri="{FF2B5EF4-FFF2-40B4-BE49-F238E27FC236}">
                <a16:creationId xmlns:a16="http://schemas.microsoft.com/office/drawing/2014/main" id="{D953DAF8-7181-4AA6-B3BF-BAC9452A933B}"/>
              </a:ext>
            </a:extLst>
          </p:cNvPr>
          <p:cNvSpPr>
            <a:spLocks xmlns:a="http://schemas.openxmlformats.org/drawingml/2006/main" noGrp="1"/>
          </p:cNvSpPr>
          <p:nvPr/>
        </p:nvSpPr>
        <p:spPr>
          <a:xfrm xmlns:a="http://schemas.openxmlformats.org/drawingml/2006/main">
            <a:off x="7953375" y="29241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Giảm ảnh hưởng của từ lặp nhiều lần.</a:t>
            </a:r>
          </a:p>
        </p:txBody>
      </p:sp>
      <p:sp>
        <p:nvSpPr>
          <p:cNvPr id="13" name="">
            <a:extLst xmlns:a="http://schemas.openxmlformats.org/drawingml/2006/main">
              <a:ext uri="{FF2B5EF4-FFF2-40B4-BE49-F238E27FC236}">
                <a16:creationId xmlns:a16="http://schemas.microsoft.com/office/drawing/2014/main" id="{7C392CD0-16E3-45AA-A6E5-FE237CC73DA4}"/>
              </a:ext>
            </a:extLst>
          </p:cNvPr>
          <p:cNvSpPr>
            <a:spLocks xmlns:a="http://schemas.openxmlformats.org/drawingml/2006/main" noGrp="1"/>
          </p:cNvSpPr>
          <p:nvPr/>
        </p:nvSpPr>
        <p:spPr>
          <a:xfrm xmlns:a="http://schemas.openxmlformats.org/drawingml/2006/main">
            <a:off x="7762875" y="358140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49E707-6702-4146-9F93-83B38829A541}"/>
              </a:ext>
            </a:extLst>
          </p:cNvPr>
          <p:cNvSpPr>
            <a:spLocks xmlns:a="http://schemas.openxmlformats.org/drawingml/2006/main" noGrp="1"/>
          </p:cNvSpPr>
          <p:nvPr/>
        </p:nvSpPr>
        <p:spPr>
          <a:xfrm xmlns:a="http://schemas.openxmlformats.org/drawingml/2006/main">
            <a:off x="7953375" y="35147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min_df = 2</a:t>
            </a:r>
          </a:p>
        </p:txBody>
      </p:sp>
      <p:sp>
        <p:nvSpPr>
          <p:cNvPr id="15" name="">
            <a:extLst xmlns:a="http://schemas.openxmlformats.org/drawingml/2006/main">
              <a:ext uri="{FF2B5EF4-FFF2-40B4-BE49-F238E27FC236}">
                <a16:creationId xmlns:a16="http://schemas.microsoft.com/office/drawing/2014/main" id="{D6AA8A7C-F8D3-453D-B741-BB219B3FB5A6}"/>
              </a:ext>
            </a:extLst>
          </p:cNvPr>
          <p:cNvSpPr>
            <a:spLocks xmlns:a="http://schemas.openxmlformats.org/drawingml/2006/main" noGrp="1"/>
          </p:cNvSpPr>
          <p:nvPr/>
        </p:nvSpPr>
        <p:spPr>
          <a:xfrm xmlns:a="http://schemas.openxmlformats.org/drawingml/2006/main">
            <a:off x="7953375" y="38004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Loại các token chỉ xuất hiện một lần.</a:t>
            </a:r>
          </a:p>
        </p:txBody>
      </p:sp>
      <p:sp>
        <p:nvSpPr>
          <p:cNvPr id="16" name="">
            <a:extLst xmlns:a="http://schemas.openxmlformats.org/drawingml/2006/main">
              <a:ext uri="{FF2B5EF4-FFF2-40B4-BE49-F238E27FC236}">
                <a16:creationId xmlns:a16="http://schemas.microsoft.com/office/drawing/2014/main" id="{3E10CC3C-E96C-4F72-85D3-73B428CB337C}"/>
              </a:ext>
            </a:extLst>
          </p:cNvPr>
          <p:cNvSpPr>
            <a:spLocks xmlns:a="http://schemas.openxmlformats.org/drawingml/2006/main" noGrp="1"/>
          </p:cNvSpPr>
          <p:nvPr/>
        </p:nvSpPr>
        <p:spPr>
          <a:xfrm xmlns:a="http://schemas.openxmlformats.org/drawingml/2006/main">
            <a:off x="7762875" y="4457700"/>
            <a:ext cx="3286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A2FCAB-3C22-467A-9D66-31C01E1D4D24}"/>
              </a:ext>
            </a:extLst>
          </p:cNvPr>
          <p:cNvSpPr>
            <a:spLocks xmlns:a="http://schemas.openxmlformats.org/drawingml/2006/main" noGrp="1"/>
          </p:cNvSpPr>
          <p:nvPr/>
        </p:nvSpPr>
        <p:spPr>
          <a:xfrm xmlns:a="http://schemas.openxmlformats.org/drawingml/2006/main">
            <a:off x="7762875" y="47148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8.414 review mô hình hóa</a:t>
            </a:r>
          </a:p>
        </p:txBody>
      </p:sp>
      <p:sp>
        <p:nvSpPr>
          <p:cNvPr id="18" name="">
            <a:extLst xmlns:a="http://schemas.openxmlformats.org/drawingml/2006/main">
              <a:ext uri="{FF2B5EF4-FFF2-40B4-BE49-F238E27FC236}">
                <a16:creationId xmlns:a16="http://schemas.microsoft.com/office/drawing/2014/main" id="{F2B9C8E7-FFE5-4FE5-997D-6BB6A047C8CC}"/>
              </a:ext>
            </a:extLst>
          </p:cNvPr>
          <p:cNvSpPr>
            <a:spLocks xmlns:a="http://schemas.openxmlformats.org/drawingml/2006/main" noGrp="1"/>
          </p:cNvSpPr>
          <p:nvPr/>
        </p:nvSpPr>
        <p:spPr>
          <a:xfrm xmlns:a="http://schemas.openxmlformats.org/drawingml/2006/main">
            <a:off x="7762875" y="509587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Development 6.731  |  Final Test 1.683</a:t>
            </a:r>
          </a:p>
        </p:txBody>
      </p:sp>
      <p:sp>
        <p:nvSpPr>
          <p:cNvPr id="19" name="">
            <a:extLst xmlns:a="http://schemas.openxmlformats.org/drawingml/2006/main">
              <a:ext uri="{FF2B5EF4-FFF2-40B4-BE49-F238E27FC236}">
                <a16:creationId xmlns:a16="http://schemas.microsoft.com/office/drawing/2014/main" id="{A98A9D35-E666-4B42-8BC7-00C69787FF43}"/>
              </a:ext>
            </a:extLst>
          </p:cNvPr>
          <p:cNvSpPr>
            <a:spLocks xmlns:a="http://schemas.openxmlformats.org/drawingml/2006/main" noGrp="1"/>
          </p:cNvSpPr>
          <p:nvPr/>
        </p:nvSpPr>
        <p:spPr>
          <a:xfrm xmlns:a="http://schemas.openxmlformats.org/drawingml/2006/main">
            <a:off x="7762875" y="566737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buNone/>
              <a:defRPr sz="1200" b="0">
                <a:solidFill>
                  <a:srgbClr val="FF9C5A"/>
                </a:solidFill>
                <a:latin typeface="Helvetica Neue"/>
                <a:ea typeface="Helvetica Neue"/>
                <a:cs typeface="Helvetica Neue"/>
              </a:defRPr>
            </a:pPr>
            <a:r>
              <a:rPr sz="1200" b="0">
                <a:solidFill>
                  <a:srgbClr val="FF9C5A"/>
                </a:solidFill>
                <a:latin typeface="Helvetica Neue"/>
                <a:ea typeface="Helvetica Neue"/>
                <a:cs typeface="Helvetica Neue"/>
              </a:rPr>
              <a:t>Stratified split, seed 2026</a:t>
            </a:r>
          </a:p>
        </p:txBody>
      </p:sp>
    </p:spTree>
    <p:extLst>
      <p:ext uri="{BB962C8B-B14F-4D97-AF65-F5344CB8AC3E}">
        <p14:creationId xmlns:p14="http://schemas.microsoft.com/office/powerpoint/2010/main" val="1015209260"/>
      </p:ext>
    </p:extLst>
  </p:cSld>
</p:sld>
</file>

<file path=ppt/slides/slide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06 · MÔ HÌNH</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Năm mô hình dùng cùng một contract TF-IDF</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07 / 18</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MNB</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Naive Bayes</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LR</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6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Logistic Regression</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SVM</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Linear SVM</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RF</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Random Forest</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STK</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Stacking</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SMOTE nằm bên trong từng fold huấn luyện</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Train fold</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4/5 Development</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SMOTE</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Chỉ resample train fold</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Fit model</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78"/>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Học trên dữ liệu cân bằng</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Validate</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41"/>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Giữ nguyên validation fold</a:t>
            </a:r>
          </a:p>
        </p:txBody>
      </p:sp>
      <p:cxnSp>
        <p:nvCxnSpPr>
          <p:cNvPr id="309"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0"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1"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Validation fold không chứa mẫu tổng hợp, nhờ đó điểm CV không bị lạc quan giả tạo.</a:t>
            </a:r>
          </a:p>
        </p:txBody>
      </p:sp>
    </p:spTree>
    <p:extLst>
      <p:ext uri="{BB962C8B-B14F-4D97-AF65-F5344CB8AC3E}">
        <p14:creationId xmlns:p14="http://schemas.microsoft.com/office/powerpoint/2010/main" val="541120587"/>
      </p:ext>
    </p:extLst>
  </p:cSld>
</p:sld>
</file>

<file path=ppt/slides/slide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07 · THƯỚC ĐO</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Chọn theo Accuracy hay Macro F1?</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08 / 18</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DATA</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6.731 review</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CV</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5 folds</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MODEL</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6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Logistic Regression</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NGRAM</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1 / 2 / 1+2</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XỬ LÝ</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279"/>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Không / CW / SMOTE</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Cùng dự đoán, hai thước đo chọn cấu hình</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Unigram + CW</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F1 0,5645</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Bigram + CW</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F1 0,5510</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1+2 · Accuracy</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Acc 0,7705 · F1 0,4702</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1+2 · Macro F1</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F1 0,5839 · Acc 0,7326</a:t>
            </a:r>
          </a:p>
        </p:txBody>
      </p:sp>
      <p:cxnSp>
        <p:nvCxnSpPr>
          <p:cNvPr id="309"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0"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1"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F1 không bật/tắt khi train. Accuracy chọn không cân bằng; Macro F1 chọn class weight. Demo vẫn dùng SMOTE.</a:t>
            </a:r>
          </a:p>
        </p:txBody>
      </p:sp>
    </p:spTree>
    <p:extLst>
      <p:ext uri="{BB962C8B-B14F-4D97-AF65-F5344CB8AC3E}">
        <p14:creationId xmlns:p14="http://schemas.microsoft.com/office/powerpoint/2010/main" val="541120587"/>
      </p:ext>
    </p:extLst>
  </p:cSld>
</p:sld>
</file>

<file path=ppt/slides/slide9.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08 · N-GRAM</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Kết hợp unigram + bigram cho F1 cao hơn</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09 / 18</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U1</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.462/.565/.558</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B2</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.424/.551/.537</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U1+B2</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.470/.584/.582</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MỐC</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Acc .738 · F1 .283</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CV</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6.731 / 5 folds</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Macro F1: không xử lý / class weight / SMOTE</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Unigram</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Từ đơn</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Bigram</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Cụm hai từ</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Kết hợp</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Giữ cả hai loại</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Không văn bản</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Đoán lớp đông</a:t>
            </a:r>
          </a:p>
        </p:txBody>
      </p:sp>
      <p:cxnSp>
        <p:nvCxnSpPr>
          <p:cNvPr id="309"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0"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1"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Ở cả ba cách cân bằng lớp, kết hợp unigram + bigram đều cao hơn từng loại riêng.</a:t>
            </a:r>
          </a:p>
        </p:txBody>
      </p:sp>
    </p:spTree>
    <p:extLst>
      <p:ext uri="{BB962C8B-B14F-4D97-AF65-F5344CB8AC3E}">
        <p14:creationId xmlns:p14="http://schemas.microsoft.com/office/powerpoint/2010/main" val="541120587"/>
      </p:ext>
    </p:extLst>
  </p:cSld>
</p:sld>
</file>

<file path=ppt/slides/slide10.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09 · CÂN BẰNG LỚP</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Class weight tác động khác nhau ở 5 mô hình</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10 / 18</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NB</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00250"/>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767"/>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0,412
N/A
0,560</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LR</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00250"/>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767"/>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0,470
0,584
0,582</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SVM</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00250"/>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767"/>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0,414
0,576
0,582</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RF</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00250"/>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767"/>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0,357
0,533
0,481</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STK</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00250"/>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767"/>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0,567
0,571
0,528</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Macro F1: không xử lý / class weight / SMOTE</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Không xử lý</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Dữ liệu gốc</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Class weight</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LR/RF tăng F1</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SMOTE</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SVM nhỉnh hơn</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Cùng 5 folds</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NB không có CW</a:t>
            </a:r>
          </a:p>
        </p:txBody>
      </p:sp>
      <p:cxnSp>
        <p:nvCxnSpPr>
          <p:cNvPr id="309"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0"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311"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NB: Naive Bayes · LR: Logistic · SVM: Linear SVM · RF: Random Forest · STK: Stacking</a:t>
            </a:r>
          </a:p>
        </p:txBody>
      </p:sp>
    </p:spTree>
    <p:extLst>
      <p:ext uri="{BB962C8B-B14F-4D97-AF65-F5344CB8AC3E}">
        <p14:creationId xmlns:p14="http://schemas.microsoft.com/office/powerpoint/2010/main" val="541120587"/>
      </p:ext>
    </p:extLst>
  </p:cSld>
</p:sld>
</file>

<file path=ppt/slides/slide1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7FA182F-0908-4E57-9A12-4E138083E96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10 · KẾT QUẢ CV</a:t>
            </a:r>
          </a:p>
        </p:txBody>
      </p:sp>
      <p:sp>
        <p:nvSpPr>
          <p:cNvPr id="2" name="">
            <a:extLst xmlns:a="http://schemas.openxmlformats.org/drawingml/2006/main">
              <a:ext uri="{FF2B5EF4-FFF2-40B4-BE49-F238E27FC236}">
                <a16:creationId xmlns:a16="http://schemas.microsoft.com/office/drawing/2014/main" id="{FC5F577A-0EB8-43DA-AD4D-297104511F4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Năm mô hình: Logistic Regression dẫn đầu</a:t>
            </a:r>
          </a:p>
        </p:txBody>
      </p:sp>
      <p:sp>
        <p:nvSpPr>
          <p:cNvPr id="3" name="">
            <a:extLst xmlns:a="http://schemas.openxmlformats.org/drawingml/2006/main">
              <a:ext uri="{FF2B5EF4-FFF2-40B4-BE49-F238E27FC236}">
                <a16:creationId xmlns:a16="http://schemas.microsoft.com/office/drawing/2014/main" id="{ED192AA7-9359-4F1B-AFC4-8DEC23BA39E3}"/>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94A6B5EA-4EFC-4D79-BE18-D343F194D13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11 / 18</a:t>
            </a:r>
          </a:p>
        </p:txBody>
      </p:sp>
      <p:graphicFrame>
        <p:nvGraphicFramePr>
          <p:cNvPr id="25" name="Chart"/>
          <p:cNvGraphicFramePr/>
          <p:nvPr/>
        </p:nvGraphicFramePr>
        <p:xfrm>
          <a:off xmlns:a="http://schemas.openxmlformats.org/drawingml/2006/main" x="609600" y="1600200"/>
          <a:ext xmlns:a="http://schemas.openxmlformats.org/drawingml/2006/main" cx="7239000" cy="4333875"/>
        </p:xfrm>
        <a:graphic xmlns:a="http://schemas.openxmlformats.org/drawingml/2006/main">
          <a:graphicData uri="http://schemas.openxmlformats.org/drawingml/2006/chart">
            <c:chart xmlns:r="http://schemas.openxmlformats.org/officeDocument/2006/relationships" xmlns:c="http://schemas.openxmlformats.org/drawingml/2006/chart" r:id="R381261625f8c4603"/>
          </a:graphicData>
        </a:graphic>
      </p:graphicFrame>
      <p:sp>
        <p:nvSpPr>
          <p:cNvPr id="6" name="">
            <a:extLst xmlns:a="http://schemas.openxmlformats.org/drawingml/2006/main">
              <a:ext uri="{FF2B5EF4-FFF2-40B4-BE49-F238E27FC236}">
                <a16:creationId xmlns:a16="http://schemas.microsoft.com/office/drawing/2014/main" id="{25159D7C-679E-4FDD-840C-87DF4EE99531}"/>
              </a:ext>
            </a:extLst>
          </p:cNvPr>
          <p:cNvSpPr>
            <a:spLocks xmlns:a="http://schemas.openxmlformats.org/drawingml/2006/main" noGrp="1"/>
          </p:cNvSpPr>
          <p:nvPr/>
        </p:nvSpPr>
        <p:spPr>
          <a:xfrm xmlns:a="http://schemas.openxmlformats.org/drawingml/2006/main">
            <a:off x="6667500" y="169545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6AEF6F29-6B7E-46A0-B1F6-6671FA88CEEF}"/>
              </a:ext>
            </a:extLst>
          </p:cNvPr>
          <p:cNvSpPr>
            <a:spLocks xmlns:a="http://schemas.openxmlformats.org/drawingml/2006/main" noGrp="1"/>
          </p:cNvSpPr>
          <p:nvPr/>
        </p:nvSpPr>
        <p:spPr>
          <a:xfrm xmlns:a="http://schemas.openxmlformats.org/drawingml/2006/main">
            <a:off x="8382000" y="1790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KHOẢNG CÁCH TOP 2</a:t>
            </a:r>
          </a:p>
        </p:txBody>
      </p:sp>
      <p:sp>
        <p:nvSpPr>
          <p:cNvPr id="8" name="">
            <a:extLst xmlns:a="http://schemas.openxmlformats.org/drawingml/2006/main">
              <a:ext uri="{FF2B5EF4-FFF2-40B4-BE49-F238E27FC236}">
                <a16:creationId xmlns:a16="http://schemas.microsoft.com/office/drawing/2014/main" id="{B3709D8C-31E9-4693-882A-0BA0F85C1B96}"/>
              </a:ext>
            </a:extLst>
          </p:cNvPr>
          <p:cNvSpPr>
            <a:spLocks xmlns:a="http://schemas.openxmlformats.org/drawingml/2006/main" noGrp="1"/>
          </p:cNvSpPr>
          <p:nvPr/>
        </p:nvSpPr>
        <p:spPr>
          <a:xfrm xmlns:a="http://schemas.openxmlformats.org/drawingml/2006/main">
            <a:off x="8382000" y="20574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0,0003</a:t>
            </a:r>
          </a:p>
        </p:txBody>
      </p:sp>
      <p:sp>
        <p:nvSpPr>
          <p:cNvPr id="9" name="">
            <a:extLst xmlns:a="http://schemas.openxmlformats.org/drawingml/2006/main">
              <a:ext uri="{FF2B5EF4-FFF2-40B4-BE49-F238E27FC236}">
                <a16:creationId xmlns:a16="http://schemas.microsoft.com/office/drawing/2014/main" id="{B3A64D59-B72F-4C58-B689-B3A1D61B9F74}"/>
              </a:ext>
            </a:extLst>
          </p:cNvPr>
          <p:cNvSpPr>
            <a:spLocks xmlns:a="http://schemas.openxmlformats.org/drawingml/2006/main" noGrp="1"/>
          </p:cNvSpPr>
          <p:nvPr/>
        </p:nvSpPr>
        <p:spPr>
          <a:xfrm xmlns:a="http://schemas.openxmlformats.org/drawingml/2006/main">
            <a:off x="8382000" y="28575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Model được triển khai</a:t>
            </a:r>
          </a:p>
        </p:txBody>
      </p:sp>
      <p:sp>
        <p:nvSpPr>
          <p:cNvPr id="10" name="">
            <a:extLst xmlns:a="http://schemas.openxmlformats.org/drawingml/2006/main">
              <a:ext uri="{FF2B5EF4-FFF2-40B4-BE49-F238E27FC236}">
                <a16:creationId xmlns:a16="http://schemas.microsoft.com/office/drawing/2014/main" id="{85B1365E-BC85-4325-BF91-0FB7547333D6}"/>
              </a:ext>
            </a:extLst>
          </p:cNvPr>
          <p:cNvSpPr>
            <a:spLocks xmlns:a="http://schemas.openxmlformats.org/drawingml/2006/main" noGrp="1"/>
          </p:cNvSpPr>
          <p:nvPr/>
        </p:nvSpPr>
        <p:spPr>
          <a:xfrm xmlns:a="http://schemas.openxmlformats.org/drawingml/2006/main">
            <a:off x="8382000" y="34575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045119EA-7A08-4E44-B9C2-800843F30EB7}"/>
              </a:ext>
            </a:extLst>
          </p:cNvPr>
          <p:cNvSpPr>
            <a:spLocks xmlns:a="http://schemas.openxmlformats.org/drawingml/2006/main" noGrp="1"/>
          </p:cNvSpPr>
          <p:nvPr/>
        </p:nvSpPr>
        <p:spPr>
          <a:xfrm xmlns:a="http://schemas.openxmlformats.org/drawingml/2006/main">
            <a:off x="8572500" y="33909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Bảng 5 model ban đầu</a:t>
            </a:r>
          </a:p>
        </p:txBody>
      </p:sp>
      <p:sp>
        <p:nvSpPr>
          <p:cNvPr id="12" name="">
            <a:extLst xmlns:a="http://schemas.openxmlformats.org/drawingml/2006/main">
              <a:ext uri="{FF2B5EF4-FFF2-40B4-BE49-F238E27FC236}">
                <a16:creationId xmlns:a16="http://schemas.microsoft.com/office/drawing/2014/main" id="{73853048-7C0F-4BA1-A6E2-DB24FA9669B7}"/>
              </a:ext>
            </a:extLst>
          </p:cNvPr>
          <p:cNvSpPr>
            <a:spLocks xmlns:a="http://schemas.openxmlformats.org/drawingml/2006/main" noGrp="1"/>
          </p:cNvSpPr>
          <p:nvPr/>
        </p:nvSpPr>
        <p:spPr>
          <a:xfrm xmlns:a="http://schemas.openxmlformats.org/drawingml/2006/main">
            <a:off x="8572500" y="3676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LR đạt 0,5727, hơn SVM 0,0003.</a:t>
            </a:r>
          </a:p>
        </p:txBody>
      </p:sp>
      <p:sp>
        <p:nvSpPr>
          <p:cNvPr id="13" name="">
            <a:extLst xmlns:a="http://schemas.openxmlformats.org/drawingml/2006/main">
              <a:ext uri="{FF2B5EF4-FFF2-40B4-BE49-F238E27FC236}">
                <a16:creationId xmlns:a16="http://schemas.microsoft.com/office/drawing/2014/main" id="{AD30B131-5F26-4921-9207-0BC585453F1D}"/>
              </a:ext>
            </a:extLst>
          </p:cNvPr>
          <p:cNvSpPr>
            <a:spLocks xmlns:a="http://schemas.openxmlformats.org/drawingml/2006/main" noGrp="1"/>
          </p:cNvSpPr>
          <p:nvPr/>
        </p:nvSpPr>
        <p:spPr>
          <a:xfrm xmlns:a="http://schemas.openxmlformats.org/drawingml/2006/main">
            <a:off x="8382000" y="42005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D2BA9D95-CBAD-4225-AACC-3646FCA3E781}"/>
              </a:ext>
            </a:extLst>
          </p:cNvPr>
          <p:cNvSpPr>
            <a:spLocks xmlns:a="http://schemas.openxmlformats.org/drawingml/2006/main" noGrp="1"/>
          </p:cNvSpPr>
          <p:nvPr/>
        </p:nvSpPr>
        <p:spPr>
          <a:xfrm xmlns:a="http://schemas.openxmlformats.org/drawingml/2006/main">
            <a:off x="8572500" y="41338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Sau sửa tiền xử lý</a:t>
            </a:r>
          </a:p>
        </p:txBody>
      </p:sp>
      <p:sp>
        <p:nvSpPr>
          <p:cNvPr id="15" name="">
            <a:extLst xmlns:a="http://schemas.openxmlformats.org/drawingml/2006/main">
              <a:ext uri="{FF2B5EF4-FFF2-40B4-BE49-F238E27FC236}">
                <a16:creationId xmlns:a16="http://schemas.microsoft.com/office/drawing/2014/main" id="{E9E476FC-A918-4088-9EEA-28D8518C4DC0}"/>
              </a:ext>
            </a:extLst>
          </p:cNvPr>
          <p:cNvSpPr>
            <a:spLocks xmlns:a="http://schemas.openxmlformats.org/drawingml/2006/main" noGrp="1"/>
          </p:cNvSpPr>
          <p:nvPr/>
        </p:nvSpPr>
        <p:spPr>
          <a:xfrm xmlns:a="http://schemas.openxmlformats.org/drawingml/2006/main">
            <a:off x="8572500" y="44196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CV riêng tăng từ 0,5708 lên 0,5815.</a:t>
            </a:r>
          </a:p>
        </p:txBody>
      </p:sp>
      <p:sp>
        <p:nvSpPr>
          <p:cNvPr id="16" name="">
            <a:extLst xmlns:a="http://schemas.openxmlformats.org/drawingml/2006/main">
              <a:ext uri="{FF2B5EF4-FFF2-40B4-BE49-F238E27FC236}">
                <a16:creationId xmlns:a16="http://schemas.microsoft.com/office/drawing/2014/main" id="{A841091B-5F41-4D98-94C1-F710AB82D3CB}"/>
              </a:ext>
            </a:extLst>
          </p:cNvPr>
          <p:cNvSpPr>
            <a:spLocks xmlns:a="http://schemas.openxmlformats.org/drawingml/2006/main" noGrp="1"/>
          </p:cNvSpPr>
          <p:nvPr/>
        </p:nvSpPr>
        <p:spPr>
          <a:xfrm xmlns:a="http://schemas.openxmlformats.org/drawingml/2006/main">
            <a:off x="8382000" y="49434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D3C93D9D-7501-46F9-8B6E-98BB4A1EC992}"/>
              </a:ext>
            </a:extLst>
          </p:cNvPr>
          <p:cNvSpPr>
            <a:spLocks xmlns:a="http://schemas.openxmlformats.org/drawingml/2006/main" noGrp="1"/>
          </p:cNvSpPr>
          <p:nvPr/>
        </p:nvSpPr>
        <p:spPr>
          <a:xfrm xmlns:a="http://schemas.openxmlformats.org/drawingml/2006/main">
            <a:off x="8572500" y="48768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Giữ đúng phạm vi so sánh</a:t>
            </a:r>
          </a:p>
        </p:txBody>
      </p:sp>
      <p:sp>
        <p:nvSpPr>
          <p:cNvPr id="18" name="">
            <a:extLst xmlns:a="http://schemas.openxmlformats.org/drawingml/2006/main">
              <a:ext uri="{FF2B5EF4-FFF2-40B4-BE49-F238E27FC236}">
                <a16:creationId xmlns:a16="http://schemas.microsoft.com/office/drawing/2014/main" id="{CD912C63-3E14-4BB0-9F1F-D760D2B6EC89}"/>
              </a:ext>
            </a:extLst>
          </p:cNvPr>
          <p:cNvSpPr>
            <a:spLocks xmlns:a="http://schemas.openxmlformats.org/drawingml/2006/main" noGrp="1"/>
          </p:cNvSpPr>
          <p:nvPr/>
        </p:nvSpPr>
        <p:spPr>
          <a:xfrm xmlns:a="http://schemas.openxmlformats.org/drawingml/2006/main">
            <a:off x="8572500" y="51625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Chưa xếp hạng lại bốn model còn lại.</a:t>
            </a:r>
          </a:p>
        </p:txBody>
      </p:sp>
    </p:spTree>
    <p:extLst>
      <p:ext uri="{BB962C8B-B14F-4D97-AF65-F5344CB8AC3E}">
        <p14:creationId xmlns:p14="http://schemas.microsoft.com/office/powerpoint/2010/main" val="2097818050"/>
      </p:ext>
    </p:extLst>
  </p:cSld>
</p:sld>
</file>

<file path=ppt/slides/slide1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4AC10B-E169-41CA-9D4C-0EF70830521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11 · FINAL TEST</a:t>
            </a:r>
          </a:p>
        </p:txBody>
      </p:sp>
      <p:sp>
        <p:nvSpPr>
          <p:cNvPr id="2" name="">
            <a:extLst xmlns:a="http://schemas.openxmlformats.org/drawingml/2006/main">
              <a:ext uri="{FF2B5EF4-FFF2-40B4-BE49-F238E27FC236}">
                <a16:creationId xmlns:a16="http://schemas.microsoft.com/office/drawing/2014/main" id="{27A5831D-8958-4B2E-ADE9-058DEC7D187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cải thiện nhẹ, nhưng lớp Negative vẫn khó</a:t>
            </a:r>
          </a:p>
        </p:txBody>
      </p:sp>
      <p:sp>
        <p:nvSpPr>
          <p:cNvPr id="3" name="">
            <a:extLst xmlns:a="http://schemas.openxmlformats.org/drawingml/2006/main">
              <a:ext uri="{FF2B5EF4-FFF2-40B4-BE49-F238E27FC236}">
                <a16:creationId xmlns:a16="http://schemas.microsoft.com/office/drawing/2014/main" id="{0C714709-191A-4638-AA48-C92C464D693A}"/>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F30C47E1-734D-4E2D-B991-3F83B02C4494}"/>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12 / 18</a:t>
            </a:r>
          </a:p>
        </p:txBody>
      </p:sp>
      <p:sp>
        <p:nvSpPr>
          <p:cNvPr id="5" name="">
            <a:extLst xmlns:a="http://schemas.openxmlformats.org/drawingml/2006/main">
              <a:ext uri="{FF2B5EF4-FFF2-40B4-BE49-F238E27FC236}">
                <a16:creationId xmlns:a16="http://schemas.microsoft.com/office/drawing/2014/main" id="{FD938610-E682-4E14-8B64-0900B9B6B3E4}"/>
              </a:ext>
            </a:extLst>
          </p:cNvPr>
          <p:cNvSpPr>
            <a:spLocks xmlns:a="http://schemas.openxmlformats.org/drawingml/2006/main" noGrp="1"/>
          </p:cNvSpPr>
          <p:nvPr/>
        </p:nvSpPr>
        <p:spPr>
          <a:xfrm xmlns:a="http://schemas.openxmlformats.org/drawingml/2006/main">
            <a:off x="6096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ACCURACY</a:t>
            </a:r>
          </a:p>
        </p:txBody>
      </p:sp>
      <p:sp>
        <p:nvSpPr>
          <p:cNvPr id="6" name="">
            <a:extLst xmlns:a="http://schemas.openxmlformats.org/drawingml/2006/main">
              <a:ext uri="{FF2B5EF4-FFF2-40B4-BE49-F238E27FC236}">
                <a16:creationId xmlns:a16="http://schemas.microsoft.com/office/drawing/2014/main" id="{2806F412-1E60-482E-86FA-80315A2F7507}"/>
              </a:ext>
            </a:extLst>
          </p:cNvPr>
          <p:cNvSpPr>
            <a:spLocks xmlns:a="http://schemas.openxmlformats.org/drawingml/2006/main" noGrp="1"/>
          </p:cNvSpPr>
          <p:nvPr/>
        </p:nvSpPr>
        <p:spPr>
          <a:xfrm xmlns:a="http://schemas.openxmlformats.org/drawingml/2006/main">
            <a:off x="6096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74,33%</a:t>
            </a:r>
          </a:p>
        </p:txBody>
      </p:sp>
      <p:sp>
        <p:nvSpPr>
          <p:cNvPr id="7" name="">
            <a:extLst xmlns:a="http://schemas.openxmlformats.org/drawingml/2006/main">
              <a:ext uri="{FF2B5EF4-FFF2-40B4-BE49-F238E27FC236}">
                <a16:creationId xmlns:a16="http://schemas.microsoft.com/office/drawing/2014/main" id="{11014145-A71D-492A-A984-6C7EEC21F4BA}"/>
              </a:ext>
            </a:extLst>
          </p:cNvPr>
          <p:cNvSpPr>
            <a:spLocks xmlns:a="http://schemas.openxmlformats.org/drawingml/2006/main" noGrp="1"/>
          </p:cNvSpPr>
          <p:nvPr/>
        </p:nvSpPr>
        <p:spPr>
          <a:xfrm xmlns:a="http://schemas.openxmlformats.org/drawingml/2006/main">
            <a:off x="31432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MACRO F1</a:t>
            </a:r>
          </a:p>
        </p:txBody>
      </p:sp>
      <p:sp>
        <p:nvSpPr>
          <p:cNvPr id="8" name="">
            <a:extLst xmlns:a="http://schemas.openxmlformats.org/drawingml/2006/main">
              <a:ext uri="{FF2B5EF4-FFF2-40B4-BE49-F238E27FC236}">
                <a16:creationId xmlns:a16="http://schemas.microsoft.com/office/drawing/2014/main" id="{86973245-40BB-4CD4-9920-A59097B71EA1}"/>
              </a:ext>
            </a:extLst>
          </p:cNvPr>
          <p:cNvSpPr>
            <a:spLocks xmlns:a="http://schemas.openxmlformats.org/drawingml/2006/main" noGrp="1"/>
          </p:cNvSpPr>
          <p:nvPr/>
        </p:nvSpPr>
        <p:spPr>
          <a:xfrm xmlns:a="http://schemas.openxmlformats.org/drawingml/2006/main">
            <a:off x="314325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0,5764</a:t>
            </a:r>
          </a:p>
        </p:txBody>
      </p:sp>
      <p:sp>
        <p:nvSpPr>
          <p:cNvPr id="9" name="">
            <a:extLst xmlns:a="http://schemas.openxmlformats.org/drawingml/2006/main">
              <a:ext uri="{FF2B5EF4-FFF2-40B4-BE49-F238E27FC236}">
                <a16:creationId xmlns:a16="http://schemas.microsoft.com/office/drawing/2014/main" id="{385B744C-40D1-403E-8D58-32D7016172E8}"/>
              </a:ext>
            </a:extLst>
          </p:cNvPr>
          <p:cNvSpPr>
            <a:spLocks xmlns:a="http://schemas.openxmlformats.org/drawingml/2006/main" noGrp="1"/>
          </p:cNvSpPr>
          <p:nvPr/>
        </p:nvSpPr>
        <p:spPr>
          <a:xfrm xmlns:a="http://schemas.openxmlformats.org/drawingml/2006/main">
            <a:off x="56769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WEIGHTED F1</a:t>
            </a:r>
          </a:p>
        </p:txBody>
      </p:sp>
      <p:sp>
        <p:nvSpPr>
          <p:cNvPr id="10" name="">
            <a:extLst xmlns:a="http://schemas.openxmlformats.org/drawingml/2006/main">
              <a:ext uri="{FF2B5EF4-FFF2-40B4-BE49-F238E27FC236}">
                <a16:creationId xmlns:a16="http://schemas.microsoft.com/office/drawing/2014/main" id="{3D44F531-BB01-4AC6-A0D6-6A2D57F6E8D2}"/>
              </a:ext>
            </a:extLst>
          </p:cNvPr>
          <p:cNvSpPr>
            <a:spLocks xmlns:a="http://schemas.openxmlformats.org/drawingml/2006/main" noGrp="1"/>
          </p:cNvSpPr>
          <p:nvPr/>
        </p:nvSpPr>
        <p:spPr>
          <a:xfrm xmlns:a="http://schemas.openxmlformats.org/drawingml/2006/main">
            <a:off x="56769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0,7540</a:t>
            </a:r>
          </a:p>
        </p:txBody>
      </p:sp>
      <p:sp>
        <p:nvSpPr>
          <p:cNvPr id="11" name="">
            <a:extLst xmlns:a="http://schemas.openxmlformats.org/drawingml/2006/main">
              <a:ext uri="{FF2B5EF4-FFF2-40B4-BE49-F238E27FC236}">
                <a16:creationId xmlns:a16="http://schemas.microsoft.com/office/drawing/2014/main" id="{78B347D5-31AB-4F7C-9D2F-56F268F9A006}"/>
              </a:ext>
            </a:extLst>
          </p:cNvPr>
          <p:cNvSpPr>
            <a:spLocks xmlns:a="http://schemas.openxmlformats.org/drawingml/2006/main" noGrp="1"/>
          </p:cNvSpPr>
          <p:nvPr/>
        </p:nvSpPr>
        <p:spPr>
          <a:xfrm xmlns:a="http://schemas.openxmlformats.org/drawingml/2006/main">
            <a:off x="82105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SAI</a:t>
            </a:r>
          </a:p>
        </p:txBody>
      </p:sp>
      <p:sp>
        <p:nvSpPr>
          <p:cNvPr id="12" name="">
            <a:extLst xmlns:a="http://schemas.openxmlformats.org/drawingml/2006/main">
              <a:ext uri="{FF2B5EF4-FFF2-40B4-BE49-F238E27FC236}">
                <a16:creationId xmlns:a16="http://schemas.microsoft.com/office/drawing/2014/main" id="{A4E5E532-32A8-4981-A2C3-4EAABBDAD2E6}"/>
              </a:ext>
            </a:extLst>
          </p:cNvPr>
          <p:cNvSpPr>
            <a:spLocks xmlns:a="http://schemas.openxmlformats.org/drawingml/2006/main" noGrp="1"/>
          </p:cNvSpPr>
          <p:nvPr/>
        </p:nvSpPr>
        <p:spPr>
          <a:xfrm xmlns:a="http://schemas.openxmlformats.org/drawingml/2006/main">
            <a:off x="8210550" y="1838325"/>
            <a:ext cx="23812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200" b="1">
                <a:solidFill>
                  <a:srgbClr val="F4F7FB"/>
                </a:solidFill>
                <a:latin typeface="Helvetica Neue"/>
                <a:ea typeface="Helvetica Neue"/>
                <a:cs typeface="Helvetica Neue"/>
              </a:rPr>
              <a:t>432 / 1.683</a:t>
            </a:r>
          </a:p>
          <a:p xmlns:a="http://schemas.openxmlformats.org/drawingml/2006/main">
            <a:pPr algn="l">
              <a:buNone/>
            </a:pPr>
            <a:r>
              <a:rPr sz="1100" b="1">
                <a:solidFill>
                  <a:srgbClr val="50E3A4"/>
                </a:solidFill>
                <a:latin typeface="Helvetica Neue"/>
                <a:ea typeface="Helvetica Neue"/>
                <a:cs typeface="Helvetica Neue"/>
              </a:rPr>
              <a:t>(Bản cũ: 442 → Giảm 10 mẫu)</a:t>
            </a:r>
          </a:p>
        </p:txBody>
      </p:sp>
      <p:graphicFrame>
        <p:nvGraphicFramePr>
          <p:cNvPr id="49" name=""/>
          <p:cNvGraphicFramePr/>
          <p:nvPr/>
        </p:nvGraphicFramePr>
        <p:xfrm>
          <a:off xmlns:a="http://schemas.openxmlformats.org/drawingml/2006/main" x="609600" y="2667000"/>
          <a:ext xmlns:a="http://schemas.openxmlformats.org/drawingml/2006/main" cx="6191250" cy="2714625"/>
        </p:xfrm>
        <a:graphic xmlns:a="http://schemas.openxmlformats.org/drawingml/2006/main">
          <a:graphicData uri="http://schemas.openxmlformats.org/drawingml/2006/table">
            <a:tbl>
              <a:tblPr/>
              <a:tblGrid>
                <a:gridCol w="1547813"/>
                <a:gridCol w="1547813"/>
                <a:gridCol w="1547813"/>
                <a:gridCol w="1547813"/>
              </a:tblGrid>
              <a:tr h="678656">
                <a:tc>
                  <a:txBody>
                    <a:bodyPr/>
                    <a:lstStyle/>
                    <a:p>
                      <a:r>
                        <a:rPr sz="1200" b="1">
                          <a:solidFill>
                            <a:srgbClr val="F4F7FB"/>
                          </a:solidFill>
                          <a:latin typeface="Helvetica Neue"/>
                          <a:ea typeface="Helvetica Neue"/>
                          <a:cs typeface="Helvetica Neue"/>
                        </a:rPr>
                        <a:t>Thực tế / Dự đoán</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r>
              <a:tr h="678656">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pPr algn="ctr">
                        <a:buNone/>
                      </a:pPr>
                      <a:r>
                        <a:rPr sz="1300" b="1">
                          <a:latin typeface="Helvetica Neue"/>
                          <a:ea typeface="Helvetica Neue"/>
                          <a:cs typeface="Helvetica Neue"/>
                        </a:rPr>
                        <a:t>52 (45,6%)</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41</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21</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56</a:t>
                      </a:r>
                    </a:p>
                  </a:txBody>
                  <a:tcPr marL="91440" marR="91440" marT="45720" marB="45720">
                    <a:solidFill>
                      <a:srgbClr val="121A26"/>
                    </a:solidFill>
                  </a:tcPr>
                </a:tc>
                <a:tc>
                  <a:txBody>
                    <a:bodyPr/>
                    <a:lstStyle/>
                    <a:p>
                      <a:pPr algn="ctr">
                        <a:buNone/>
                      </a:pPr>
                      <a:r>
                        <a:rPr sz="1300" b="1">
                          <a:latin typeface="Helvetica Neue"/>
                          <a:ea typeface="Helvetica Neue"/>
                          <a:cs typeface="Helvetica Neue"/>
                        </a:rPr>
                        <a:t>168 (51,2%)</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104</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44</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166</a:t>
                      </a:r>
                    </a:p>
                  </a:txBody>
                  <a:tcPr marL="91440" marR="91440" marT="45720" marB="45720">
                    <a:solidFill>
                      <a:srgbClr val="121A26"/>
                    </a:solidFill>
                  </a:tcPr>
                </a:tc>
                <a:tc>
                  <a:txBody>
                    <a:bodyPr/>
                    <a:lstStyle/>
                    <a:p>
                      <a:pPr algn="ctr">
                        <a:buNone/>
                      </a:pPr>
                      <a:r>
                        <a:rPr sz="1300" b="1">
                          <a:latin typeface="Helvetica Neue"/>
                          <a:ea typeface="Helvetica Neue"/>
                          <a:cs typeface="Helvetica Neue"/>
                        </a:rPr>
                        <a:t>1.031 (83,1%)</a:t>
                      </a:r>
                    </a:p>
                  </a:txBody>
                  <a:tcPr marL="91440" marR="91440" marT="45720" marB="45720">
                    <a:solidFill>
                      <a:srgbClr val="164F3D"/>
                    </a:solidFill>
                  </a:tcPr>
                </a:tc>
              </a:tr>
            </a:tbl>
          </a:graphicData>
        </a:graphic>
      </p:graphicFrame>
      <p:graphicFrame>
        <p:nvGraphicFramePr>
          <p:cNvPr id="50" name="Chart"/>
          <p:cNvGraphicFramePr/>
          <p:nvPr/>
        </p:nvGraphicFramePr>
        <p:xfrm>
          <a:off xmlns:a="http://schemas.openxmlformats.org/drawingml/2006/main" x="7239000" y="2724150"/>
          <a:ext xmlns:a="http://schemas.openxmlformats.org/drawingml/2006/main" cx="4000500" cy="2571750"/>
        </p:xfrm>
        <a:graphic xmlns:a="http://schemas.openxmlformats.org/drawingml/2006/main">
          <a:graphicData uri="http://schemas.openxmlformats.org/drawingml/2006/chart">
            <c:chart xmlns:r="http://schemas.openxmlformats.org/officeDocument/2006/relationships" xmlns:c="http://schemas.openxmlformats.org/drawingml/2006/chart" r:id="R4259ff5d5b994d17"/>
          </a:graphicData>
        </a:graphic>
      </p:graphicFrame>
      <p:sp>
        <p:nvSpPr>
          <p:cNvPr id="15" name="">
            <a:extLst xmlns:a="http://schemas.openxmlformats.org/drawingml/2006/main">
              <a:ext uri="{FF2B5EF4-FFF2-40B4-BE49-F238E27FC236}">
                <a16:creationId xmlns:a16="http://schemas.microsoft.com/office/drawing/2014/main" id="{4BF0AAAB-C9DB-4E2A-83FB-F3AD0B18FDB9}"/>
              </a:ext>
            </a:extLst>
          </p:cNvPr>
          <p:cNvSpPr>
            <a:spLocks xmlns:a="http://schemas.openxmlformats.org/drawingml/2006/main" noGrp="1"/>
          </p:cNvSpPr>
          <p:nvPr/>
        </p:nvSpPr>
        <p:spPr>
          <a:xfrm xmlns:a="http://schemas.openxmlformats.org/drawingml/2006/main">
            <a:off x="9667875" y="280035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F1 THEO LỚP (%)</a:t>
            </a:r>
          </a:p>
        </p:txBody>
      </p:sp>
      <p:sp>
        <p:nvSpPr>
          <p:cNvPr id="16" name="">
            <a:extLst xmlns:a="http://schemas.openxmlformats.org/drawingml/2006/main">
              <a:ext uri="{FF2B5EF4-FFF2-40B4-BE49-F238E27FC236}">
                <a16:creationId xmlns:a16="http://schemas.microsoft.com/office/drawing/2014/main" id="{91FAC28A-838F-4A38-B13F-9F28E6AE29EC}"/>
              </a:ext>
            </a:extLst>
          </p:cNvPr>
          <p:cNvSpPr>
            <a:spLocks xmlns:a="http://schemas.openxmlformats.org/drawingml/2006/main" noGrp="1"/>
          </p:cNvSpPr>
          <p:nvPr/>
        </p:nvSpPr>
        <p:spPr>
          <a:xfrm xmlns:a="http://schemas.openxmlformats.org/drawingml/2006/main">
            <a:off x="609600" y="5734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FF9C5A"/>
                </a:solidFill>
                <a:latin typeface="Helvetica Neue"/>
                <a:ea typeface="Helvetica Neue"/>
                <a:cs typeface="Helvetica Neue"/>
              </a:defRPr>
            </a:pPr>
            <a:r>
              <a:rPr sz="1425" b="0">
                <a:solidFill>
                  <a:srgbClr val="FF9C5A"/>
                </a:solidFill>
                <a:latin typeface="Helvetica Neue"/>
                <a:ea typeface="Helvetica Neue"/>
                <a:cs typeface="Helvetica Neue"/>
              </a:rPr>
              <a:t>Đánh giá trên cùng tập Final Test chuẩn (1.683 mẫu) để bảo đảm tính đối chứng công bằng giữa hai phiên bản.</a:t>
            </a:r>
          </a:p>
        </p:txBody>
      </p:sp>
      <p:sp>
        <p:nvSpPr>
          <p:cNvPr id="34" name="Rounded Rectangle 33">
            <a:extLst xmlns:a="http://schemas.openxmlformats.org/drawingml/2006/main">
              <a:ext uri="{FF2B5EF4-FFF2-40B4-BE49-F238E27FC236}">
                <a16:creationId xmlns:a16="http://schemas.microsoft.com/office/drawing/2014/main" id="{9D2DFA3B-6B5F-4A31-ABCD-E8D09A5BD22C}"/>
              </a:ext>
            </a:extLst>
          </p:cNvPr>
          <p:cNvSpPr>
            <a:spLocks xmlns:a="http://schemas.openxmlformats.org/drawingml/2006/main" noGrp="1"/>
          </p:cNvSpPr>
          <p:nvPr/>
        </p:nvSpPr>
        <p:spPr>
          <a:xfrm xmlns:a="http://schemas.openxmlformats.org/drawingml/2006/main">
            <a:off x="7242048" y="5321808"/>
            <a:ext cx="4005072" cy="347472"/>
          </a:xfrm>
          <a:prstGeom xmlns:a="http://schemas.openxmlformats.org/drawingml/2006/main" prst="roundRect">
            <a:avLst>
              <a:gd name="adj" fmla="val 20000"/>
            </a:avLst>
          </a:prstGeom>
          <a:solidFill xmlns:a="http://schemas.openxmlformats.org/drawingml/2006/main">
            <a:srgbClr val="1B2433"/>
          </a:solidFill>
          <a:ln xmlns:a="http://schemas.openxmlformats.org/drawingml/2006/main" w="12700">
            <a:solidFill>
              <a:srgbClr val="FF667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buNone/>
            </a:pPr>
            <a:r>
              <a:rPr sz="1100" b="1">
                <a:solidFill>
                  <a:srgbClr val="FF6677"/>
                </a:solidFill>
                <a:latin typeface="Helvetica Neue"/>
                <a:ea typeface="Helvetica Neue"/>
                <a:cs typeface="Helvetica Neue"/>
              </a:rPr>
              <a:t>⚠️ Recall Negative: 45,6% (đoán đúng 52 / 114 mẫu)</a:t>
            </a:r>
          </a:p>
        </p:txBody>
      </p:sp>
    </p:spTree>
    <p:extLst>
      <p:ext uri="{BB962C8B-B14F-4D97-AF65-F5344CB8AC3E}">
        <p14:creationId xmlns:p14="http://schemas.microsoft.com/office/powerpoint/2010/main" val="1871774820"/>
      </p:ext>
    </p:extLst>
  </p:cSld>
</p:sld>
</file>

<file path=ppt/slides/slide1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01B90D-CE70-4FF6-99CC-9A92CDF4184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12 · ERROR ANALYSIS</a:t>
            </a:r>
          </a:p>
        </p:txBody>
      </p:sp>
      <p:sp>
        <p:nvSpPr>
          <p:cNvPr id="2" name="">
            <a:extLst xmlns:a="http://schemas.openxmlformats.org/drawingml/2006/main">
              <a:ext uri="{FF2B5EF4-FFF2-40B4-BE49-F238E27FC236}">
                <a16:creationId xmlns:a16="http://schemas.microsoft.com/office/drawing/2014/main" id="{5D7AEDFD-6BA8-43C8-AAB3-7A84AEAA352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15 lỗi bản gốc cho thấy ba dạng khó</a:t>
            </a:r>
          </a:p>
        </p:txBody>
      </p:sp>
      <p:sp>
        <p:nvSpPr>
          <p:cNvPr id="3" name="">
            <a:extLst xmlns:a="http://schemas.openxmlformats.org/drawingml/2006/main">
              <a:ext uri="{FF2B5EF4-FFF2-40B4-BE49-F238E27FC236}">
                <a16:creationId xmlns:a16="http://schemas.microsoft.com/office/drawing/2014/main" id="{3CE0BE42-6334-4604-BD0A-D595A888CCC5}"/>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C7CCDA19-AEA8-4352-AF66-CAD2BE27067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13 / 18</a:t>
            </a:r>
          </a:p>
        </p:txBody>
      </p:sp>
      <p:sp>
        <p:nvSpPr>
          <p:cNvPr id="5" name="">
            <a:extLst xmlns:a="http://schemas.openxmlformats.org/drawingml/2006/main">
              <a:ext uri="{FF2B5EF4-FFF2-40B4-BE49-F238E27FC236}">
                <a16:creationId xmlns:a16="http://schemas.microsoft.com/office/drawing/2014/main" id="{8217A969-F1C0-4741-BE23-4CC3BC44A94F}"/>
              </a:ext>
            </a:extLst>
          </p:cNvPr>
          <p:cNvSpPr>
            <a:spLocks xmlns:a="http://schemas.openxmlformats.org/drawingml/2006/main" noGrp="1"/>
          </p:cNvSpPr>
          <p:nvPr/>
        </p:nvSpPr>
        <p:spPr>
          <a:xfrm xmlns:a="http://schemas.openxmlformats.org/drawingml/2006/main">
            <a:off x="609600" y="1790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DỰ ĐOÁN SAI</a:t>
            </a:r>
          </a:p>
        </p:txBody>
      </p:sp>
      <p:sp>
        <p:nvSpPr>
          <p:cNvPr id="6" name="">
            <a:extLst xmlns:a="http://schemas.openxmlformats.org/drawingml/2006/main">
              <a:ext uri="{FF2B5EF4-FFF2-40B4-BE49-F238E27FC236}">
                <a16:creationId xmlns:a16="http://schemas.microsoft.com/office/drawing/2014/main" id="{C343D3D1-8742-4F87-9A91-75F60A797052}"/>
              </a:ext>
            </a:extLst>
          </p:cNvPr>
          <p:cNvSpPr>
            <a:spLocks xmlns:a="http://schemas.openxmlformats.org/drawingml/2006/main" noGrp="1"/>
          </p:cNvSpPr>
          <p:nvPr/>
        </p:nvSpPr>
        <p:spPr>
          <a:xfrm xmlns:a="http://schemas.openxmlformats.org/drawingml/2006/main">
            <a:off x="609600" y="20574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442</a:t>
            </a:r>
          </a:p>
        </p:txBody>
      </p:sp>
      <p:sp>
        <p:nvSpPr>
          <p:cNvPr id="7" name="">
            <a:extLst xmlns:a="http://schemas.openxmlformats.org/drawingml/2006/main">
              <a:ext uri="{FF2B5EF4-FFF2-40B4-BE49-F238E27FC236}">
                <a16:creationId xmlns:a16="http://schemas.microsoft.com/office/drawing/2014/main" id="{7D8548FE-B9F2-4C9F-A14F-C5BE4050D5FF}"/>
              </a:ext>
            </a:extLst>
          </p:cNvPr>
          <p:cNvSpPr>
            <a:spLocks xmlns:a="http://schemas.openxmlformats.org/drawingml/2006/main" noGrp="1"/>
          </p:cNvSpPr>
          <p:nvPr/>
        </p:nvSpPr>
        <p:spPr>
          <a:xfrm xmlns:a="http://schemas.openxmlformats.org/drawingml/2006/main">
            <a:off x="609600" y="271462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26,3% của Final Test</a:t>
            </a:r>
          </a:p>
        </p:txBody>
      </p:sp>
      <p:sp>
        <p:nvSpPr>
          <p:cNvPr id="8" name="">
            <a:extLst xmlns:a="http://schemas.openxmlformats.org/drawingml/2006/main">
              <a:ext uri="{FF2B5EF4-FFF2-40B4-BE49-F238E27FC236}">
                <a16:creationId xmlns:a16="http://schemas.microsoft.com/office/drawing/2014/main" id="{B6F091F8-93D4-49BF-A31A-5FF945230D5D}"/>
              </a:ext>
            </a:extLst>
          </p:cNvPr>
          <p:cNvSpPr>
            <a:spLocks xmlns:a="http://schemas.openxmlformats.org/drawingml/2006/main" noGrp="1"/>
          </p:cNvSpPr>
          <p:nvPr/>
        </p:nvSpPr>
        <p:spPr>
          <a:xfrm xmlns:a="http://schemas.openxmlformats.org/drawingml/2006/main">
            <a:off x="609600" y="3276600"/>
            <a:ext cx="271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15 lỗi có độ tin cậy cao nhất được đọc và phân loại thủ công.</a:t>
            </a:r>
          </a:p>
        </p:txBody>
      </p:sp>
      <p:sp>
        <p:nvSpPr>
          <p:cNvPr id="9" name="">
            <a:extLst xmlns:a="http://schemas.openxmlformats.org/drawingml/2006/main">
              <a:ext uri="{FF2B5EF4-FFF2-40B4-BE49-F238E27FC236}">
                <a16:creationId xmlns:a16="http://schemas.microsoft.com/office/drawing/2014/main" id="{76C6E72B-3FF8-4B7F-B441-8A2AB4D46561}"/>
              </a:ext>
            </a:extLst>
          </p:cNvPr>
          <p:cNvSpPr>
            <a:spLocks xmlns:a="http://schemas.openxmlformats.org/drawingml/2006/main" noGrp="1"/>
          </p:cNvSpPr>
          <p:nvPr/>
        </p:nvSpPr>
        <p:spPr>
          <a:xfrm xmlns:a="http://schemas.openxmlformats.org/drawingml/2006/main">
            <a:off x="4000500" y="171450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D35E"/>
                </a:solidFill>
                <a:latin typeface="Helvetica Neue"/>
                <a:ea typeface="Helvetica Neue"/>
                <a:cs typeface="Helvetica Neue"/>
              </a:defRPr>
            </a:pPr>
            <a:r>
              <a:rPr sz="2250" b="1">
                <a:solidFill>
                  <a:srgbClr val="F4D35E"/>
                </a:solidFill>
                <a:latin typeface="Helvetica Neue"/>
                <a:ea typeface="Helvetica Neue"/>
                <a:cs typeface="Helvetica Neue"/>
              </a:rPr>
              <a:t>10 / 15</a:t>
            </a:r>
          </a:p>
        </p:txBody>
      </p:sp>
      <p:sp>
        <p:nvSpPr>
          <p:cNvPr id="10" name="">
            <a:extLst xmlns:a="http://schemas.openxmlformats.org/drawingml/2006/main">
              <a:ext uri="{FF2B5EF4-FFF2-40B4-BE49-F238E27FC236}">
                <a16:creationId xmlns:a16="http://schemas.microsoft.com/office/drawing/2014/main" id="{D8C9A45C-3656-4FFA-877F-4EBA9E136D62}"/>
              </a:ext>
            </a:extLst>
          </p:cNvPr>
          <p:cNvSpPr>
            <a:spLocks xmlns:a="http://schemas.openxmlformats.org/drawingml/2006/main" noGrp="1"/>
          </p:cNvSpPr>
          <p:nvPr/>
        </p:nvSpPr>
        <p:spPr>
          <a:xfrm xmlns:a="http://schemas.openxmlformats.org/drawingml/2006/main">
            <a:off x="5572125" y="1714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Cảm xúc đan xen</a:t>
            </a:r>
          </a:p>
        </p:txBody>
      </p:sp>
      <p:sp>
        <p:nvSpPr>
          <p:cNvPr id="11" name="">
            <a:extLst xmlns:a="http://schemas.openxmlformats.org/drawingml/2006/main">
              <a:ext uri="{FF2B5EF4-FFF2-40B4-BE49-F238E27FC236}">
                <a16:creationId xmlns:a16="http://schemas.microsoft.com/office/drawing/2014/main" id="{186FDBAD-983F-48A7-82A5-0F9CA6413159}"/>
              </a:ext>
            </a:extLst>
          </p:cNvPr>
          <p:cNvSpPr>
            <a:spLocks xmlns:a="http://schemas.openxmlformats.org/drawingml/2006/main" noGrp="1"/>
          </p:cNvSpPr>
          <p:nvPr/>
        </p:nvSpPr>
        <p:spPr>
          <a:xfrm xmlns:a="http://schemas.openxmlformats.org/drawingml/2006/main">
            <a:off x="5572125" y="21717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Một review vừa khen vừa chê, nên khó gói vào một nhãn duy nhất.</a:t>
            </a:r>
          </a:p>
        </p:txBody>
      </p:sp>
      <p:sp>
        <p:nvSpPr>
          <p:cNvPr id="12" name="">
            <a:extLst xmlns:a="http://schemas.openxmlformats.org/drawingml/2006/main">
              <a:ext uri="{FF2B5EF4-FFF2-40B4-BE49-F238E27FC236}">
                <a16:creationId xmlns:a16="http://schemas.microsoft.com/office/drawing/2014/main" id="{7D28B244-98C9-41AD-9BC0-189A128A7F26}"/>
              </a:ext>
            </a:extLst>
          </p:cNvPr>
          <p:cNvSpPr>
            <a:spLocks xmlns:a="http://schemas.openxmlformats.org/drawingml/2006/main" noGrp="1"/>
          </p:cNvSpPr>
          <p:nvPr/>
        </p:nvSpPr>
        <p:spPr>
          <a:xfrm xmlns:a="http://schemas.openxmlformats.org/drawingml/2006/main">
            <a:off x="4000500" y="2895600"/>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7DE91539-68C4-4ED7-921C-4B33E5D97395}"/>
              </a:ext>
            </a:extLst>
          </p:cNvPr>
          <p:cNvSpPr>
            <a:spLocks xmlns:a="http://schemas.openxmlformats.org/drawingml/2006/main" noGrp="1"/>
          </p:cNvSpPr>
          <p:nvPr/>
        </p:nvSpPr>
        <p:spPr>
          <a:xfrm xmlns:a="http://schemas.openxmlformats.org/drawingml/2006/main">
            <a:off x="4000500" y="3095625"/>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F9C5A"/>
                </a:solidFill>
                <a:latin typeface="Helvetica Neue"/>
                <a:ea typeface="Helvetica Neue"/>
                <a:cs typeface="Helvetica Neue"/>
              </a:defRPr>
            </a:pPr>
            <a:r>
              <a:rPr sz="2250" b="1">
                <a:solidFill>
                  <a:srgbClr val="FF9C5A"/>
                </a:solidFill>
                <a:latin typeface="Helvetica Neue"/>
                <a:ea typeface="Helvetica Neue"/>
                <a:cs typeface="Helvetica Neue"/>
              </a:rPr>
              <a:t>4 / 15</a:t>
            </a:r>
          </a:p>
        </p:txBody>
      </p:sp>
      <p:sp>
        <p:nvSpPr>
          <p:cNvPr id="14" name="">
            <a:extLst xmlns:a="http://schemas.openxmlformats.org/drawingml/2006/main">
              <a:ext uri="{FF2B5EF4-FFF2-40B4-BE49-F238E27FC236}">
                <a16:creationId xmlns:a16="http://schemas.microsoft.com/office/drawing/2014/main" id="{A462888D-93A4-47FD-87AB-19502EABA944}"/>
              </a:ext>
            </a:extLst>
          </p:cNvPr>
          <p:cNvSpPr>
            <a:spLocks xmlns:a="http://schemas.openxmlformats.org/drawingml/2006/main" noGrp="1"/>
          </p:cNvSpPr>
          <p:nvPr/>
        </p:nvSpPr>
        <p:spPr>
          <a:xfrm xmlns:a="http://schemas.openxmlformats.org/drawingml/2006/main">
            <a:off x="5572125" y="3095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Nhiễu nhãn theo rating</a:t>
            </a:r>
          </a:p>
        </p:txBody>
      </p:sp>
      <p:sp>
        <p:nvSpPr>
          <p:cNvPr id="15" name="">
            <a:extLst xmlns:a="http://schemas.openxmlformats.org/drawingml/2006/main">
              <a:ext uri="{FF2B5EF4-FFF2-40B4-BE49-F238E27FC236}">
                <a16:creationId xmlns:a16="http://schemas.microsoft.com/office/drawing/2014/main" id="{370E74C0-4597-464F-9248-1D64B163D349}"/>
              </a:ext>
            </a:extLst>
          </p:cNvPr>
          <p:cNvSpPr>
            <a:spLocks xmlns:a="http://schemas.openxmlformats.org/drawingml/2006/main" noGrp="1"/>
          </p:cNvSpPr>
          <p:nvPr/>
        </p:nvSpPr>
        <p:spPr>
          <a:xfrm xmlns:a="http://schemas.openxmlformats.org/drawingml/2006/main">
            <a:off x="5572125" y="3552825"/>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Số sao có thể không phản ánh đúng nội dung review.</a:t>
            </a:r>
          </a:p>
        </p:txBody>
      </p:sp>
      <p:sp>
        <p:nvSpPr>
          <p:cNvPr id="16" name="">
            <a:extLst xmlns:a="http://schemas.openxmlformats.org/drawingml/2006/main">
              <a:ext uri="{FF2B5EF4-FFF2-40B4-BE49-F238E27FC236}">
                <a16:creationId xmlns:a16="http://schemas.microsoft.com/office/drawing/2014/main" id="{D3ACFAAC-0A55-4781-878E-A6F95426B4A6}"/>
              </a:ext>
            </a:extLst>
          </p:cNvPr>
          <p:cNvSpPr>
            <a:spLocks xmlns:a="http://schemas.openxmlformats.org/drawingml/2006/main" noGrp="1"/>
          </p:cNvSpPr>
          <p:nvPr/>
        </p:nvSpPr>
        <p:spPr>
          <a:xfrm xmlns:a="http://schemas.openxmlformats.org/drawingml/2006/main">
            <a:off x="4000500" y="4276725"/>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344D8738-B769-4B79-B87C-D245641E2681}"/>
              </a:ext>
            </a:extLst>
          </p:cNvPr>
          <p:cNvSpPr>
            <a:spLocks xmlns:a="http://schemas.openxmlformats.org/drawingml/2006/main" noGrp="1"/>
          </p:cNvSpPr>
          <p:nvPr/>
        </p:nvSpPr>
        <p:spPr>
          <a:xfrm xmlns:a="http://schemas.openxmlformats.org/drawingml/2006/main">
            <a:off x="4000500" y="44767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78A7FF"/>
                </a:solidFill>
                <a:latin typeface="Helvetica Neue"/>
                <a:ea typeface="Helvetica Neue"/>
                <a:cs typeface="Helvetica Neue"/>
              </a:defRPr>
            </a:pPr>
            <a:r>
              <a:rPr sz="2250" b="1">
                <a:solidFill>
                  <a:srgbClr val="78A7FF"/>
                </a:solidFill>
                <a:latin typeface="Helvetica Neue"/>
                <a:ea typeface="Helvetica Neue"/>
                <a:cs typeface="Helvetica Neue"/>
              </a:rPr>
              <a:t>1 / 15</a:t>
            </a:r>
          </a:p>
        </p:txBody>
      </p:sp>
      <p:sp>
        <p:nvSpPr>
          <p:cNvPr id="18" name="">
            <a:extLst xmlns:a="http://schemas.openxmlformats.org/drawingml/2006/main">
              <a:ext uri="{FF2B5EF4-FFF2-40B4-BE49-F238E27FC236}">
                <a16:creationId xmlns:a16="http://schemas.microsoft.com/office/drawing/2014/main" id="{5E4AA18E-6EBB-48F1-B05B-678151E4C845}"/>
              </a:ext>
            </a:extLst>
          </p:cNvPr>
          <p:cNvSpPr>
            <a:spLocks xmlns:a="http://schemas.openxmlformats.org/drawingml/2006/main" noGrp="1"/>
          </p:cNvSpPr>
          <p:nvPr/>
        </p:nvSpPr>
        <p:spPr>
          <a:xfrm xmlns:a="http://schemas.openxmlformats.org/drawingml/2006/main">
            <a:off x="5572125" y="4476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Review dài nhiều khía cạnh</a:t>
            </a:r>
          </a:p>
        </p:txBody>
      </p:sp>
      <p:sp>
        <p:nvSpPr>
          <p:cNvPr id="19" name="">
            <a:extLst xmlns:a="http://schemas.openxmlformats.org/drawingml/2006/main">
              <a:ext uri="{FF2B5EF4-FFF2-40B4-BE49-F238E27FC236}">
                <a16:creationId xmlns:a16="http://schemas.microsoft.com/office/drawing/2014/main" id="{23477CAC-A4A1-4F14-9C26-C21521C47153}"/>
              </a:ext>
            </a:extLst>
          </p:cNvPr>
          <p:cNvSpPr>
            <a:spLocks xmlns:a="http://schemas.openxmlformats.org/drawingml/2006/main" noGrp="1"/>
          </p:cNvSpPr>
          <p:nvPr/>
        </p:nvSpPr>
        <p:spPr>
          <a:xfrm xmlns:a="http://schemas.openxmlformats.org/drawingml/2006/main">
            <a:off x="5572125" y="493395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Nhiều ý và thời điểm khó gói trong một nhãn chung.</a:t>
            </a:r>
          </a:p>
        </p:txBody>
      </p:sp>
      <p:sp>
        <p:nvSpPr>
          <p:cNvPr id="20" name="">
            <a:extLst xmlns:a="http://schemas.openxmlformats.org/drawingml/2006/main">
              <a:ext uri="{FF2B5EF4-FFF2-40B4-BE49-F238E27FC236}">
                <a16:creationId xmlns:a16="http://schemas.microsoft.com/office/drawing/2014/main" id="{9B1D8E53-6C48-4336-B97D-B35EE7B4E612}"/>
              </a:ext>
            </a:extLst>
          </p:cNvPr>
          <p:cNvSpPr>
            <a:spLocks xmlns:a="http://schemas.openxmlformats.org/drawingml/2006/main" noGrp="1"/>
          </p:cNvSpPr>
          <p:nvPr/>
        </p:nvSpPr>
        <p:spPr>
          <a:xfrm xmlns:a="http://schemas.openxmlformats.org/drawingml/2006/main">
            <a:off x="609600" y="58578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Phân tích thủ công trên 15 lỗi tự tin nhất của phiên bản gốc.</a:t>
            </a:r>
          </a:p>
        </p:txBody>
      </p:sp>
    </p:spTree>
    <p:extLst>
      <p:ext uri="{BB962C8B-B14F-4D97-AF65-F5344CB8AC3E}">
        <p14:creationId xmlns:p14="http://schemas.microsoft.com/office/powerpoint/2010/main" val="1806180849"/>
      </p:ext>
    </p:extLst>
  </p:cSld>
</p:sld>
</file>

<file path=ppt/slides/slide1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185D96-8958-46B4-B0F7-A9EB379B6D31}"/>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13 · INSIGHT DOANH NGHIỆP</a:t>
            </a:r>
          </a:p>
        </p:txBody>
      </p:sp>
      <p:sp>
        <p:nvSpPr>
          <p:cNvPr id="2" name="">
            <a:extLst xmlns:a="http://schemas.openxmlformats.org/drawingml/2006/main">
              <a:ext uri="{FF2B5EF4-FFF2-40B4-BE49-F238E27FC236}">
                <a16:creationId xmlns:a16="http://schemas.microsoft.com/office/drawing/2014/main" id="{73BD758C-9C7E-41F1-9419-DD75AB43F18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Salary &amp; benefits thấp nhất ở 4/5 công ty</a:t>
            </a:r>
          </a:p>
        </p:txBody>
      </p:sp>
      <p:sp>
        <p:nvSpPr>
          <p:cNvPr id="3" name="">
            <a:extLst xmlns:a="http://schemas.openxmlformats.org/drawingml/2006/main">
              <a:ext uri="{FF2B5EF4-FFF2-40B4-BE49-F238E27FC236}">
                <a16:creationId xmlns:a16="http://schemas.microsoft.com/office/drawing/2014/main" id="{8DF3D923-F2DD-4EF5-85D7-167CCCF8814D}"/>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0B7737-2736-4A41-A271-9D1D635B572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14 / 18</a:t>
            </a:r>
          </a:p>
        </p:txBody>
      </p:sp>
      <p:graphicFrame>
        <p:nvGraphicFramePr>
          <p:cNvPr id="22" name="Chart"/>
          <p:cNvGraphicFramePr/>
          <p:nvPr/>
        </p:nvGraphicFramePr>
        <p:xfrm>
          <a:off xmlns:a="http://schemas.openxmlformats.org/drawingml/2006/main" x="609600" y="1619250"/>
          <a:ext xmlns:a="http://schemas.openxmlformats.org/drawingml/2006/main" cx="7620000" cy="4143375"/>
        </p:xfrm>
        <a:graphic xmlns:a="http://schemas.openxmlformats.org/drawingml/2006/main">
          <a:graphicData uri="http://schemas.openxmlformats.org/drawingml/2006/chart">
            <c:chart xmlns:r="http://schemas.openxmlformats.org/officeDocument/2006/relationships" xmlns:c="http://schemas.openxmlformats.org/drawingml/2006/chart" r:id="R4245e05292da446e"/>
          </a:graphicData>
        </a:graphic>
      </p:graphicFrame>
      <p:sp>
        <p:nvSpPr>
          <p:cNvPr id="6" name="">
            <a:extLst xmlns:a="http://schemas.openxmlformats.org/drawingml/2006/main">
              <a:ext uri="{FF2B5EF4-FFF2-40B4-BE49-F238E27FC236}">
                <a16:creationId xmlns:a16="http://schemas.microsoft.com/office/drawing/2014/main" id="{DE632A67-5FC1-49BC-B369-B6DF5564127E}"/>
              </a:ext>
            </a:extLst>
          </p:cNvPr>
          <p:cNvSpPr>
            <a:spLocks xmlns:a="http://schemas.openxmlformats.org/drawingml/2006/main" noGrp="1"/>
          </p:cNvSpPr>
          <p:nvPr/>
        </p:nvSpPr>
        <p:spPr>
          <a:xfrm xmlns:a="http://schemas.openxmlformats.org/drawingml/2006/main">
            <a:off x="8667750" y="187642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C5A992-E2B3-4131-8303-91478C67B98E}"/>
              </a:ext>
            </a:extLst>
          </p:cNvPr>
          <p:cNvSpPr>
            <a:spLocks xmlns:a="http://schemas.openxmlformats.org/drawingml/2006/main" noGrp="1"/>
          </p:cNvSpPr>
          <p:nvPr/>
        </p:nvSpPr>
        <p:spPr>
          <a:xfrm xmlns:a="http://schemas.openxmlformats.org/drawingml/2006/main">
            <a:off x="8858250" y="1809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FPT, NashTech, Bosch, KMS</a:t>
            </a:r>
          </a:p>
        </p:txBody>
      </p:sp>
      <p:sp>
        <p:nvSpPr>
          <p:cNvPr id="8" name="">
            <a:extLst xmlns:a="http://schemas.openxmlformats.org/drawingml/2006/main">
              <a:ext uri="{FF2B5EF4-FFF2-40B4-BE49-F238E27FC236}">
                <a16:creationId xmlns:a16="http://schemas.microsoft.com/office/drawing/2014/main" id="{55F08E66-B61D-4E97-93FE-79BC2E05CD20}"/>
              </a:ext>
            </a:extLst>
          </p:cNvPr>
          <p:cNvSpPr>
            <a:spLocks xmlns:a="http://schemas.openxmlformats.org/drawingml/2006/main" noGrp="1"/>
          </p:cNvSpPr>
          <p:nvPr/>
        </p:nvSpPr>
        <p:spPr>
          <a:xfrm xmlns:a="http://schemas.openxmlformats.org/drawingml/2006/main">
            <a:off x="8858250" y="20955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Salary &amp; benefits.</a:t>
            </a:r>
          </a:p>
        </p:txBody>
      </p:sp>
      <p:sp>
        <p:nvSpPr>
          <p:cNvPr id="9" name="">
            <a:extLst xmlns:a="http://schemas.openxmlformats.org/drawingml/2006/main">
              <a:ext uri="{FF2B5EF4-FFF2-40B4-BE49-F238E27FC236}">
                <a16:creationId xmlns:a16="http://schemas.microsoft.com/office/drawing/2014/main" id="{E27A0399-BDF5-48E4-B5AB-FF748D2516A5}"/>
              </a:ext>
            </a:extLst>
          </p:cNvPr>
          <p:cNvSpPr>
            <a:spLocks xmlns:a="http://schemas.openxmlformats.org/drawingml/2006/main" noGrp="1"/>
          </p:cNvSpPr>
          <p:nvPr/>
        </p:nvSpPr>
        <p:spPr>
          <a:xfrm xmlns:a="http://schemas.openxmlformats.org/drawingml/2006/main">
            <a:off x="8667750" y="287655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FFA970-F7DE-479E-8AD5-A1D46255C2FB}"/>
              </a:ext>
            </a:extLst>
          </p:cNvPr>
          <p:cNvSpPr>
            <a:spLocks xmlns:a="http://schemas.openxmlformats.org/drawingml/2006/main" noGrp="1"/>
          </p:cNvSpPr>
          <p:nvPr/>
        </p:nvSpPr>
        <p:spPr>
          <a:xfrm xmlns:a="http://schemas.openxmlformats.org/drawingml/2006/main">
            <a:off x="8858250" y="2809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VNG</a:t>
            </a:r>
          </a:p>
        </p:txBody>
      </p:sp>
      <p:sp>
        <p:nvSpPr>
          <p:cNvPr id="11" name="">
            <a:extLst xmlns:a="http://schemas.openxmlformats.org/drawingml/2006/main">
              <a:ext uri="{FF2B5EF4-FFF2-40B4-BE49-F238E27FC236}">
                <a16:creationId xmlns:a16="http://schemas.microsoft.com/office/drawing/2014/main" id="{17E8995B-8E6C-4669-B335-50BC918889B9}"/>
              </a:ext>
            </a:extLst>
          </p:cNvPr>
          <p:cNvSpPr>
            <a:spLocks xmlns:a="http://schemas.openxmlformats.org/drawingml/2006/main" noGrp="1"/>
          </p:cNvSpPr>
          <p:nvPr/>
        </p:nvSpPr>
        <p:spPr>
          <a:xfrm xmlns:a="http://schemas.openxmlformats.org/drawingml/2006/main">
            <a:off x="8858250" y="30956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Management cares about me.</a:t>
            </a:r>
          </a:p>
        </p:txBody>
      </p:sp>
      <p:sp>
        <p:nvSpPr>
          <p:cNvPr id="12" name="">
            <a:extLst xmlns:a="http://schemas.openxmlformats.org/drawingml/2006/main">
              <a:ext uri="{FF2B5EF4-FFF2-40B4-BE49-F238E27FC236}">
                <a16:creationId xmlns:a16="http://schemas.microsoft.com/office/drawing/2014/main" id="{989B60B7-6884-4FD0-84AF-A564FAD7990D}"/>
              </a:ext>
            </a:extLst>
          </p:cNvPr>
          <p:cNvSpPr>
            <a:spLocks xmlns:a="http://schemas.openxmlformats.org/drawingml/2006/main" noGrp="1"/>
          </p:cNvSpPr>
          <p:nvPr/>
        </p:nvSpPr>
        <p:spPr>
          <a:xfrm xmlns:a="http://schemas.openxmlformats.org/drawingml/2006/main">
            <a:off x="8667750" y="38766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DC44E14-0490-4571-AF77-C84CB0D3E9CD}"/>
              </a:ext>
            </a:extLst>
          </p:cNvPr>
          <p:cNvSpPr>
            <a:spLocks xmlns:a="http://schemas.openxmlformats.org/drawingml/2006/main" noGrp="1"/>
          </p:cNvSpPr>
          <p:nvPr/>
        </p:nvSpPr>
        <p:spPr>
          <a:xfrm xmlns:a="http://schemas.openxmlformats.org/drawingml/2006/main">
            <a:off x="8858250" y="3810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Cỡ mẫu khác nhau</a:t>
            </a:r>
          </a:p>
        </p:txBody>
      </p:sp>
      <p:sp>
        <p:nvSpPr>
          <p:cNvPr id="14" name="">
            <a:extLst xmlns:a="http://schemas.openxmlformats.org/drawingml/2006/main">
              <a:ext uri="{FF2B5EF4-FFF2-40B4-BE49-F238E27FC236}">
                <a16:creationId xmlns:a16="http://schemas.microsoft.com/office/drawing/2014/main" id="{7D5E024D-DB2E-4F06-BFEA-A4FFFCB77927}"/>
              </a:ext>
            </a:extLst>
          </p:cNvPr>
          <p:cNvSpPr>
            <a:spLocks xmlns:a="http://schemas.openxmlformats.org/drawingml/2006/main" noGrp="1"/>
          </p:cNvSpPr>
          <p:nvPr/>
        </p:nvSpPr>
        <p:spPr>
          <a:xfrm xmlns:a="http://schemas.openxmlformats.org/drawingml/2006/main">
            <a:off x="8858250" y="4095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FPT có 2.014 review, KMS 251 và VNG 259.</a:t>
            </a:r>
          </a:p>
        </p:txBody>
      </p:sp>
      <p:sp>
        <p:nvSpPr>
          <p:cNvPr id="15" name="">
            <a:extLst xmlns:a="http://schemas.openxmlformats.org/drawingml/2006/main">
              <a:ext uri="{FF2B5EF4-FFF2-40B4-BE49-F238E27FC236}">
                <a16:creationId xmlns:a16="http://schemas.microsoft.com/office/drawing/2014/main" id="{02CC1102-C68B-4C38-8EC2-82B6CE90E871}"/>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Đây là phân tích mô tả của 5 công ty có nhiều review nhất, không phải bảng xếp hạng chất lượng doanh nghiệp.</a:t>
            </a:r>
          </a:p>
        </p:txBody>
      </p:sp>
    </p:spTree>
    <p:extLst>
      <p:ext uri="{BB962C8B-B14F-4D97-AF65-F5344CB8AC3E}">
        <p14:creationId xmlns:p14="http://schemas.microsoft.com/office/powerpoint/2010/main" val="1283201423"/>
      </p:ext>
    </p:extLst>
  </p:cSld>
</p:sld>
</file>

<file path=ppt/slides/slide1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484A2E-E31A-481B-B445-D37DA6C9E5B9}"/>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14 · DIỄN GIẢI</a:t>
            </a:r>
          </a:p>
        </p:txBody>
      </p:sp>
      <p:sp>
        <p:nvSpPr>
          <p:cNvPr id="2" name="">
            <a:extLst xmlns:a="http://schemas.openxmlformats.org/drawingml/2006/main">
              <a:ext uri="{FF2B5EF4-FFF2-40B4-BE49-F238E27FC236}">
                <a16:creationId xmlns:a16="http://schemas.microsoft.com/office/drawing/2014/main" id="{B8B0C08F-A987-40F1-AC29-CE4DD1F1392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84"/>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TF-IDF cho biết độ nổi bật, không cho biết chiều tác động</a:t>
            </a:r>
          </a:p>
        </p:txBody>
      </p:sp>
      <p:sp>
        <p:nvSpPr>
          <p:cNvPr id="3" name="">
            <a:extLst xmlns:a="http://schemas.openxmlformats.org/drawingml/2006/main">
              <a:ext uri="{FF2B5EF4-FFF2-40B4-BE49-F238E27FC236}">
                <a16:creationId xmlns:a16="http://schemas.microsoft.com/office/drawing/2014/main" id="{94044FD0-196F-494A-BE89-B9FD55BBE5BE}"/>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23786F04-6C60-428D-8EFC-3FF7783E077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15 / 18</a:t>
            </a:r>
          </a:p>
        </p:txBody>
      </p:sp>
      <p:graphicFrame>
        <p:nvGraphicFramePr>
          <p:cNvPr id="26" name="Chart"/>
          <p:cNvGraphicFramePr/>
          <p:nvPr/>
        </p:nvGraphicFramePr>
        <p:xfrm>
          <a:off xmlns:a="http://schemas.openxmlformats.org/drawingml/2006/main" x="609600" y="1619250"/>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5bb04095018d40d3"/>
          </a:graphicData>
        </a:graphic>
      </p:graphicFrame>
      <p:sp>
        <p:nvSpPr>
          <p:cNvPr id="6" name="">
            <a:extLst xmlns:a="http://schemas.openxmlformats.org/drawingml/2006/main">
              <a:ext uri="{FF2B5EF4-FFF2-40B4-BE49-F238E27FC236}">
                <a16:creationId xmlns:a16="http://schemas.microsoft.com/office/drawing/2014/main" id="{BC81D14A-45EC-469D-800A-CD72352F4E47}"/>
              </a:ext>
            </a:extLst>
          </p:cNvPr>
          <p:cNvSpPr>
            <a:spLocks xmlns:a="http://schemas.openxmlformats.org/drawingml/2006/main" noGrp="1"/>
          </p:cNvSpPr>
          <p:nvPr/>
        </p:nvSpPr>
        <p:spPr>
          <a:xfrm xmlns:a="http://schemas.openxmlformats.org/drawingml/2006/main">
            <a:off x="5572125" y="1724025"/>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TRỌNG SỐ TF-IDF (×100)</a:t>
            </a:r>
          </a:p>
        </p:txBody>
      </p:sp>
      <p:sp>
        <p:nvSpPr>
          <p:cNvPr id="7" name="">
            <a:extLst xmlns:a="http://schemas.openxmlformats.org/drawingml/2006/main">
              <a:ext uri="{FF2B5EF4-FFF2-40B4-BE49-F238E27FC236}">
                <a16:creationId xmlns:a16="http://schemas.microsoft.com/office/drawing/2014/main" id="{9B587D77-EC0E-4ACE-9143-B74E90A39B2E}"/>
              </a:ext>
            </a:extLst>
          </p:cNvPr>
          <p:cNvSpPr>
            <a:spLocks xmlns:a="http://schemas.openxmlformats.org/drawingml/2006/main" noGrp="1"/>
          </p:cNvSpPr>
          <p:nvPr/>
        </p:nvSpPr>
        <p:spPr>
          <a:xfrm xmlns:a="http://schemas.openxmlformats.org/drawingml/2006/main">
            <a:off x="8096250" y="18097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NEGATIVE</a:t>
            </a:r>
          </a:p>
        </p:txBody>
      </p:sp>
      <p:sp>
        <p:nvSpPr>
          <p:cNvPr id="8" name="">
            <a:extLst xmlns:a="http://schemas.openxmlformats.org/drawingml/2006/main">
              <a:ext uri="{FF2B5EF4-FFF2-40B4-BE49-F238E27FC236}">
                <a16:creationId xmlns:a16="http://schemas.microsoft.com/office/drawing/2014/main" id="{5E9D3060-6352-4507-99BD-0A4E7BDE3BEB}"/>
              </a:ext>
            </a:extLst>
          </p:cNvPr>
          <p:cNvSpPr>
            <a:spLocks xmlns:a="http://schemas.openxmlformats.org/drawingml/2006/main" noGrp="1"/>
          </p:cNvSpPr>
          <p:nvPr/>
        </p:nvSpPr>
        <p:spPr>
          <a:xfrm xmlns:a="http://schemas.openxmlformats.org/drawingml/2006/main">
            <a:off x="8096250" y="207645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99,0%</a:t>
            </a:r>
          </a:p>
        </p:txBody>
      </p:sp>
      <p:sp>
        <p:nvSpPr>
          <p:cNvPr id="9" name="">
            <a:extLst xmlns:a="http://schemas.openxmlformats.org/drawingml/2006/main">
              <a:ext uri="{FF2B5EF4-FFF2-40B4-BE49-F238E27FC236}">
                <a16:creationId xmlns:a16="http://schemas.microsoft.com/office/drawing/2014/main" id="{E4E49424-7AC9-4E99-812F-910C1C6D14AB}"/>
              </a:ext>
            </a:extLst>
          </p:cNvPr>
          <p:cNvSpPr>
            <a:spLocks xmlns:a="http://schemas.openxmlformats.org/drawingml/2006/main" noGrp="1"/>
          </p:cNvSpPr>
          <p:nvPr/>
        </p:nvSpPr>
        <p:spPr>
          <a:xfrm xmlns:a="http://schemas.openxmlformats.org/drawingml/2006/main">
            <a:off x="8096250" y="30480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Cụm từ được giữ lại</a:t>
            </a:r>
          </a:p>
        </p:txBody>
      </p:sp>
      <p:sp>
        <p:nvSpPr>
          <p:cNvPr id="10" name="">
            <a:extLst xmlns:a="http://schemas.openxmlformats.org/drawingml/2006/main">
              <a:ext uri="{FF2B5EF4-FFF2-40B4-BE49-F238E27FC236}">
                <a16:creationId xmlns:a16="http://schemas.microsoft.com/office/drawing/2014/main" id="{A65E553C-DFFF-4687-ACD5-4AED3E0801F0}"/>
              </a:ext>
            </a:extLst>
          </p:cNvPr>
          <p:cNvSpPr>
            <a:spLocks xmlns:a="http://schemas.openxmlformats.org/drawingml/2006/main" noGrp="1"/>
          </p:cNvSpPr>
          <p:nvPr/>
        </p:nvSpPr>
        <p:spPr>
          <a:xfrm xmlns:a="http://schemas.openxmlformats.org/drawingml/2006/main">
            <a:off x="8096250" y="342900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“không lương” và “lương thấp” là các đặc trưng riêng.</a:t>
            </a:r>
          </a:p>
        </p:txBody>
      </p:sp>
      <p:sp>
        <p:nvSpPr>
          <p:cNvPr id="11" name="">
            <a:extLst xmlns:a="http://schemas.openxmlformats.org/drawingml/2006/main">
              <a:ext uri="{FF2B5EF4-FFF2-40B4-BE49-F238E27FC236}">
                <a16:creationId xmlns:a16="http://schemas.microsoft.com/office/drawing/2014/main" id="{92AFBDE7-3896-470E-B6EB-780F42B7C869}"/>
              </a:ext>
            </a:extLst>
          </p:cNvPr>
          <p:cNvSpPr>
            <a:spLocks xmlns:a="http://schemas.openxmlformats.org/drawingml/2006/main" noGrp="1"/>
          </p:cNvSpPr>
          <p:nvPr/>
        </p:nvSpPr>
        <p:spPr>
          <a:xfrm xmlns:a="http://schemas.openxmlformats.org/drawingml/2006/main">
            <a:off x="8096250" y="44767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Giới hạn diễn giải</a:t>
            </a:r>
          </a:p>
        </p:txBody>
      </p:sp>
      <p:sp>
        <p:nvSpPr>
          <p:cNvPr id="12" name="">
            <a:extLst xmlns:a="http://schemas.openxmlformats.org/drawingml/2006/main">
              <a:ext uri="{FF2B5EF4-FFF2-40B4-BE49-F238E27FC236}">
                <a16:creationId xmlns:a16="http://schemas.microsoft.com/office/drawing/2014/main" id="{E29356B4-3FDE-4B23-93F2-B7D02830DAF6}"/>
              </a:ext>
            </a:extLst>
          </p:cNvPr>
          <p:cNvSpPr>
            <a:spLocks xmlns:a="http://schemas.openxmlformats.org/drawingml/2006/main" noGrp="1"/>
          </p:cNvSpPr>
          <p:nvPr/>
        </p:nvSpPr>
        <p:spPr>
          <a:xfrm xmlns:a="http://schemas.openxmlformats.org/drawingml/2006/main">
            <a:off x="8096250" y="4857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Trọng số TF-IDF cho biết độ nổi bật. Muốn biết chiều tác động cần xem thêm hệ số Logistic Regression.</a:t>
            </a:r>
          </a:p>
        </p:txBody>
      </p:sp>
      <p:sp>
        <p:nvSpPr>
          <p:cNvPr id="20" name="Rounded Rectangle 19">
            <a:extLst xmlns:a="http://schemas.openxmlformats.org/drawingml/2006/main">
              <a:ext uri="{FF2B5EF4-FFF2-40B4-BE49-F238E27FC236}">
                <a16:creationId xmlns:a16="http://schemas.microsoft.com/office/drawing/2014/main" id="{303C1C47-2DBC-42DA-AD3E-F3E0ED78845D}"/>
              </a:ext>
            </a:extLst>
          </p:cNvPr>
          <p:cNvSpPr>
            <a:spLocks xmlns:a="http://schemas.openxmlformats.org/drawingml/2006/main" noGrp="1"/>
          </p:cNvSpPr>
          <p:nvPr/>
        </p:nvSpPr>
        <p:spPr>
          <a:xfrm xmlns:a="http://schemas.openxmlformats.org/drawingml/2006/main">
            <a:off x="612648" y="5870448"/>
            <a:ext cx="10424160" cy="475488"/>
          </a:xfrm>
          <a:prstGeom xmlns:a="http://schemas.openxmlformats.org/drawingml/2006/main" prst="roundRect">
            <a:avLst>
              <a:gd name="adj" fmla="val 15000"/>
            </a:avLst>
          </a:prstGeom>
          <a:solidFill xmlns:a="http://schemas.openxmlformats.org/drawingml/2006/main">
            <a:srgbClr val="141B26"/>
          </a:solidFill>
          <a:ln xmlns:a="http://schemas.openxmlformats.org/drawingml/2006/main" w="12700">
            <a:solidFill>
              <a:srgbClr val="7AA7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82880" tIns="73152" rIns="182880" bIns="73152" anchor="ctr"/>
          <a:lstStyle xmlns:a="http://schemas.openxmlformats.org/drawingml/2006/main"/>
          <a:p xmlns:a="http://schemas.openxmlformats.org/drawingml/2006/main">
            <a:pPr algn="l">
              <a:buNone/>
            </a:pPr>
            <a:r>
              <a:rPr sz="1200" b="1">
                <a:solidFill>
                  <a:srgbClr val="7AA7FF"/>
                </a:solidFill>
                <a:latin typeface="Helvetica Neue"/>
                <a:ea typeface="Helvetica Neue"/>
                <a:cs typeface="Helvetica Neue"/>
              </a:rPr>
              <a:t>💬 Review minh họa: </a:t>
            </a:r>
            <a:r>
              <a:rPr sz="1200" i="1">
                <a:solidFill>
                  <a:srgbClr val="F1F5F9"/>
                </a:solidFill>
                <a:latin typeface="Helvetica Neue"/>
                <a:ea typeface="Helvetica Neue"/>
                <a:cs typeface="Helvetica Neue"/>
              </a:rPr>
              <a:t>"Lương thấp, quản lý thiếu minh bạch và thường xuyên phải OT không lương."</a:t>
            </a:r>
            <a:r>
              <a:rPr sz="1200" b="1">
                <a:solidFill>
                  <a:srgbClr val="9EABBA"/>
                </a:solidFill>
                <a:latin typeface="Helvetica Neue"/>
                <a:ea typeface="Helvetica Neue"/>
                <a:cs typeface="Helvetica Neue"/>
              </a:rPr>
              <a:t>  →  Mô hình nhận diện: </a:t>
            </a:r>
            <a:r>
              <a:rPr sz="1200" b="1">
                <a:solidFill>
                  <a:srgbClr val="FF6677"/>
                </a:solidFill>
                <a:latin typeface="Helvetica Neue"/>
                <a:ea typeface="Helvetica Neue"/>
                <a:cs typeface="Helvetica Neue"/>
              </a:rPr>
              <a:t>Tiêu cực (99,0%)</a:t>
            </a:r>
          </a:p>
        </p:txBody>
      </p:sp>
    </p:spTree>
    <p:extLst>
      <p:ext uri="{BB962C8B-B14F-4D97-AF65-F5344CB8AC3E}">
        <p14:creationId xmlns:p14="http://schemas.microsoft.com/office/powerpoint/2010/main" val="1909509734"/>
      </p:ext>
    </p:extLst>
  </p:cSld>
</p:sld>
</file>

<file path=ppt/slides/slide1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5BCB96-FE0D-4B83-B045-1ACBF94C420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15 · ĐÁNH GIÁ</a:t>
            </a:r>
          </a:p>
        </p:txBody>
      </p:sp>
      <p:sp>
        <p:nvSpPr>
          <p:cNvPr id="2" name="">
            <a:extLst xmlns:a="http://schemas.openxmlformats.org/drawingml/2006/main">
              <a:ext uri="{FF2B5EF4-FFF2-40B4-BE49-F238E27FC236}">
                <a16:creationId xmlns:a16="http://schemas.microsoft.com/office/drawing/2014/main" id="{BF13A743-6DD9-4E84-8B05-7DD2C3039EAB}"/>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tốt hơn một chút, nhưng lớp Negative vẫn khó</a:t>
            </a:r>
          </a:p>
        </p:txBody>
      </p:sp>
      <p:sp>
        <p:nvSpPr>
          <p:cNvPr id="3" name="">
            <a:extLst xmlns:a="http://schemas.openxmlformats.org/drawingml/2006/main">
              <a:ext uri="{FF2B5EF4-FFF2-40B4-BE49-F238E27FC236}">
                <a16:creationId xmlns:a16="http://schemas.microsoft.com/office/drawing/2014/main" id="{8A1935B4-F403-4110-ADDD-7175D372FE24}"/>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46968F-FC48-41CB-9859-04A0455F2BF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16 / 18</a:t>
            </a:r>
          </a:p>
        </p:txBody>
      </p:sp>
      <p:sp>
        <p:nvSpPr>
          <p:cNvPr id="5" name="">
            <a:extLst xmlns:a="http://schemas.openxmlformats.org/drawingml/2006/main">
              <a:ext uri="{FF2B5EF4-FFF2-40B4-BE49-F238E27FC236}">
                <a16:creationId xmlns:a16="http://schemas.microsoft.com/office/drawing/2014/main" id="{5AF38950-E03B-4BE1-B6FD-9B3053BB0E63}"/>
              </a:ext>
            </a:extLst>
          </p:cNvPr>
          <p:cNvSpPr>
            <a:spLocks xmlns:a="http://schemas.openxmlformats.org/drawingml/2006/main" noGrp="1"/>
          </p:cNvSpPr>
          <p:nvPr/>
        </p:nvSpPr>
        <p:spPr>
          <a:xfrm xmlns:a="http://schemas.openxmlformats.org/drawingml/2006/main">
            <a:off x="6096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45D9A0"/>
                </a:solidFill>
                <a:latin typeface="Helvetica Neue"/>
                <a:ea typeface="Helvetica Neue"/>
                <a:cs typeface="Helvetica Neue"/>
              </a:defRPr>
            </a:pPr>
            <a:r>
              <a:rPr sz="1875" b="1">
                <a:solidFill>
                  <a:srgbClr val="45D9A0"/>
                </a:solidFill>
                <a:latin typeface="Helvetica Neue"/>
                <a:ea typeface="Helvetica Neue"/>
                <a:cs typeface="Helvetica Neue"/>
              </a:rPr>
              <a:t>Đã hoàn thành</a:t>
            </a:r>
          </a:p>
        </p:txBody>
      </p:sp>
      <p:sp>
        <p:nvSpPr>
          <p:cNvPr id="6" name="">
            <a:extLst xmlns:a="http://schemas.openxmlformats.org/drawingml/2006/main">
              <a:ext uri="{FF2B5EF4-FFF2-40B4-BE49-F238E27FC236}">
                <a16:creationId xmlns:a16="http://schemas.microsoft.com/office/drawing/2014/main" id="{7ECD7964-F17A-4C10-A421-C4BE943B4224}"/>
              </a:ext>
            </a:extLst>
          </p:cNvPr>
          <p:cNvSpPr>
            <a:spLocks xmlns:a="http://schemas.openxmlformats.org/drawingml/2006/main" noGrp="1"/>
          </p:cNvSpPr>
          <p:nvPr/>
        </p:nvSpPr>
        <p:spPr>
          <a:xfrm xmlns:a="http://schemas.openxmlformats.org/drawingml/2006/main">
            <a:off x="609600" y="23812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A7AF28-53FC-4B11-A111-9C9E1156736D}"/>
              </a:ext>
            </a:extLst>
          </p:cNvPr>
          <p:cNvSpPr>
            <a:spLocks xmlns:a="http://schemas.openxmlformats.org/drawingml/2006/main" noGrp="1"/>
          </p:cNvSpPr>
          <p:nvPr/>
        </p:nvSpPr>
        <p:spPr>
          <a:xfrm xmlns:a="http://schemas.openxmlformats.org/drawingml/2006/main">
            <a:off x="8382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Pipeline text-only end-to-end</a:t>
            </a:r>
          </a:p>
        </p:txBody>
      </p:sp>
      <p:sp>
        <p:nvSpPr>
          <p:cNvPr id="8" name="">
            <a:extLst xmlns:a="http://schemas.openxmlformats.org/drawingml/2006/main">
              <a:ext uri="{FF2B5EF4-FFF2-40B4-BE49-F238E27FC236}">
                <a16:creationId xmlns:a16="http://schemas.microsoft.com/office/drawing/2014/main" id="{6EE23E0E-79D4-4DB5-850E-4FFAA13FE727}"/>
              </a:ext>
            </a:extLst>
          </p:cNvPr>
          <p:cNvSpPr>
            <a:spLocks xmlns:a="http://schemas.openxmlformats.org/drawingml/2006/main" noGrp="1"/>
          </p:cNvSpPr>
          <p:nvPr/>
        </p:nvSpPr>
        <p:spPr>
          <a:xfrm xmlns:a="http://schemas.openxmlformats.org/drawingml/2006/main">
            <a:off x="609600" y="327660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268E63-D856-46A3-9402-D63D858755A6}"/>
              </a:ext>
            </a:extLst>
          </p:cNvPr>
          <p:cNvSpPr>
            <a:spLocks xmlns:a="http://schemas.openxmlformats.org/drawingml/2006/main" noGrp="1"/>
          </p:cNvSpPr>
          <p:nvPr/>
        </p:nvSpPr>
        <p:spPr>
          <a:xfrm xmlns:a="http://schemas.openxmlformats.org/drawingml/2006/main">
            <a:off x="8382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Chọn model bằng 5-fold CV</a:t>
            </a:r>
          </a:p>
        </p:txBody>
      </p:sp>
      <p:sp>
        <p:nvSpPr>
          <p:cNvPr id="10" name="">
            <a:extLst xmlns:a="http://schemas.openxmlformats.org/drawingml/2006/main">
              <a:ext uri="{FF2B5EF4-FFF2-40B4-BE49-F238E27FC236}">
                <a16:creationId xmlns:a16="http://schemas.microsoft.com/office/drawing/2014/main" id="{8DDA0C48-A893-4E79-8F02-07D48448C901}"/>
              </a:ext>
            </a:extLst>
          </p:cNvPr>
          <p:cNvSpPr>
            <a:spLocks xmlns:a="http://schemas.openxmlformats.org/drawingml/2006/main" noGrp="1"/>
          </p:cNvSpPr>
          <p:nvPr/>
        </p:nvSpPr>
        <p:spPr>
          <a:xfrm xmlns:a="http://schemas.openxmlformats.org/drawingml/2006/main">
            <a:off x="609600" y="41719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006A83-714F-4153-BE4E-37FB2D851B1E}"/>
              </a:ext>
            </a:extLst>
          </p:cNvPr>
          <p:cNvSpPr>
            <a:spLocks xmlns:a="http://schemas.openxmlformats.org/drawingml/2006/main" noGrp="1"/>
          </p:cNvSpPr>
          <p:nvPr/>
        </p:nvSpPr>
        <p:spPr>
          <a:xfrm xmlns:a="http://schemas.openxmlformats.org/drawingml/2006/main">
            <a:off x="8382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Đối chiếu lại Final Test cũ</a:t>
            </a:r>
          </a:p>
        </p:txBody>
      </p:sp>
      <p:sp>
        <p:nvSpPr>
          <p:cNvPr id="12" name="">
            <a:extLst xmlns:a="http://schemas.openxmlformats.org/drawingml/2006/main">
              <a:ext uri="{FF2B5EF4-FFF2-40B4-BE49-F238E27FC236}">
                <a16:creationId xmlns:a16="http://schemas.microsoft.com/office/drawing/2014/main" id="{44FB1D48-24DC-48E3-8E9F-6C67CD0A7A5F}"/>
              </a:ext>
            </a:extLst>
          </p:cNvPr>
          <p:cNvSpPr>
            <a:spLocks xmlns:a="http://schemas.openxmlformats.org/drawingml/2006/main" noGrp="1"/>
          </p:cNvSpPr>
          <p:nvPr/>
        </p:nvSpPr>
        <p:spPr>
          <a:xfrm xmlns:a="http://schemas.openxmlformats.org/drawingml/2006/main">
            <a:off x="407670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BA809F-84CB-4F4B-AC22-26BC54EDDA70}"/>
              </a:ext>
            </a:extLst>
          </p:cNvPr>
          <p:cNvSpPr>
            <a:spLocks xmlns:a="http://schemas.openxmlformats.org/drawingml/2006/main" noGrp="1"/>
          </p:cNvSpPr>
          <p:nvPr/>
        </p:nvSpPr>
        <p:spPr>
          <a:xfrm xmlns:a="http://schemas.openxmlformats.org/drawingml/2006/main">
            <a:off x="432435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78A7FF"/>
                </a:solidFill>
                <a:latin typeface="Helvetica Neue"/>
                <a:ea typeface="Helvetica Neue"/>
                <a:cs typeface="Helvetica Neue"/>
              </a:defRPr>
            </a:pPr>
            <a:r>
              <a:rPr sz="1875" b="1">
                <a:solidFill>
                  <a:srgbClr val="78A7FF"/>
                </a:solidFill>
                <a:latin typeface="Helvetica Neue"/>
                <a:ea typeface="Helvetica Neue"/>
                <a:cs typeface="Helvetica Neue"/>
              </a:rPr>
              <a:t>Bài học</a:t>
            </a:r>
          </a:p>
        </p:txBody>
      </p:sp>
      <p:sp>
        <p:nvSpPr>
          <p:cNvPr id="14" name="">
            <a:extLst xmlns:a="http://schemas.openxmlformats.org/drawingml/2006/main">
              <a:ext uri="{FF2B5EF4-FFF2-40B4-BE49-F238E27FC236}">
                <a16:creationId xmlns:a16="http://schemas.microsoft.com/office/drawing/2014/main" id="{9EBA1249-F5D7-4847-9C44-147367D13BAA}"/>
              </a:ext>
            </a:extLst>
          </p:cNvPr>
          <p:cNvSpPr>
            <a:spLocks xmlns:a="http://schemas.openxmlformats.org/drawingml/2006/main" noGrp="1"/>
          </p:cNvSpPr>
          <p:nvPr/>
        </p:nvSpPr>
        <p:spPr>
          <a:xfrm xmlns:a="http://schemas.openxmlformats.org/drawingml/2006/main">
            <a:off x="4324350" y="23812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C7A4F2-EF99-45FA-A35A-F5650CFF7042}"/>
              </a:ext>
            </a:extLst>
          </p:cNvPr>
          <p:cNvSpPr>
            <a:spLocks xmlns:a="http://schemas.openxmlformats.org/drawingml/2006/main" noGrp="1"/>
          </p:cNvSpPr>
          <p:nvPr/>
        </p:nvSpPr>
        <p:spPr>
          <a:xfrm xmlns:a="http://schemas.openxmlformats.org/drawingml/2006/main">
            <a:off x="455295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Macro F1 quan trọng hơn Accuracy</a:t>
            </a:r>
          </a:p>
        </p:txBody>
      </p:sp>
      <p:sp>
        <p:nvSpPr>
          <p:cNvPr id="16" name="">
            <a:extLst xmlns:a="http://schemas.openxmlformats.org/drawingml/2006/main">
              <a:ext uri="{FF2B5EF4-FFF2-40B4-BE49-F238E27FC236}">
                <a16:creationId xmlns:a16="http://schemas.microsoft.com/office/drawing/2014/main" id="{128A5893-C169-43B6-808B-D2D0E336E722}"/>
              </a:ext>
            </a:extLst>
          </p:cNvPr>
          <p:cNvSpPr>
            <a:spLocks xmlns:a="http://schemas.openxmlformats.org/drawingml/2006/main" noGrp="1"/>
          </p:cNvSpPr>
          <p:nvPr/>
        </p:nvSpPr>
        <p:spPr>
          <a:xfrm xmlns:a="http://schemas.openxmlformats.org/drawingml/2006/main">
            <a:off x="4324350" y="327660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6FD1EE-0F46-46D3-8F59-8FF7D8986AF4}"/>
              </a:ext>
            </a:extLst>
          </p:cNvPr>
          <p:cNvSpPr>
            <a:spLocks xmlns:a="http://schemas.openxmlformats.org/drawingml/2006/main" noGrp="1"/>
          </p:cNvSpPr>
          <p:nvPr/>
        </p:nvSpPr>
        <p:spPr>
          <a:xfrm xmlns:a="http://schemas.openxmlformats.org/drawingml/2006/main">
            <a:off x="455295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SMOTE phải nằm trong từng fold</a:t>
            </a:r>
          </a:p>
        </p:txBody>
      </p:sp>
      <p:sp>
        <p:nvSpPr>
          <p:cNvPr id="18" name="">
            <a:extLst xmlns:a="http://schemas.openxmlformats.org/drawingml/2006/main">
              <a:ext uri="{FF2B5EF4-FFF2-40B4-BE49-F238E27FC236}">
                <a16:creationId xmlns:a16="http://schemas.microsoft.com/office/drawing/2014/main" id="{FE1F565A-EFF6-4427-9B95-B65E9A8AC8E9}"/>
              </a:ext>
            </a:extLst>
          </p:cNvPr>
          <p:cNvSpPr>
            <a:spLocks xmlns:a="http://schemas.openxmlformats.org/drawingml/2006/main" noGrp="1"/>
          </p:cNvSpPr>
          <p:nvPr/>
        </p:nvSpPr>
        <p:spPr>
          <a:xfrm xmlns:a="http://schemas.openxmlformats.org/drawingml/2006/main">
            <a:off x="4324350" y="41719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E26503-75E1-4C7E-94AF-3CC05A1B6FD7}"/>
              </a:ext>
            </a:extLst>
          </p:cNvPr>
          <p:cNvSpPr>
            <a:spLocks xmlns:a="http://schemas.openxmlformats.org/drawingml/2006/main" noGrp="1"/>
          </p:cNvSpPr>
          <p:nvPr/>
        </p:nvSpPr>
        <p:spPr>
          <a:xfrm xmlns:a="http://schemas.openxmlformats.org/drawingml/2006/main">
            <a:off x="455295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LR và SVM phù hợp dữ liệu thưa</a:t>
            </a:r>
          </a:p>
        </p:txBody>
      </p:sp>
      <p:sp>
        <p:nvSpPr>
          <p:cNvPr id="20" name="">
            <a:extLst xmlns:a="http://schemas.openxmlformats.org/drawingml/2006/main">
              <a:ext uri="{FF2B5EF4-FFF2-40B4-BE49-F238E27FC236}">
                <a16:creationId xmlns:a16="http://schemas.microsoft.com/office/drawing/2014/main" id="{F8229D9E-A001-48EB-99FC-958213D4A46F}"/>
              </a:ext>
            </a:extLst>
          </p:cNvPr>
          <p:cNvSpPr>
            <a:spLocks xmlns:a="http://schemas.openxmlformats.org/drawingml/2006/main" noGrp="1"/>
          </p:cNvSpPr>
          <p:nvPr/>
        </p:nvSpPr>
        <p:spPr>
          <a:xfrm xmlns:a="http://schemas.openxmlformats.org/drawingml/2006/main">
            <a:off x="779145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753EC7-B8D1-4A83-8026-B25342AA7581}"/>
              </a:ext>
            </a:extLst>
          </p:cNvPr>
          <p:cNvSpPr>
            <a:spLocks xmlns:a="http://schemas.openxmlformats.org/drawingml/2006/main" noGrp="1"/>
          </p:cNvSpPr>
          <p:nvPr/>
        </p:nvSpPr>
        <p:spPr>
          <a:xfrm xmlns:a="http://schemas.openxmlformats.org/drawingml/2006/main">
            <a:off x="80391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FF9C5A"/>
                </a:solidFill>
                <a:latin typeface="Helvetica Neue"/>
                <a:ea typeface="Helvetica Neue"/>
                <a:cs typeface="Helvetica Neue"/>
              </a:defRPr>
            </a:pPr>
            <a:r>
              <a:rPr sz="1875" b="1">
                <a:solidFill>
                  <a:srgbClr val="FF9C5A"/>
                </a:solidFill>
                <a:latin typeface="Helvetica Neue"/>
                <a:ea typeface="Helvetica Neue"/>
                <a:cs typeface="Helvetica Neue"/>
              </a:rPr>
              <a:t>Hạn chế</a:t>
            </a:r>
          </a:p>
        </p:txBody>
      </p:sp>
      <p:sp>
        <p:nvSpPr>
          <p:cNvPr id="22" name="">
            <a:extLst xmlns:a="http://schemas.openxmlformats.org/drawingml/2006/main">
              <a:ext uri="{FF2B5EF4-FFF2-40B4-BE49-F238E27FC236}">
                <a16:creationId xmlns:a16="http://schemas.microsoft.com/office/drawing/2014/main" id="{238B5D70-1297-4A75-9633-CAD4C12D10E5}"/>
              </a:ext>
            </a:extLst>
          </p:cNvPr>
          <p:cNvSpPr>
            <a:spLocks xmlns:a="http://schemas.openxmlformats.org/drawingml/2006/main" noGrp="1"/>
          </p:cNvSpPr>
          <p:nvPr/>
        </p:nvSpPr>
        <p:spPr>
          <a:xfrm xmlns:a="http://schemas.openxmlformats.org/drawingml/2006/main">
            <a:off x="8039100" y="23812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81B4789-EF06-4D97-B631-B3DB15A1F024}"/>
              </a:ext>
            </a:extLst>
          </p:cNvPr>
          <p:cNvSpPr>
            <a:spLocks xmlns:a="http://schemas.openxmlformats.org/drawingml/2006/main" noGrp="1"/>
          </p:cNvSpPr>
          <p:nvPr/>
        </p:nvSpPr>
        <p:spPr>
          <a:xfrm xmlns:a="http://schemas.openxmlformats.org/drawingml/2006/main">
            <a:off x="82677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Rating tạo weak label có nhiễu</a:t>
            </a:r>
          </a:p>
        </p:txBody>
      </p:sp>
      <p:sp>
        <p:nvSpPr>
          <p:cNvPr id="24" name="">
            <a:extLst xmlns:a="http://schemas.openxmlformats.org/drawingml/2006/main">
              <a:ext uri="{FF2B5EF4-FFF2-40B4-BE49-F238E27FC236}">
                <a16:creationId xmlns:a16="http://schemas.microsoft.com/office/drawing/2014/main" id="{6851BBC8-E06E-4775-8AA3-6F3DCCF3BC97}"/>
              </a:ext>
            </a:extLst>
          </p:cNvPr>
          <p:cNvSpPr>
            <a:spLocks xmlns:a="http://schemas.openxmlformats.org/drawingml/2006/main" noGrp="1"/>
          </p:cNvSpPr>
          <p:nvPr/>
        </p:nvSpPr>
        <p:spPr>
          <a:xfrm xmlns:a="http://schemas.openxmlformats.org/drawingml/2006/main">
            <a:off x="8039100" y="327660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6AAF56-8AFB-4D9A-9C6C-66C13F757D44}"/>
              </a:ext>
            </a:extLst>
          </p:cNvPr>
          <p:cNvSpPr>
            <a:spLocks xmlns:a="http://schemas.openxmlformats.org/drawingml/2006/main" noGrp="1"/>
          </p:cNvSpPr>
          <p:nvPr/>
        </p:nvSpPr>
        <p:spPr>
          <a:xfrm xmlns:a="http://schemas.openxmlformats.org/drawingml/2006/main">
            <a:off x="82677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Negative F1 chỉ đạt 0,3910</a:t>
            </a:r>
          </a:p>
        </p:txBody>
      </p:sp>
      <p:sp>
        <p:nvSpPr>
          <p:cNvPr id="26" name="">
            <a:extLst xmlns:a="http://schemas.openxmlformats.org/drawingml/2006/main">
              <a:ext uri="{FF2B5EF4-FFF2-40B4-BE49-F238E27FC236}">
                <a16:creationId xmlns:a16="http://schemas.microsoft.com/office/drawing/2014/main" id="{450477A2-D0A7-4237-AFC1-300F4C3D6653}"/>
              </a:ext>
            </a:extLst>
          </p:cNvPr>
          <p:cNvSpPr>
            <a:spLocks xmlns:a="http://schemas.openxmlformats.org/drawingml/2006/main" noGrp="1"/>
          </p:cNvSpPr>
          <p:nvPr/>
        </p:nvSpPr>
        <p:spPr>
          <a:xfrm xmlns:a="http://schemas.openxmlformats.org/drawingml/2006/main">
            <a:off x="8039100" y="41719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FD6364-82E2-4102-ADA5-DB67286D6B58}"/>
              </a:ext>
            </a:extLst>
          </p:cNvPr>
          <p:cNvSpPr>
            <a:spLocks xmlns:a="http://schemas.openxmlformats.org/drawingml/2006/main" noGrp="1"/>
          </p:cNvSpPr>
          <p:nvPr/>
        </p:nvSpPr>
        <p:spPr>
          <a:xfrm xmlns:a="http://schemas.openxmlformats.org/drawingml/2006/main">
            <a:off x="82677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TF-IDF chưa hiểu ngữ cảnh dài</a:t>
            </a:r>
          </a:p>
        </p:txBody>
      </p:sp>
      <p:sp>
        <p:nvSpPr>
          <p:cNvPr id="28" name="">
            <a:extLst xmlns:a="http://schemas.openxmlformats.org/drawingml/2006/main">
              <a:ext uri="{FF2B5EF4-FFF2-40B4-BE49-F238E27FC236}">
                <a16:creationId xmlns:a16="http://schemas.microsoft.com/office/drawing/2014/main" id="{38547907-1378-4889-9B93-BE1B5D8D8B2D}"/>
              </a:ext>
            </a:extLst>
          </p:cNvPr>
          <p:cNvSpPr>
            <a:spLocks xmlns:a="http://schemas.openxmlformats.org/drawingml/2006/main" noGrp="1"/>
          </p:cNvSpPr>
          <p:nvPr/>
        </p:nvSpPr>
        <p:spPr>
          <a:xfrm xmlns:a="http://schemas.openxmlformats.org/drawingml/2006/main">
            <a:off x="60960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CV Macro F1 0,5815; Final Test cũ 0,5764. Chênh 0,0052, chưa thấy lệch lớn.</a:t>
            </a:r>
          </a:p>
        </p:txBody>
      </p:sp>
    </p:spTree>
    <p:extLst>
      <p:ext uri="{BB962C8B-B14F-4D97-AF65-F5344CB8AC3E}">
        <p14:creationId xmlns:p14="http://schemas.microsoft.com/office/powerpoint/2010/main" val="1743904303"/>
      </p:ext>
    </p:extLst>
  </p:cSld>
</p:sld>
</file>

<file path=ppt/slides/slide1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7A7A8FD-0164-4F9B-B51D-3303AB72D91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16 · KẾT LUẬN</a:t>
            </a:r>
          </a:p>
        </p:txBody>
      </p:sp>
      <p:sp>
        <p:nvSpPr>
          <p:cNvPr id="2" name="">
            <a:extLst xmlns:a="http://schemas.openxmlformats.org/drawingml/2006/main">
              <a:ext uri="{FF2B5EF4-FFF2-40B4-BE49-F238E27FC236}">
                <a16:creationId xmlns:a16="http://schemas.microsoft.com/office/drawing/2014/main" id="{A14BAABA-A949-4332-9FE6-F645D2F5979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Đóng góp của đồ án và bước phát triển tiếp theo</a:t>
            </a:r>
          </a:p>
        </p:txBody>
      </p:sp>
      <p:sp>
        <p:nvSpPr>
          <p:cNvPr id="3" name="">
            <a:extLst xmlns:a="http://schemas.openxmlformats.org/drawingml/2006/main">
              <a:ext uri="{FF2B5EF4-FFF2-40B4-BE49-F238E27FC236}">
                <a16:creationId xmlns:a16="http://schemas.microsoft.com/office/drawing/2014/main" id="{4B6AC830-FDE5-4BC4-BEF0-83A8FEDC97FC}"/>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B79AC1C3-71E1-40FE-BAC4-8BBC9F7A5D5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17 / 18</a:t>
            </a:r>
          </a:p>
        </p:txBody>
      </p:sp>
      <p:sp>
        <p:nvSpPr>
          <p:cNvPr id="5" name="">
            <a:extLst xmlns:a="http://schemas.openxmlformats.org/drawingml/2006/main">
              <a:ext uri="{FF2B5EF4-FFF2-40B4-BE49-F238E27FC236}">
                <a16:creationId xmlns:a16="http://schemas.microsoft.com/office/drawing/2014/main" id="{ECAF15AA-73E7-4DFD-9658-A9FF31EDCADA}"/>
              </a:ext>
            </a:extLst>
          </p:cNvPr>
          <p:cNvSpPr>
            <a:spLocks xmlns:a="http://schemas.openxmlformats.org/drawingml/2006/main" noGrp="1"/>
          </p:cNvSpPr>
          <p:nvPr/>
        </p:nvSpPr>
        <p:spPr>
          <a:xfrm xmlns:a="http://schemas.openxmlformats.org/drawingml/2006/main">
            <a:off x="609600" y="17621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Đóng góp</a:t>
            </a:r>
          </a:p>
        </p:txBody>
      </p:sp>
      <p:sp>
        <p:nvSpPr>
          <p:cNvPr id="6" name="">
            <a:extLst xmlns:a="http://schemas.openxmlformats.org/drawingml/2006/main">
              <a:ext uri="{FF2B5EF4-FFF2-40B4-BE49-F238E27FC236}">
                <a16:creationId xmlns:a16="http://schemas.microsoft.com/office/drawing/2014/main" id="{CBC949EF-AB05-4705-B66B-A272C7BBD41D}"/>
              </a:ext>
            </a:extLst>
          </p:cNvPr>
          <p:cNvSpPr>
            <a:spLocks xmlns:a="http://schemas.openxmlformats.org/drawingml/2006/main" noGrp="1"/>
          </p:cNvSpPr>
          <p:nvPr/>
        </p:nvSpPr>
        <p:spPr>
          <a:xfrm xmlns:a="http://schemas.openxmlformats.org/drawingml/2006/main">
            <a:off x="609600" y="24003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010F688B-9B4E-4096-85F5-9612315D12AB}"/>
              </a:ext>
            </a:extLst>
          </p:cNvPr>
          <p:cNvSpPr>
            <a:spLocks xmlns:a="http://schemas.openxmlformats.org/drawingml/2006/main" noGrp="1"/>
          </p:cNvSpPr>
          <p:nvPr/>
        </p:nvSpPr>
        <p:spPr>
          <a:xfrm xmlns:a="http://schemas.openxmlformats.org/drawingml/2006/main">
            <a:off x="800100" y="233362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Pipeline ba lớp có thể tái lập</a:t>
            </a:r>
          </a:p>
        </p:txBody>
      </p:sp>
      <p:sp>
        <p:nvSpPr>
          <p:cNvPr id="8" name="">
            <a:extLst xmlns:a="http://schemas.openxmlformats.org/drawingml/2006/main">
              <a:ext uri="{FF2B5EF4-FFF2-40B4-BE49-F238E27FC236}">
                <a16:creationId xmlns:a16="http://schemas.microsoft.com/office/drawing/2014/main" id="{CD17EDCE-F563-4B7E-A59F-5AB0502C52A7}"/>
              </a:ext>
            </a:extLst>
          </p:cNvPr>
          <p:cNvSpPr>
            <a:spLocks xmlns:a="http://schemas.openxmlformats.org/drawingml/2006/main" noGrp="1"/>
          </p:cNvSpPr>
          <p:nvPr/>
        </p:nvSpPr>
        <p:spPr>
          <a:xfrm xmlns:a="http://schemas.openxmlformats.org/drawingml/2006/main">
            <a:off x="800100" y="26193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Từ dữ liệu, preprocessing, TF-IDF đến đánh giá.</a:t>
            </a:r>
          </a:p>
        </p:txBody>
      </p:sp>
      <p:sp>
        <p:nvSpPr>
          <p:cNvPr id="9" name="">
            <a:extLst xmlns:a="http://schemas.openxmlformats.org/drawingml/2006/main">
              <a:ext uri="{FF2B5EF4-FFF2-40B4-BE49-F238E27FC236}">
                <a16:creationId xmlns:a16="http://schemas.microsoft.com/office/drawing/2014/main" id="{0B0216FD-48B7-4625-B89F-0F1BF8C03196}"/>
              </a:ext>
            </a:extLst>
          </p:cNvPr>
          <p:cNvSpPr>
            <a:spLocks xmlns:a="http://schemas.openxmlformats.org/drawingml/2006/main" noGrp="1"/>
          </p:cNvSpPr>
          <p:nvPr/>
        </p:nvSpPr>
        <p:spPr>
          <a:xfrm xmlns:a="http://schemas.openxmlformats.org/drawingml/2006/main">
            <a:off x="609600" y="34004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8AF27B5D-C5ED-470D-827B-AD02F885C1C0}"/>
              </a:ext>
            </a:extLst>
          </p:cNvPr>
          <p:cNvSpPr>
            <a:spLocks xmlns:a="http://schemas.openxmlformats.org/drawingml/2006/main" noGrp="1"/>
          </p:cNvSpPr>
          <p:nvPr/>
        </p:nvSpPr>
        <p:spPr>
          <a:xfrm xmlns:a="http://schemas.openxmlformats.org/drawingml/2006/main">
            <a:off x="800100" y="33337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Đánh giá đúng quy trình</a:t>
            </a:r>
          </a:p>
        </p:txBody>
      </p:sp>
      <p:sp>
        <p:nvSpPr>
          <p:cNvPr id="11" name="">
            <a:extLst xmlns:a="http://schemas.openxmlformats.org/drawingml/2006/main">
              <a:ext uri="{FF2B5EF4-FFF2-40B4-BE49-F238E27FC236}">
                <a16:creationId xmlns:a16="http://schemas.microsoft.com/office/drawing/2014/main" id="{B96FA836-E666-496C-BC61-68FCED95349E}"/>
              </a:ext>
            </a:extLst>
          </p:cNvPr>
          <p:cNvSpPr>
            <a:spLocks xmlns:a="http://schemas.openxmlformats.org/drawingml/2006/main" noGrp="1"/>
          </p:cNvSpPr>
          <p:nvPr/>
        </p:nvSpPr>
        <p:spPr>
          <a:xfrm xmlns:a="http://schemas.openxmlformats.org/drawingml/2006/main">
            <a:off x="800100" y="36195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Chọn bản sửa bằng CV; đối chiếu trên Final Test cũ.</a:t>
            </a:r>
          </a:p>
        </p:txBody>
      </p:sp>
      <p:sp>
        <p:nvSpPr>
          <p:cNvPr id="12" name="">
            <a:extLst xmlns:a="http://schemas.openxmlformats.org/drawingml/2006/main">
              <a:ext uri="{FF2B5EF4-FFF2-40B4-BE49-F238E27FC236}">
                <a16:creationId xmlns:a16="http://schemas.microsoft.com/office/drawing/2014/main" id="{EDD1AB77-5D46-4360-B708-204C181B5446}"/>
              </a:ext>
            </a:extLst>
          </p:cNvPr>
          <p:cNvSpPr>
            <a:spLocks xmlns:a="http://schemas.openxmlformats.org/drawingml/2006/main" noGrp="1"/>
          </p:cNvSpPr>
          <p:nvPr/>
        </p:nvSpPr>
        <p:spPr>
          <a:xfrm xmlns:a="http://schemas.openxmlformats.org/drawingml/2006/main">
            <a:off x="609600" y="440055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111C449A-E352-43D1-A22C-D492C28326A7}"/>
              </a:ext>
            </a:extLst>
          </p:cNvPr>
          <p:cNvSpPr>
            <a:spLocks xmlns:a="http://schemas.openxmlformats.org/drawingml/2006/main" noGrp="1"/>
          </p:cNvSpPr>
          <p:nvPr/>
        </p:nvSpPr>
        <p:spPr>
          <a:xfrm xmlns:a="http://schemas.openxmlformats.org/drawingml/2006/main">
            <a:off x="800100" y="433387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Ứng dụng minh họa</a:t>
            </a:r>
          </a:p>
        </p:txBody>
      </p:sp>
      <p:sp>
        <p:nvSpPr>
          <p:cNvPr id="14" name="">
            <a:extLst xmlns:a="http://schemas.openxmlformats.org/drawingml/2006/main">
              <a:ext uri="{FF2B5EF4-FFF2-40B4-BE49-F238E27FC236}">
                <a16:creationId xmlns:a16="http://schemas.microsoft.com/office/drawing/2014/main" id="{58121E3C-6A75-4D68-95F1-F6CD0BC37B16}"/>
              </a:ext>
            </a:extLst>
          </p:cNvPr>
          <p:cNvSpPr>
            <a:spLocks xmlns:a="http://schemas.openxmlformats.org/drawingml/2006/main" noGrp="1"/>
          </p:cNvSpPr>
          <p:nvPr/>
        </p:nvSpPr>
        <p:spPr>
          <a:xfrm xmlns:a="http://schemas.openxmlformats.org/drawingml/2006/main">
            <a:off x="800100" y="46196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Insight mô tả và dự đoán review theo thời gian thực.</a:t>
            </a:r>
          </a:p>
        </p:txBody>
      </p:sp>
      <p:sp>
        <p:nvSpPr>
          <p:cNvPr id="15" name="">
            <a:extLst xmlns:a="http://schemas.openxmlformats.org/drawingml/2006/main">
              <a:ext uri="{FF2B5EF4-FFF2-40B4-BE49-F238E27FC236}">
                <a16:creationId xmlns:a16="http://schemas.microsoft.com/office/drawing/2014/main" id="{045EAEBB-8058-49D9-88FD-B776B71B3074}"/>
              </a:ext>
            </a:extLst>
          </p:cNvPr>
          <p:cNvSpPr>
            <a:spLocks xmlns:a="http://schemas.openxmlformats.org/drawingml/2006/main" noGrp="1"/>
          </p:cNvSpPr>
          <p:nvPr/>
        </p:nvSpPr>
        <p:spPr>
          <a:xfrm xmlns:a="http://schemas.openxmlformats.org/drawingml/2006/main">
            <a:off x="6096000" y="1714500"/>
            <a:ext cx="9525" cy="33337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60E963B7-E32D-49CB-B143-AA58CA369CD1}"/>
              </a:ext>
            </a:extLst>
          </p:cNvPr>
          <p:cNvSpPr>
            <a:spLocks xmlns:a="http://schemas.openxmlformats.org/drawingml/2006/main" noGrp="1"/>
          </p:cNvSpPr>
          <p:nvPr/>
        </p:nvSpPr>
        <p:spPr>
          <a:xfrm xmlns:a="http://schemas.openxmlformats.org/drawingml/2006/main">
            <a:off x="6572250" y="1762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78A7FF"/>
                </a:solidFill>
                <a:latin typeface="Helvetica Neue"/>
                <a:ea typeface="Helvetica Neue"/>
                <a:cs typeface="Helvetica Neue"/>
              </a:defRPr>
            </a:pPr>
            <a:r>
              <a:rPr sz="1950" b="1">
                <a:solidFill>
                  <a:srgbClr val="78A7FF"/>
                </a:solidFill>
                <a:latin typeface="Helvetica Neue"/>
                <a:ea typeface="Helvetica Neue"/>
                <a:cs typeface="Helvetica Neue"/>
              </a:rPr>
              <a:t>Hướng phát triển</a:t>
            </a:r>
          </a:p>
        </p:txBody>
      </p:sp>
      <p:sp>
        <p:nvSpPr>
          <p:cNvPr id="17" name="">
            <a:extLst xmlns:a="http://schemas.openxmlformats.org/drawingml/2006/main">
              <a:ext uri="{FF2B5EF4-FFF2-40B4-BE49-F238E27FC236}">
                <a16:creationId xmlns:a16="http://schemas.microsoft.com/office/drawing/2014/main" id="{67A0A141-91C4-47F4-AEE5-B91F8E34C07D}"/>
              </a:ext>
            </a:extLst>
          </p:cNvPr>
          <p:cNvSpPr>
            <a:spLocks xmlns:a="http://schemas.openxmlformats.org/drawingml/2006/main" noGrp="1"/>
          </p:cNvSpPr>
          <p:nvPr/>
        </p:nvSpPr>
        <p:spPr>
          <a:xfrm xmlns:a="http://schemas.openxmlformats.org/drawingml/2006/main">
            <a:off x="6572250" y="24003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313EB6A3-970A-4D49-8ED6-C0EDE1819D3D}"/>
              </a:ext>
            </a:extLst>
          </p:cNvPr>
          <p:cNvSpPr>
            <a:spLocks xmlns:a="http://schemas.openxmlformats.org/drawingml/2006/main" noGrp="1"/>
          </p:cNvSpPr>
          <p:nvPr/>
        </p:nvSpPr>
        <p:spPr>
          <a:xfrm xmlns:a="http://schemas.openxmlformats.org/drawingml/2006/main">
            <a:off x="6762750" y="233362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Gán nhãn thủ công</a:t>
            </a:r>
          </a:p>
        </p:txBody>
      </p:sp>
      <p:sp>
        <p:nvSpPr>
          <p:cNvPr id="19" name="">
            <a:extLst xmlns:a="http://schemas.openxmlformats.org/drawingml/2006/main">
              <a:ext uri="{FF2B5EF4-FFF2-40B4-BE49-F238E27FC236}">
                <a16:creationId xmlns:a16="http://schemas.microsoft.com/office/drawing/2014/main" id="{4E99F13B-FA4D-4C1A-AEEA-46149C576B27}"/>
              </a:ext>
            </a:extLst>
          </p:cNvPr>
          <p:cNvSpPr>
            <a:spLocks xmlns:a="http://schemas.openxmlformats.org/drawingml/2006/main" noGrp="1"/>
          </p:cNvSpPr>
          <p:nvPr/>
        </p:nvSpPr>
        <p:spPr>
          <a:xfrm xmlns:a="http://schemas.openxmlformats.org/drawingml/2006/main">
            <a:off x="6762750" y="261937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Tạo tập chuẩn nhỏ để đo mức nhiễu của weak label.</a:t>
            </a:r>
          </a:p>
        </p:txBody>
      </p:sp>
      <p:sp>
        <p:nvSpPr>
          <p:cNvPr id="20" name="">
            <a:extLst xmlns:a="http://schemas.openxmlformats.org/drawingml/2006/main">
              <a:ext uri="{FF2B5EF4-FFF2-40B4-BE49-F238E27FC236}">
                <a16:creationId xmlns:a16="http://schemas.microsoft.com/office/drawing/2014/main" id="{6E0C7FFB-C16E-40C6-B814-33A877846233}"/>
              </a:ext>
            </a:extLst>
          </p:cNvPr>
          <p:cNvSpPr>
            <a:spLocks xmlns:a="http://schemas.openxmlformats.org/drawingml/2006/main" noGrp="1"/>
          </p:cNvSpPr>
          <p:nvPr/>
        </p:nvSpPr>
        <p:spPr>
          <a:xfrm xmlns:a="http://schemas.openxmlformats.org/drawingml/2006/main">
            <a:off x="6572250" y="34004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1B01F60D-451E-4264-BE3B-C707EBEC0829}"/>
              </a:ext>
            </a:extLst>
          </p:cNvPr>
          <p:cNvSpPr>
            <a:spLocks xmlns:a="http://schemas.openxmlformats.org/drawingml/2006/main" noGrp="1"/>
          </p:cNvSpPr>
          <p:nvPr/>
        </p:nvSpPr>
        <p:spPr>
          <a:xfrm xmlns:a="http://schemas.openxmlformats.org/drawingml/2006/main">
            <a:off x="6762750" y="33337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ABSA</a:t>
            </a:r>
          </a:p>
        </p:txBody>
      </p:sp>
      <p:sp>
        <p:nvSpPr>
          <p:cNvPr id="22" name="">
            <a:extLst xmlns:a="http://schemas.openxmlformats.org/drawingml/2006/main">
              <a:ext uri="{FF2B5EF4-FFF2-40B4-BE49-F238E27FC236}">
                <a16:creationId xmlns:a16="http://schemas.microsoft.com/office/drawing/2014/main" id="{6F7066DE-3977-46EB-9D61-A1CAC4651BB6}"/>
              </a:ext>
            </a:extLst>
          </p:cNvPr>
          <p:cNvSpPr>
            <a:spLocks xmlns:a="http://schemas.openxmlformats.org/drawingml/2006/main" noGrp="1"/>
          </p:cNvSpPr>
          <p:nvPr/>
        </p:nvSpPr>
        <p:spPr>
          <a:xfrm xmlns:a="http://schemas.openxmlformats.org/drawingml/2006/main">
            <a:off x="6762750" y="3619500"/>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Phân tích riêng lương, OT, quản lý và môi trường.</a:t>
            </a:r>
          </a:p>
        </p:txBody>
      </p:sp>
      <p:sp>
        <p:nvSpPr>
          <p:cNvPr id="23" name="">
            <a:extLst xmlns:a="http://schemas.openxmlformats.org/drawingml/2006/main">
              <a:ext uri="{FF2B5EF4-FFF2-40B4-BE49-F238E27FC236}">
                <a16:creationId xmlns:a16="http://schemas.microsoft.com/office/drawing/2014/main" id="{11D1D117-5B15-4956-A7CE-FAA0540B1010}"/>
              </a:ext>
            </a:extLst>
          </p:cNvPr>
          <p:cNvSpPr>
            <a:spLocks xmlns:a="http://schemas.openxmlformats.org/drawingml/2006/main" noGrp="1"/>
          </p:cNvSpPr>
          <p:nvPr/>
        </p:nvSpPr>
        <p:spPr>
          <a:xfrm xmlns:a="http://schemas.openxmlformats.org/drawingml/2006/main">
            <a:off x="6572250" y="4400550"/>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B252C026-9F9A-4969-AE87-0D63DC73A8A8}"/>
              </a:ext>
            </a:extLst>
          </p:cNvPr>
          <p:cNvSpPr>
            <a:spLocks xmlns:a="http://schemas.openxmlformats.org/drawingml/2006/main" noGrp="1"/>
          </p:cNvSpPr>
          <p:nvPr/>
        </p:nvSpPr>
        <p:spPr>
          <a:xfrm xmlns:a="http://schemas.openxmlformats.org/drawingml/2006/main">
            <a:off x="6762750" y="43338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Transformer tiếng Việt</a:t>
            </a:r>
          </a:p>
        </p:txBody>
      </p:sp>
      <p:sp>
        <p:nvSpPr>
          <p:cNvPr id="25" name="">
            <a:extLst xmlns:a="http://schemas.openxmlformats.org/drawingml/2006/main">
              <a:ext uri="{FF2B5EF4-FFF2-40B4-BE49-F238E27FC236}">
                <a16:creationId xmlns:a16="http://schemas.microsoft.com/office/drawing/2014/main" id="{AB59635A-6457-4A59-978B-EC99BC3CCBE0}"/>
              </a:ext>
            </a:extLst>
          </p:cNvPr>
          <p:cNvSpPr>
            <a:spLocks xmlns:a="http://schemas.openxmlformats.org/drawingml/2006/main" noGrp="1"/>
          </p:cNvSpPr>
          <p:nvPr/>
        </p:nvSpPr>
        <p:spPr>
          <a:xfrm xmlns:a="http://schemas.openxmlformats.org/drawingml/2006/main">
            <a:off x="6762750" y="4619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Đối sánh với PhoBERT hoặc ViSoBERT khi có tài nguyên.</a:t>
            </a:r>
          </a:p>
        </p:txBody>
      </p:sp>
    </p:spTree>
    <p:extLst>
      <p:ext uri="{BB962C8B-B14F-4D97-AF65-F5344CB8AC3E}">
        <p14:creationId xmlns:p14="http://schemas.microsoft.com/office/powerpoint/2010/main" val="595824234"/>
      </p:ext>
    </p:extLst>
  </p:cSld>
</p:sld>
</file>

<file path=ppt/slides/slide1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15712C-2742-4EB7-A2C4-C92AB2BA7B5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17 · LIVE DEMO</a:t>
            </a:r>
          </a:p>
        </p:txBody>
      </p:sp>
      <p:sp>
        <p:nvSpPr>
          <p:cNvPr id="2" name="">
            <a:extLst xmlns:a="http://schemas.openxmlformats.org/drawingml/2006/main">
              <a:ext uri="{FF2B5EF4-FFF2-40B4-BE49-F238E27FC236}">
                <a16:creationId xmlns:a16="http://schemas.microsoft.com/office/drawing/2014/main" id="{E2502E18-F688-45F1-9D26-3DFAFE4F0913}"/>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Live demo hệ thống phân tích cảm xúc</a:t>
            </a:r>
          </a:p>
        </p:txBody>
      </p:sp>
      <p:sp>
        <p:nvSpPr>
          <p:cNvPr id="3" name="">
            <a:extLst xmlns:a="http://schemas.openxmlformats.org/drawingml/2006/main">
              <a:ext uri="{FF2B5EF4-FFF2-40B4-BE49-F238E27FC236}">
                <a16:creationId xmlns:a16="http://schemas.microsoft.com/office/drawing/2014/main" id="{EC13C0C8-BA75-431D-A55E-AA8EF191C459}"/>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1E33A76E-4461-4517-A781-0AFB57FAE6B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18 / 18</a:t>
            </a:r>
          </a:p>
        </p:txBody>
      </p:sp>
      <p:sp>
        <p:nvSpPr>
          <p:cNvPr id="5" name="">
            <a:extLst xmlns:a="http://schemas.openxmlformats.org/drawingml/2006/main">
              <a:ext uri="{FF2B5EF4-FFF2-40B4-BE49-F238E27FC236}">
                <a16:creationId xmlns:a16="http://schemas.microsoft.com/office/drawing/2014/main" id="{C661BA99-CB6B-41C3-BD3F-7FF700308E7A}"/>
              </a:ext>
            </a:extLst>
          </p:cNvPr>
          <p:cNvSpPr>
            <a:spLocks xmlns:a="http://schemas.openxmlformats.org/drawingml/2006/main" noGrp="1"/>
          </p:cNvSpPr>
          <p:nvPr/>
        </p:nvSpPr>
        <p:spPr>
          <a:xfrm xmlns:a="http://schemas.openxmlformats.org/drawingml/2006/main">
            <a:off x="704850" y="1866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NGƯỜI TRÌNH BÀY</a:t>
            </a:r>
          </a:p>
        </p:txBody>
      </p:sp>
      <p:sp>
        <p:nvSpPr>
          <p:cNvPr id="6" name="">
            <a:extLst xmlns:a="http://schemas.openxmlformats.org/drawingml/2006/main">
              <a:ext uri="{FF2B5EF4-FFF2-40B4-BE49-F238E27FC236}">
                <a16:creationId xmlns:a16="http://schemas.microsoft.com/office/drawing/2014/main" id="{638F318A-5DB9-4090-BD81-F34ABCB81E81}"/>
              </a:ext>
            </a:extLst>
          </p:cNvPr>
          <p:cNvSpPr>
            <a:spLocks xmlns:a="http://schemas.openxmlformats.org/drawingml/2006/main" noGrp="1"/>
          </p:cNvSpPr>
          <p:nvPr/>
        </p:nvSpPr>
        <p:spPr>
          <a:xfrm xmlns:a="http://schemas.openxmlformats.org/drawingml/2006/main">
            <a:off x="704850" y="2209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45D9A0"/>
                </a:solidFill>
                <a:latin typeface="Helvetica Neue"/>
                <a:ea typeface="Helvetica Neue"/>
                <a:cs typeface="Helvetica Neue"/>
              </a:defRPr>
            </a:pPr>
            <a:r>
              <a:rPr sz="2850" b="1">
                <a:solidFill>
                  <a:srgbClr val="45D9A0"/>
                </a:solidFill>
                <a:latin typeface="Helvetica Neue"/>
                <a:ea typeface="Helvetica Neue"/>
                <a:cs typeface="Helvetica Neue"/>
              </a:rPr>
              <a:t>NGUYỄN DUY KHANG</a:t>
            </a:r>
          </a:p>
        </p:txBody>
      </p:sp>
      <p:sp>
        <p:nvSpPr>
          <p:cNvPr id="7" name="">
            <a:extLst xmlns:a="http://schemas.openxmlformats.org/drawingml/2006/main">
              <a:ext uri="{FF2B5EF4-FFF2-40B4-BE49-F238E27FC236}">
                <a16:creationId xmlns:a16="http://schemas.microsoft.com/office/drawing/2014/main" id="{7274BEB1-638E-40BB-80DB-F62D354051A8}"/>
              </a:ext>
            </a:extLst>
          </p:cNvPr>
          <p:cNvSpPr>
            <a:spLocks xmlns:a="http://schemas.openxmlformats.org/drawingml/2006/main" noGrp="1"/>
          </p:cNvSpPr>
          <p:nvPr/>
        </p:nvSpPr>
        <p:spPr>
          <a:xfrm xmlns:a="http://schemas.openxmlformats.org/drawingml/2006/main">
            <a:off x="704850" y="2952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Minh họa cách một review mới đi qua pipeline đã huấn luyện</a:t>
            </a:r>
          </a:p>
        </p:txBody>
      </p:sp>
      <p:sp>
        <p:nvSpPr>
          <p:cNvPr id="8" name="">
            <a:extLst xmlns:a="http://schemas.openxmlformats.org/drawingml/2006/main">
              <a:ext uri="{FF2B5EF4-FFF2-40B4-BE49-F238E27FC236}">
                <a16:creationId xmlns:a16="http://schemas.microsoft.com/office/drawing/2014/main" id="{583FE3D4-5456-485E-9E76-0B7CA3FB7F99}"/>
              </a:ext>
            </a:extLst>
          </p:cNvPr>
          <p:cNvSpPr>
            <a:spLocks xmlns:a="http://schemas.openxmlformats.org/drawingml/2006/main" noGrp="1"/>
          </p:cNvSpPr>
          <p:nvPr/>
        </p:nvSpPr>
        <p:spPr>
          <a:xfrm xmlns:a="http://schemas.openxmlformats.org/drawingml/2006/main">
            <a:off x="5857875" y="1714500"/>
            <a:ext cx="9525" cy="342900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DF044697-FC5A-4C6A-B305-4D7400DB5B13}"/>
              </a:ext>
            </a:extLst>
          </p:cNvPr>
          <p:cNvSpPr>
            <a:spLocks xmlns:a="http://schemas.openxmlformats.org/drawingml/2006/main" noGrp="1"/>
          </p:cNvSpPr>
          <p:nvPr/>
        </p:nvSpPr>
        <p:spPr>
          <a:xfrm xmlns:a="http://schemas.openxmlformats.org/drawingml/2006/main">
            <a:off x="6334125" y="1733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78A7FF"/>
                </a:solidFill>
                <a:latin typeface="Helvetica Neue"/>
                <a:ea typeface="Helvetica Neue"/>
                <a:cs typeface="Helvetica Neue"/>
              </a:defRPr>
            </a:pPr>
            <a:r>
              <a:rPr sz="1800" b="1">
                <a:solidFill>
                  <a:srgbClr val="78A7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F0BABBAC-7233-46B0-8D59-52B08A469B49}"/>
              </a:ext>
            </a:extLst>
          </p:cNvPr>
          <p:cNvSpPr>
            <a:spLocks xmlns:a="http://schemas.openxmlformats.org/drawingml/2006/main" noGrp="1"/>
          </p:cNvSpPr>
          <p:nvPr/>
        </p:nvSpPr>
        <p:spPr>
          <a:xfrm xmlns:a="http://schemas.openxmlformats.org/drawingml/2006/main">
            <a:off x="7143750" y="17335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Chọn review mẫu</a:t>
            </a:r>
          </a:p>
        </p:txBody>
      </p:sp>
      <p:sp>
        <p:nvSpPr>
          <p:cNvPr id="11" name="">
            <a:extLst xmlns:a="http://schemas.openxmlformats.org/drawingml/2006/main">
              <a:ext uri="{FF2B5EF4-FFF2-40B4-BE49-F238E27FC236}">
                <a16:creationId xmlns:a16="http://schemas.microsoft.com/office/drawing/2014/main" id="{1F150731-FD58-4262-9514-CFB1F824DBB8}"/>
              </a:ext>
            </a:extLst>
          </p:cNvPr>
          <p:cNvSpPr>
            <a:spLocks xmlns:a="http://schemas.openxmlformats.org/drawingml/2006/main" noGrp="1"/>
          </p:cNvSpPr>
          <p:nvPr/>
        </p:nvSpPr>
        <p:spPr>
          <a:xfrm xmlns:a="http://schemas.openxmlformats.org/drawingml/2006/main">
            <a:off x="7143750" y="20955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Bấm mẫu “Nhiều vế” có sẵn trong ứng dụng</a:t>
            </a:r>
          </a:p>
        </p:txBody>
      </p:sp>
      <p:sp>
        <p:nvSpPr>
          <p:cNvPr id="12" name="">
            <a:extLst xmlns:a="http://schemas.openxmlformats.org/drawingml/2006/main">
              <a:ext uri="{FF2B5EF4-FFF2-40B4-BE49-F238E27FC236}">
                <a16:creationId xmlns:a16="http://schemas.microsoft.com/office/drawing/2014/main" id="{EB2080AB-3FF7-45CB-80A4-13C5EEFD9F50}"/>
              </a:ext>
            </a:extLst>
          </p:cNvPr>
          <p:cNvSpPr>
            <a:spLocks xmlns:a="http://schemas.openxmlformats.org/drawingml/2006/main" noGrp="1"/>
          </p:cNvSpPr>
          <p:nvPr/>
        </p:nvSpPr>
        <p:spPr>
          <a:xfrm xmlns:a="http://schemas.openxmlformats.org/drawingml/2006/main">
            <a:off x="6334125" y="29527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9B50FE4-56CE-48BB-973F-FA7526673443}"/>
              </a:ext>
            </a:extLst>
          </p:cNvPr>
          <p:cNvSpPr>
            <a:spLocks xmlns:a="http://schemas.openxmlformats.org/drawingml/2006/main" noGrp="1"/>
          </p:cNvSpPr>
          <p:nvPr/>
        </p:nvSpPr>
        <p:spPr>
          <a:xfrm xmlns:a="http://schemas.openxmlformats.org/drawingml/2006/main">
            <a:off x="7143750" y="2952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Quan sát dự đoán</a:t>
            </a:r>
          </a:p>
        </p:txBody>
      </p:sp>
      <p:sp>
        <p:nvSpPr>
          <p:cNvPr id="14" name="">
            <a:extLst xmlns:a="http://schemas.openxmlformats.org/drawingml/2006/main">
              <a:ext uri="{FF2B5EF4-FFF2-40B4-BE49-F238E27FC236}">
                <a16:creationId xmlns:a16="http://schemas.microsoft.com/office/drawing/2014/main" id="{8634915B-2043-4A6B-A37E-E68D41D84F7D}"/>
              </a:ext>
            </a:extLst>
          </p:cNvPr>
          <p:cNvSpPr>
            <a:spLocks xmlns:a="http://schemas.openxmlformats.org/drawingml/2006/main" noGrp="1"/>
          </p:cNvSpPr>
          <p:nvPr/>
        </p:nvSpPr>
        <p:spPr>
          <a:xfrm xmlns:a="http://schemas.openxmlformats.org/drawingml/2006/main">
            <a:off x="7143750" y="33147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Đọc nhãn cảm xúc và xác suất của ba lớp</a:t>
            </a:r>
          </a:p>
        </p:txBody>
      </p:sp>
      <p:sp>
        <p:nvSpPr>
          <p:cNvPr id="15" name="">
            <a:extLst xmlns:a="http://schemas.openxmlformats.org/drawingml/2006/main">
              <a:ext uri="{FF2B5EF4-FFF2-40B4-BE49-F238E27FC236}">
                <a16:creationId xmlns:a16="http://schemas.microsoft.com/office/drawing/2014/main" id="{7890A6AE-665C-4996-9E6F-2CE12D8D82E9}"/>
              </a:ext>
            </a:extLst>
          </p:cNvPr>
          <p:cNvSpPr>
            <a:spLocks xmlns:a="http://schemas.openxmlformats.org/drawingml/2006/main" noGrp="1"/>
          </p:cNvSpPr>
          <p:nvPr/>
        </p:nvSpPr>
        <p:spPr>
          <a:xfrm xmlns:a="http://schemas.openxmlformats.org/drawingml/2006/main">
            <a:off x="6334125" y="41719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F4D35E"/>
                </a:solidFill>
                <a:latin typeface="Helvetica Neue"/>
                <a:ea typeface="Helvetica Neue"/>
                <a:cs typeface="Helvetica Neue"/>
              </a:defRPr>
            </a:pPr>
            <a:r>
              <a:rPr sz="1800" b="1">
                <a:solidFill>
                  <a:srgbClr val="F4D35E"/>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809D6831-FB8F-4192-A7A4-1BF9BD30C27F}"/>
              </a:ext>
            </a:extLst>
          </p:cNvPr>
          <p:cNvSpPr>
            <a:spLocks xmlns:a="http://schemas.openxmlformats.org/drawingml/2006/main" noGrp="1"/>
          </p:cNvSpPr>
          <p:nvPr/>
        </p:nvSpPr>
        <p:spPr>
          <a:xfrm xmlns:a="http://schemas.openxmlformats.org/drawingml/2006/main">
            <a:off x="7143750" y="41719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Kiểm tra đầu vào</a:t>
            </a:r>
          </a:p>
        </p:txBody>
      </p:sp>
      <p:sp>
        <p:nvSpPr>
          <p:cNvPr id="17" name="">
            <a:extLst xmlns:a="http://schemas.openxmlformats.org/drawingml/2006/main">
              <a:ext uri="{FF2B5EF4-FFF2-40B4-BE49-F238E27FC236}">
                <a16:creationId xmlns:a16="http://schemas.microsoft.com/office/drawing/2014/main" id="{15C04EAE-75CF-493F-B11A-2FDE4FE34CA9}"/>
              </a:ext>
            </a:extLst>
          </p:cNvPr>
          <p:cNvSpPr>
            <a:spLocks xmlns:a="http://schemas.openxmlformats.org/drawingml/2006/main" noGrp="1"/>
          </p:cNvSpPr>
          <p:nvPr/>
        </p:nvSpPr>
        <p:spPr>
          <a:xfrm xmlns:a="http://schemas.openxmlformats.org/drawingml/2006/main">
            <a:off x="7143750" y="45339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Xem văn bản sau tiền xử lý và các token TF-IDF nổi bật</a:t>
            </a:r>
          </a:p>
        </p:txBody>
      </p:sp>
      <p:sp>
        <p:nvSpPr>
          <p:cNvPr id="18" name="">
            <a:extLst xmlns:a="http://schemas.openxmlformats.org/drawingml/2006/main">
              <a:ext uri="{FF2B5EF4-FFF2-40B4-BE49-F238E27FC236}">
                <a16:creationId xmlns:a16="http://schemas.microsoft.com/office/drawing/2014/main" id="{3DCF2161-5E9B-4CAA-B2E3-ADACB66E26CC}"/>
              </a:ext>
            </a:extLst>
          </p:cNvPr>
          <p:cNvSpPr>
            <a:spLocks xmlns:a="http://schemas.openxmlformats.org/drawingml/2006/main" noGrp="1"/>
          </p:cNvSpPr>
          <p:nvPr/>
        </p:nvSpPr>
        <p:spPr>
          <a:xfrm xmlns:a="http://schemas.openxmlformats.org/drawingml/2006/main">
            <a:off x="704850" y="5905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45D9A0"/>
                </a:solidFill>
                <a:latin typeface="Helvetica Neue"/>
                <a:ea typeface="Helvetica Neue"/>
                <a:cs typeface="Helvetica Neue"/>
              </a:defRPr>
            </a:pPr>
            <a:r>
              <a:rPr sz="1500" b="0">
                <a:solidFill>
                  <a:srgbClr val="45D9A0"/>
                </a:solidFill>
                <a:latin typeface="Helvetica Neue"/>
                <a:ea typeface="Helvetica Neue"/>
                <a:cs typeface="Helvetica Neue"/>
              </a:rPr>
              <a:t>Sau trang này, nhóm chuyển sang ứng dụng Streamlit để thao tác trực tiếp.</a:t>
            </a:r>
          </a:p>
        </p:txBody>
      </p:sp>
    </p:spTree>
    <p:extLst>
      <p:ext uri="{BB962C8B-B14F-4D97-AF65-F5344CB8AC3E}">
        <p14:creationId xmlns:p14="http://schemas.microsoft.com/office/powerpoint/2010/main" val="242390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2026-09-27T18:10:39.6960000Z</dcterms:created>
  <dcterms:modified xsi:type="dcterms:W3CDTF">2026-09-27T18:10:39.6960000Z</dcterms:modified>
</coreProperties>
</file>