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CV Macro F1</c:v>
                </c:pt>
              </c:strCache>
            </c:strRef>
          </c:tx>
          <c:dPt>
            <c:idx val="0"/>
            <c:spPr>
              <a:solidFill>
                <a:srgbClr val="50E3A4"/>
              </a:solidFill>
            </c:spPr>
          </c:dPt>
          <c:dPt>
            <c:idx val="1"/>
            <c:spPr>
              <a:solidFill>
                <a:srgbClr val="4C689D"/>
              </a:solidFill>
            </c:spPr>
          </c:dPt>
          <c:dPt>
            <c:idx val="2"/>
            <c:spPr>
              <a:solidFill>
                <a:srgbClr val="4C689D"/>
              </a:solidFill>
            </c:spPr>
          </c:dPt>
          <c:dPt>
            <c:idx val="3"/>
            <c:spPr>
              <a:solidFill>
                <a:srgbClr val="4C689D"/>
              </a:solidFill>
            </c:spPr>
          </c:dPt>
          <c:dPt>
            <c:idx val="4"/>
            <c:spPr>
              <a:solidFill>
                <a:srgbClr val="4C689D"/>
              </a:solidFill>
            </c:spPr>
          </c:dPt>
          <c:cat>
            <c:strRef>
              <c:f>Sheet1!$A$2:$A$6</c:f>
              <c:strCache>
                <c:ptCount val="5"/>
                <c:pt idx="0">
                  <c:v>Logistic Regression</c:v>
                </c:pt>
                <c:pt idx="1">
                  <c:v>Linear SVM</c:v>
                </c:pt>
                <c:pt idx="2">
                  <c:v>Random Forest</c:v>
                </c:pt>
                <c:pt idx="3">
                  <c:v>Stacking Ensemble</c:v>
                </c:pt>
                <c:pt idx="4">
                  <c:v>Multinomial Naive Bayes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0.5727</c:v>
                </c:pt>
                <c:pt idx="1">
                  <c:v>0.5724</c:v>
                </c:pt>
                <c:pt idx="2">
                  <c:v>0.5664</c:v>
                </c:pt>
                <c:pt idx="3">
                  <c:v>0.556</c:v>
                </c:pt>
                <c:pt idx="4">
                  <c:v>0.5534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sz="1300" b="1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A3444"/>
            </a:solidFill>
          </a:ln>
        </c:spPr>
        <c:txPr>
          <a:bodyPr/>
          <a:lstStyle/>
          <a:p>
            <a:pPr>
              <a:defRPr>
                <a:solidFill>
                  <a:srgbClr val="F1F5F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6"/>
          <c:min val="0.5"/>
        </c:scaling>
        <c:delete val="0"/>
        <c:axPos val="b"/>
        <c:majorGridlines>
          <c:spPr>
            <a:ln w="6350">
              <a:solidFill>
                <a:srgbClr val="2A3444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9EABBA"/>
                </a:solidFill>
              </a:defRPr>
            </a:pPr>
          </a:p>
        </c:txPr>
        <c:crossAx val="-2068027336"/>
        <c:crosses val="autoZero"/>
        <c:majorUnit val="0.02"/>
      </c:valAx>
    </c:plotArea>
    <c:dispBlanksAs val="gap"/>
  </c:chart>
  <c:txPr>
    <a:bodyPr/>
    <a:lstStyle/>
    <a:p>
      <a:pPr>
        <a:defRPr sz="1200">
          <a:solidFill>
            <a:srgbClr val="9EABB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Positive</c:v>
                </c:pt>
              </c:strCache>
            </c:strRef>
          </c:tx>
          <c:spPr>
            <a:solidFill>
              <a:srgbClr val="50E3A4"/>
            </a:solidFill>
          </c:spPr>
          <c:cat>
            <c:strRef>
              <c:f>Sheet1!$A$2:$A$6</c:f>
              <c:strCache>
                <c:ptCount val="5"/>
                <c:pt idx="0">
                  <c:v>KMS</c:v>
                </c:pt>
                <c:pt idx="1">
                  <c:v>VNG</c:v>
                </c:pt>
                <c:pt idx="2">
                  <c:v>NashTech</c:v>
                </c:pt>
                <c:pt idx="3">
                  <c:v>FPT</c:v>
                </c:pt>
                <c:pt idx="4">
                  <c:v>Bosch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</c:v>
                </c:pt>
                <c:pt idx="1">
                  <c:v>75.7</c:v>
                </c:pt>
                <c:pt idx="2">
                  <c:v>69.2</c:v>
                </c:pt>
                <c:pt idx="3">
                  <c:v>57.7</c:v>
                </c:pt>
                <c:pt idx="4">
                  <c:v>39.6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Neutral</c:v>
                </c:pt>
              </c:strCache>
            </c:strRef>
          </c:tx>
          <c:spPr>
            <a:solidFill>
              <a:srgbClr val="F4D35E"/>
            </a:solidFill>
          </c:spPr>
          <c:cat>
            <c:strRef>
              <c:f>Sheet1!$A$2:$A$6</c:f>
              <c:strCache>
                <c:ptCount val="5"/>
                <c:pt idx="0">
                  <c:v>KMS</c:v>
                </c:pt>
                <c:pt idx="1">
                  <c:v>VNG</c:v>
                </c:pt>
                <c:pt idx="2">
                  <c:v>NashTech</c:v>
                </c:pt>
                <c:pt idx="3">
                  <c:v>FPT</c:v>
                </c:pt>
                <c:pt idx="4">
                  <c:v>Bosch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14.7</c:v>
                </c:pt>
                <c:pt idx="1">
                  <c:v>21.6</c:v>
                </c:pt>
                <c:pt idx="2">
                  <c:v>26.3</c:v>
                </c:pt>
                <c:pt idx="3">
                  <c:v>33.4</c:v>
                </c:pt>
                <c:pt idx="4">
                  <c:v>45.0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Negative</c:v>
                </c:pt>
              </c:strCache>
            </c:strRef>
          </c:tx>
          <c:spPr>
            <a:solidFill>
              <a:srgbClr val="FF6677"/>
            </a:solidFill>
          </c:spPr>
          <c:cat>
            <c:strRef>
              <c:f>Sheet1!$A$2:$A$6</c:f>
              <c:strCache>
                <c:ptCount val="5"/>
                <c:pt idx="0">
                  <c:v>KMS</c:v>
                </c:pt>
                <c:pt idx="1">
                  <c:v>VNG</c:v>
                </c:pt>
                <c:pt idx="2">
                  <c:v>NashTech</c:v>
                </c:pt>
                <c:pt idx="3">
                  <c:v>FPT</c:v>
                </c:pt>
                <c:pt idx="4">
                  <c:v>Bosch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4.8</c:v>
                </c:pt>
                <c:pt idx="1">
                  <c:v>2.7</c:v>
                </c:pt>
                <c:pt idx="2">
                  <c:v>4.5</c:v>
                </c:pt>
                <c:pt idx="3">
                  <c:v>8.9</c:v>
                </c:pt>
                <c:pt idx="4">
                  <c:v>15.5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 b="1">
                  <a:solidFill>
                    <a:srgbClr val="080B10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A3444"/>
            </a:solidFill>
          </a:ln>
        </c:spPr>
        <c:txPr>
          <a:bodyPr/>
          <a:lstStyle/>
          <a:p>
            <a:pPr>
              <a:defRPr>
                <a:solidFill>
                  <a:srgbClr val="F1F5F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2A344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9EABBA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9EABBA"/>
              </a:solidFill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9EABB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TF-IDF</c:v>
                </c:pt>
              </c:strCache>
            </c:strRef>
          </c:tx>
          <c:spPr>
            <a:solidFill>
              <a:srgbClr val="FF6677"/>
            </a:solidFill>
          </c:spPr>
          <c:cat>
            <c:strRef>
              <c:f>Sheet1!$A$2:$A$8</c:f>
              <c:strCache>
                <c:ptCount val="7"/>
                <c:pt idx="0">
                  <c:v>thường_xuyên không</c:v>
                </c:pt>
                <c:pt idx="1">
                  <c:v>minh_bạch</c:v>
                </c:pt>
                <c:pt idx="2">
                  <c:v>thường_xuyên</c:v>
                </c:pt>
                <c:pt idx="3">
                  <c:v>không lương</c:v>
                </c:pt>
                <c:pt idx="4">
                  <c:v>quản_lý</c:v>
                </c:pt>
                <c:pt idx="5">
                  <c:v>lương</c:v>
                </c:pt>
                <c:pt idx="6">
                  <c:v>không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0.605</c:v>
                </c:pt>
                <c:pt idx="1">
                  <c:v>0.438</c:v>
                </c:pt>
                <c:pt idx="2">
                  <c:v>0.366</c:v>
                </c:pt>
                <c:pt idx="3">
                  <c:v>0.351</c:v>
                </c:pt>
                <c:pt idx="4">
                  <c:v>0.31</c:v>
                </c:pt>
                <c:pt idx="5">
                  <c:v>0.27</c:v>
                </c:pt>
                <c:pt idx="6">
                  <c:v>0.126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200" b="1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A3444"/>
            </a:solidFill>
          </a:ln>
        </c:spPr>
        <c:txPr>
          <a:bodyPr/>
          <a:lstStyle/>
          <a:p>
            <a:pPr>
              <a:defRPr>
                <a:solidFill>
                  <a:srgbClr val="F1F5F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b"/>
        <c:majorGridlines>
          <c:spPr>
            <a:ln w="6350">
              <a:solidFill>
                <a:srgbClr val="2A3444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9EABBA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9EABB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20s (0:20)]</a:t>
            </a:r>
          </a:p>
          <a:p>
            <a:r>
              <a:t>Chào Hội đồng. Giới thiệu đề tài, nhóm và GVHD. Nêu nhanh: 8.417 review ITviec, phân loại 3 lớp cảm xúc, có demo web. (~20s)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40s (0:40)]</a:t>
            </a:r>
          </a:p>
          <a:p>
            <a:r>
              <a:t>Nhà tuyển dụng/ứng viên cần đọc hàng nghìn review. Mục tiêu: tự động gán nhãn cảm xúc. Điểm khó nhất là mất cân bằng 11:1, kế đến teencode, trộn Anh-Việt, và review vừa khen vừa chê. (~40s)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30s (0:30)]</a:t>
            </a:r>
          </a:p>
          <a:p>
            <a:r>
              <a:t>Toàn bộ luồng: thu thập → tiền xử lý → TF-IDF → huấn luyện 5 mô hình có SMOTE → đóng gói thành web Streamlit. (~30s)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50s (0:50)]</a:t>
            </a:r>
          </a:p>
          <a:p>
            <a:r>
              <a:t>Năm bước: chuẩn hóa Unicode NFC, xử lý emoji/emojicon, sửa teencode, tách từ bằng underthesea, lọc từ dừng. Ví dụ bên phải cho thấy câu thô thành chuỗi token sạch. (~50s)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50s (0:50)]</a:t>
            </a:r>
          </a:p>
          <a:p>
            <a:r>
              <a:t>8.417 review; 73,8% tích cực, 19,5% trung tính, 6,8% tiêu cực. Độ dài review lệch phải. Các khía cạnh đánh giá tương quan dương với nhau, cho thấy hiệu ứng halo khiến nhãn theo sao nhiễu. (~50s)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50s (0:50)]</a:t>
            </a:r>
          </a:p>
          <a:p>
            <a:r>
              <a:t>Cấu hình TF-IDF: ngram (1,2), sublinear_tf, 5.000 đặc trưng. Chia Stratified 80/20: 6.734 train (Development), 1.683 test khóa. Khóa tập test trước, mọi tuning chỉ trên Development. (~50s)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55s (0:55)]</a:t>
            </a:r>
          </a:p>
          <a:p>
            <a:r>
              <a:t>Năm mô hình: Naive Bayes, Logistic Regression, Linear SVM, Random Forest, Stacking. Mất cân bằng xử lý bằng class_weight hoặc SMOTE. Điểm mấu chốt: SMOTE bọc trong Pipeline, chỉ áp dụng trên fold train của mỗi lần CV nên fold validation không bị rò rỉ. (~55s)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45s (0:45)]</a:t>
            </a:r>
          </a:p>
          <a:p>
            <a:r>
              <a:t>Xếp hạng theo Macro F1 của Stratified 5-fold CV. Logistic Regression (C=1.0, SMOTE) cao nhất 0,5727, sát Linear SVM 0,5724 nhưng LR trả xác suất trực tiếp nên được chọn cho demo. Stacking không giúp vì các base learner tương quan lỗi. (~45s)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60s (1:00)]</a:t>
            </a:r>
          </a:p>
          <a:p>
            <a:r>
              <a:t>Chạy đúng một lần trên 1.683 mẫu khóa: Accuracy 73,74%, Macro F1 0,5714 — khớp CV 0,5727 nên không overfit. Nhưng Accuracy cao vì lớp Positive chiếm áp đảo; Macro F1 mới phản ánh thực: Negative F1 chỉ 0,38. Đây là bẫy Accuracy. (~60s)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50s (0:50)]</a:t>
            </a:r>
          </a:p>
          <a:p>
            <a:r>
              <a:t>442 trên 1.683 mẫu sai (26,3%). Phân tích 15 ca điển hình cho ba nhóm: review nhiều vế khen chê đan xen khiến tín hiệu tích cực đầu review lấn át; nhãn nhiễu do rating sao; review ngắn thiếu ngữ cảnh. (~50s)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55s (0:55)]</a:t>
            </a:r>
          </a:p>
          <a:p>
            <a:r>
              <a:t>WordCloud cho thấy khen: môi trường, đồng nghiệp, học hỏi; chê: OT, lương, quản lý. So sánh 5 công ty: KMS và VNG có tỉ lệ tích cực cao nhất, Bosch thấp nhất với 15% tiêu cực. (~55s)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60s (1:00)]</a:t>
            </a:r>
          </a:p>
          <a:p>
            <a:r>
              <a:t>Giới thiệu 5 trang. Chuyển sang LIVE DEMO hoặc mở video: trang Dự đoán real-time, nhập câu review khó và cho thấy nhãn cùng token kích hoạt. Nếu thiếu thời gian, chỉ demo trang Dự đoán. (~60s)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65s (1:05)]</a:t>
            </a:r>
          </a:p>
          <a:p>
            <a:r>
              <a:t>Với câu khó, mô hình xuất Negative 77,3%. Các token TF-IDF mạnh nhất là “thường_xuyên không”, “minh_bạch”, “thường_xuyên”, “không lương”, “quản_lý” — đều là cụm than phiền. Bigram giúp bắt cụm phủ định mà unigram bỏ sót. Đây là tính diễn giải của mô hình tuyến tính. (~65s)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55s (0:55)]</a:t>
            </a:r>
          </a:p>
          <a:p>
            <a:r>
              <a:t>Thành tựu: pipeline hoàn chỉnh, đánh giá không rò rỉ, app chạy được. Bài học: với dữ liệu lệch phải dùng Macro F1, SMOTE đặt trong Pipeline, khóa tập test. Hạn chế: nhãn nhiễu theo sao, Neutral khó, chưa hiểu ngữ cảnh sâu. (~55s)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[Thời lượng mục tiêu: 35s (0:35)]</a:t>
            </a:r>
          </a:p>
          <a:p>
            <a:r>
              <a:t>Tóm tắt: đã xây dựng hệ thống phân tích cảm xúc ITviec hoàn chỉnh. Hướng mở rộng: ABSA phân tích theo khía cạnh, LLM/transformer tiếng Việt. Cảm ơn GVHD và Hội đồng; mời Q&amp;A / live demo. (~35s)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2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0" y="91440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153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0" y="2048256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21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412480" y="2615184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2A3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0" y="3182112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1D2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0" y="374903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F2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0" y="4882896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21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79407" y="2048256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341B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79407" y="2615184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F2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79407" y="374903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2119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9407" y="4315968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341B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546336" y="91440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52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46336" y="1481328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2A3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546336" y="374903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341B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46336" y="4882896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34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46336" y="5449824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1E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113263" y="1481328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4F4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113263" y="2048256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4F4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113263" y="2615184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21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113263" y="3182112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2119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113263" y="4315968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34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113263" y="4882896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2A3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680192" y="1481328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4F4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680192" y="2048256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2119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680192" y="374903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131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680192" y="4882896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52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247119" y="91440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523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247119" y="1481328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34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247119" y="2048256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1D2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247119" y="2615184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201F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247119" y="374903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2119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1247119" y="4315968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523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247119" y="4882896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153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" y="914400"/>
            <a:ext cx="3749039" cy="310896"/>
          </a:xfrm>
          <a:prstGeom prst="roundRect">
            <a:avLst>
              <a:gd name="adj" fmla="val 50000"/>
            </a:avLst>
          </a:prstGeom>
          <a:solidFill>
            <a:srgbClr val="1A2436"/>
          </a:solidFill>
          <a:ln w="9525">
            <a:solidFill>
              <a:srgbClr val="4159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7AA7FF"/>
                </a:solidFill>
                <a:latin typeface="Consolas"/>
              </a:rPr>
              <a:t>ĐỒ ÁN MÔN HỌC MÁY HỌC  ·  UIT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600200"/>
            <a:ext cx="7498079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1F5F9"/>
                </a:solidFill>
                <a:latin typeface="Calibri"/>
              </a:rPr>
              <a:t>PHÂN TÍCH CẢM XÚC</a:t>
            </a:r>
          </a:p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1F5F9"/>
                </a:solidFill>
                <a:latin typeface="Calibri"/>
              </a:rPr>
              <a:t>ĐÁNH GIÁ CÔNG TY </a:t>
            </a:r>
            <a:r>
              <a:rPr sz="4400" b="1" i="0">
                <a:solidFill>
                  <a:srgbClr val="50E3A4"/>
                </a:solidFill>
                <a:latin typeface="Calibri"/>
              </a:rPr>
              <a:t>ITVIEC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42900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9EABBA"/>
                </a:solidFill>
                <a:latin typeface="Calibri"/>
              </a:rPr>
              <a:t>Sentiment Analysis 3 lớp (Negative · Neutral · Positive) với TF-IDF và các mô hình Machine Learning cổ điển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7498079" cy="150876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59" y="466344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A7FF"/>
                </a:solidFill>
                <a:latin typeface="Consolas"/>
              </a:rPr>
              <a:t>GIẢNG VIÊN HƯỚNG DẪN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" y="4956048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[Điền tên GVHD]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59" y="53492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A7FF"/>
                </a:solidFill>
                <a:latin typeface="Consolas"/>
              </a:rPr>
              <a:t>NHÓM THỰC HIỆN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59" y="5641848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Hoàng Hôn  ·  Văn Duy  ·  Duy Khang  ·  Thành Trung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AA7FF"/>
                </a:solidFill>
                <a:latin typeface="Consolas"/>
              </a:rPr>
              <a:t>01 · ĐẶT VẤN ĐỀ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Bài toán &amp; thách thức dữ liệu ITviec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alibri"/>
              </a:rPr>
              <a:t>ITviec Sentiment Analysis  ·  Nhóm Máy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EABBA"/>
                </a:solidFill>
                <a:latin typeface="Consolas"/>
              </a:rPr>
              <a:t>02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657600" cy="452628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7451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94F"/>
                </a:solidFill>
                <a:latin typeface="Consolas"/>
              </a:rPr>
              <a:t>MẤT CÂN BẰNG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8600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FF994F"/>
                </a:solidFill>
                <a:latin typeface="Consolas"/>
              </a:rPr>
              <a:t>11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EABBA"/>
                </a:solidFill>
                <a:latin typeface="Calibri"/>
              </a:rPr>
              <a:t>Positive so với Negative trên 8.417 review — Accuracy dễ đánh lừa, cần Macro F1.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572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alibri"/>
              </a:rPr>
              <a:t>Positive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37360" y="4608576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737360" y="4608576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4572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0E3A4"/>
                </a:solidFill>
                <a:latin typeface="Consolas"/>
              </a:rPr>
              <a:t>73.8%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50749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alibri"/>
              </a:rPr>
              <a:t>Neutral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5111496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737360" y="5111496"/>
            <a:ext cx="386575" cy="201168"/>
          </a:xfrm>
          <a:prstGeom prst="roundRect">
            <a:avLst>
              <a:gd name="adj" fmla="val 50000"/>
            </a:avLst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0" y="50749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4D35E"/>
                </a:solidFill>
                <a:latin typeface="Consolas"/>
              </a:rPr>
              <a:t>19.5%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55778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alibri"/>
              </a:rPr>
              <a:t>Negative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5614416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37360" y="5614416"/>
            <a:ext cx="134805" cy="201168"/>
          </a:xfrm>
          <a:prstGeom prst="roundRect">
            <a:avLst>
              <a:gd name="adj" fmla="val 50000"/>
            </a:avLst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0" y="55778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F6677"/>
                </a:solidFill>
                <a:latin typeface="Consolas"/>
              </a:rPr>
              <a:t>6.8%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59" y="164592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54879" y="1901952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1A2436"/>
          </a:solidFill>
          <a:ln w="9525">
            <a:solidFill>
              <a:srgbClr val="4159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7AA7FF"/>
                </a:solidFill>
                <a:latin typeface="Consola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79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Teencode &amp; viết tắt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79" y="28346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EABBA"/>
                </a:solidFill>
                <a:latin typeface="Calibri"/>
              </a:rPr>
              <a:t>“ko”, “dc”, “ok”, emoji, emojicon xen lẫn trong câu.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164592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95360" y="1901952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142E28"/>
          </a:solidFill>
          <a:ln w="9525">
            <a:solidFill>
              <a:srgbClr val="2C7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0E3A4"/>
                </a:solidFill>
                <a:latin typeface="Consola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Từ lóng Anh – Việt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28346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EABBA"/>
                </a:solidFill>
                <a:latin typeface="Calibri"/>
              </a:rPr>
              <a:t>OT, deadline, onsite, fresher, benefit… trộn ngôn ngữ trong cùng review.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80559" y="393192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754879" y="4187952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2E2B1C"/>
          </a:solidFill>
          <a:ln w="9525">
            <a:solidFill>
              <a:srgbClr val="7E6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4D35E"/>
                </a:solidFill>
                <a:latin typeface="Consolas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79" y="4663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Khen chê đan xen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79" y="51206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EABBA"/>
                </a:solidFill>
                <a:latin typeface="Calibri"/>
              </a:rPr>
              <a:t>“Môi trường tốt nhưng lương thấp, OT nhiều” — nhiều vế, cảm xúc đối lập.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393192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95360" y="4187952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301A20"/>
          </a:solidFill>
          <a:ln w="9525">
            <a:solidFill>
              <a:srgbClr val="8438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6677"/>
                </a:solidFill>
                <a:latin typeface="Consolas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663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Nhãn nhiễu theo sao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51206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EABBA"/>
                </a:solidFill>
                <a:latin typeface="Calibri"/>
              </a:rPr>
              <a:t>Nhãn suy ra từ rating 1–5 sao, không phải người đọc gán thủ công.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AA7FF"/>
                </a:solidFill>
                <a:latin typeface="Consolas"/>
              </a:rPr>
              <a:t>02 · KIẾN TRÚC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Pipeline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alibri"/>
              </a:rPr>
              <a:t>ITviec Sentiment Analysis  ·  Nhóm Máy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EABBA"/>
                </a:solidFill>
                <a:latin typeface="Consolas"/>
              </a:rPr>
              <a:t>03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1883664" cy="237744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3B51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350008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1A2436"/>
          </a:solidFill>
          <a:ln w="9525">
            <a:solidFill>
              <a:srgbClr val="4159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7AA7FF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15179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Thu thập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15179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8.417 review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ITviec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68880" y="3200400"/>
            <a:ext cx="338328" cy="274320"/>
          </a:xfrm>
          <a:prstGeom prst="rightArrow">
            <a:avLst/>
          </a:prstGeom>
          <a:solidFill>
            <a:srgbClr val="7A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3784" y="2148840"/>
            <a:ext cx="1883664" cy="237744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86C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26664" y="2350008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142E28"/>
          </a:solidFill>
          <a:ln w="9525">
            <a:solidFill>
              <a:srgbClr val="2C7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0E3A4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6664" y="2926080"/>
            <a:ext cx="15179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Tiền xử lý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3474720"/>
            <a:ext cx="15179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Unicode NFC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underthesea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64024" y="3200400"/>
            <a:ext cx="338328" cy="274320"/>
          </a:xfrm>
          <a:prstGeom prst="rightArrow">
            <a:avLst/>
          </a:prstGeom>
          <a:solidFill>
            <a:srgbClr val="50E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38928" y="2148840"/>
            <a:ext cx="1883664" cy="237744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7265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21808" y="2350008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2E2B1C"/>
          </a:solidFill>
          <a:ln w="9525">
            <a:solidFill>
              <a:srgbClr val="7E6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4D35E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1808" y="2926080"/>
            <a:ext cx="15179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TF-IDF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3474720"/>
            <a:ext cx="15179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N-gram (1,2)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5.000 chiều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59168" y="3200400"/>
            <a:ext cx="338328" cy="274320"/>
          </a:xfrm>
          <a:prstGeom prst="rightArrow">
            <a:avLst/>
          </a:prstGeom>
          <a:solidFill>
            <a:srgbClr val="F4D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4072" y="2148840"/>
            <a:ext cx="1883664" cy="237744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774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16952" y="2350008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30221A"/>
          </a:solidFill>
          <a:ln w="9525">
            <a:solidFill>
              <a:srgbClr val="845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994F"/>
                </a:solidFill>
                <a:latin typeface="Consola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2926080"/>
            <a:ext cx="15179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Huấn luyện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16952" y="3474720"/>
            <a:ext cx="15179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5 mô hình ML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SMOTE + 5-fold CV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354312" y="3200400"/>
            <a:ext cx="338328" cy="274320"/>
          </a:xfrm>
          <a:prstGeom prst="rightArrow">
            <a:avLst/>
          </a:prstGeom>
          <a:solidFill>
            <a:srgbClr val="FF9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29216" y="2148840"/>
            <a:ext cx="1883664" cy="237744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77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12096" y="2350008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301A20"/>
          </a:solidFill>
          <a:ln w="9525">
            <a:solidFill>
              <a:srgbClr val="8438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6677"/>
                </a:solidFill>
                <a:latin typeface="Consola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12096" y="2926080"/>
            <a:ext cx="15179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Web 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12096" y="3474720"/>
            <a:ext cx="15179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Streamlit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Dự đoán real-time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937760"/>
            <a:ext cx="11094415" cy="114300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12064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A7FF"/>
                </a:solidFill>
                <a:latin typeface="Consolas"/>
              </a:rPr>
              <a:t>KẾT QUẢ ĐẦU 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440680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9EABBA"/>
                </a:solidFill>
                <a:latin typeface="Calibri"/>
              </a:rPr>
              <a:t>Mô hình chọn: </a:t>
            </a:r>
            <a:r>
              <a:rPr sz="1600" b="1" i="0">
                <a:solidFill>
                  <a:srgbClr val="50E3A4"/>
                </a:solidFill>
                <a:latin typeface="Calibri"/>
              </a:rPr>
              <a:t>Logistic Regression (C=1.0, SMOTE)</a:t>
            </a:r>
            <a:r>
              <a:rPr sz="1600" b="0" i="0">
                <a:solidFill>
                  <a:srgbClr val="9EABBA"/>
                </a:solidFill>
                <a:latin typeface="Calibri"/>
              </a:rPr>
              <a:t>   ·   Final Test: </a:t>
            </a:r>
            <a:r>
              <a:rPr sz="1600" b="1" i="0">
                <a:solidFill>
                  <a:srgbClr val="F1F5F9"/>
                </a:solidFill>
                <a:latin typeface="Calibri"/>
              </a:rPr>
              <a:t>Accuracy 73,74%</a:t>
            </a:r>
            <a:r>
              <a:rPr sz="1600" b="0" i="0">
                <a:solidFill>
                  <a:srgbClr val="9EABBA"/>
                </a:solidFill>
                <a:latin typeface="Calibri"/>
              </a:rPr>
              <a:t>   ·   </a:t>
            </a:r>
            <a:r>
              <a:rPr sz="1600" b="1" i="0">
                <a:solidFill>
                  <a:srgbClr val="F1F5F9"/>
                </a:solidFill>
                <a:latin typeface="Calibri"/>
              </a:rPr>
              <a:t>Macro F1 0,5714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AA7FF"/>
                </a:solidFill>
                <a:latin typeface="Consolas"/>
              </a:rPr>
              <a:t>03 · TIỀN XỬ LÝ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Làm sạch văn bản tiếng Việt chuyên sâu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alibri"/>
              </a:rPr>
              <a:t>ITviec Sentiment Analysis  ·  Nhóm Máy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EABBA"/>
                </a:solidFill>
                <a:latin typeface="Consolas"/>
              </a:rPr>
              <a:t>04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669280" cy="786384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883664"/>
            <a:ext cx="365760" cy="310896"/>
          </a:xfrm>
          <a:prstGeom prst="roundRect">
            <a:avLst>
              <a:gd name="adj" fmla="val 50000"/>
            </a:avLst>
          </a:prstGeom>
          <a:solidFill>
            <a:srgbClr val="1A2436"/>
          </a:solidFill>
          <a:ln w="9525">
            <a:solidFill>
              <a:srgbClr val="4159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7AA7FF"/>
                </a:solidFill>
                <a:latin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737360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Unicode NFC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048256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BBA"/>
                </a:solidFill>
                <a:latin typeface="Calibri"/>
              </a:rPr>
              <a:t>Thống nhất dấu tiếng Việt, tránh cùng chữ khác mã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51176"/>
            <a:ext cx="5669280" cy="786384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365760" cy="310896"/>
          </a:xfrm>
          <a:prstGeom prst="roundRect">
            <a:avLst>
              <a:gd name="adj" fmla="val 50000"/>
            </a:avLst>
          </a:prstGeom>
          <a:solidFill>
            <a:srgbClr val="142E28"/>
          </a:solidFill>
          <a:ln w="9525">
            <a:solidFill>
              <a:srgbClr val="2C7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0E3A4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4261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Emoji / emojicon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953512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BBA"/>
                </a:solidFill>
                <a:latin typeface="Calibri"/>
              </a:rPr>
              <a:t>Chuyển thành tín hiệu văn bản hoặc loại bỏ nhiễu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56432"/>
            <a:ext cx="5669280" cy="786384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3694176"/>
            <a:ext cx="365760" cy="310896"/>
          </a:xfrm>
          <a:prstGeom prst="roundRect">
            <a:avLst>
              <a:gd name="adj" fmla="val 50000"/>
            </a:avLst>
          </a:prstGeom>
          <a:solidFill>
            <a:srgbClr val="2E2B1C"/>
          </a:solidFill>
          <a:ln w="9525">
            <a:solidFill>
              <a:srgbClr val="7E6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4D35E"/>
                </a:solidFill>
                <a:latin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54787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Teencode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858768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BBA"/>
                </a:solidFill>
                <a:latin typeface="Calibri"/>
              </a:rPr>
              <a:t>Ánh xạ ko → không, dc → được, … về dạng chuẩn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61688"/>
            <a:ext cx="5669280" cy="786384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4599431"/>
            <a:ext cx="365760" cy="310896"/>
          </a:xfrm>
          <a:prstGeom prst="roundRect">
            <a:avLst>
              <a:gd name="adj" fmla="val 50000"/>
            </a:avLst>
          </a:prstGeom>
          <a:solidFill>
            <a:srgbClr val="30221A"/>
          </a:solidFill>
          <a:ln w="9525">
            <a:solidFill>
              <a:srgbClr val="845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994F"/>
                </a:solidFill>
                <a:latin typeface="Consola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453127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Tách từ underthesea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76402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BBA"/>
                </a:solidFill>
                <a:latin typeface="Calibri"/>
              </a:rPr>
              <a:t>“quản lý” → quản_lý: giữ nguyên nghĩa từ ghép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66944"/>
            <a:ext cx="5669280" cy="786384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5504688"/>
            <a:ext cx="365760" cy="310896"/>
          </a:xfrm>
          <a:prstGeom prst="roundRect">
            <a:avLst>
              <a:gd name="adj" fmla="val 50000"/>
            </a:avLst>
          </a:prstGeom>
          <a:solidFill>
            <a:srgbClr val="301A20"/>
          </a:solidFill>
          <a:ln w="9525">
            <a:solidFill>
              <a:srgbClr val="8438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6677"/>
                </a:solidFill>
                <a:latin typeface="Consola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358383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Lọc từ dừng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566928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BBA"/>
                </a:solidFill>
                <a:latin typeface="Calibri"/>
              </a:rPr>
              <a:t>Bỏ từ chức năng, giữ từ mang sắc thái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1645920"/>
            <a:ext cx="5150815" cy="443484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28800"/>
            <a:ext cx="4602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6677"/>
                </a:solidFill>
                <a:latin typeface="Consolas"/>
              </a:rPr>
              <a:t>VÍ DỤ  ·  RAW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59" y="2148840"/>
            <a:ext cx="460217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F1F5F9"/>
                </a:solidFill>
                <a:latin typeface="Consolas"/>
              </a:rPr>
              <a:t>Lương thấp, quản lý thiếu minh bạch và thường xuyên phải OT không lương.</a:t>
            </a:r>
          </a:p>
        </p:txBody>
      </p:sp>
      <p:sp>
        <p:nvSpPr>
          <p:cNvPr id="29" name="Right Arrow 28"/>
          <p:cNvSpPr/>
          <p:nvPr/>
        </p:nvSpPr>
        <p:spPr>
          <a:xfrm rot="5400000">
            <a:off x="8884767" y="3291840"/>
            <a:ext cx="365760" cy="274320"/>
          </a:xfrm>
          <a:prstGeom prst="rightArrow">
            <a:avLst/>
          </a:prstGeom>
          <a:solidFill>
            <a:srgbClr val="7A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59" y="3794760"/>
            <a:ext cx="4602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0E3A4"/>
                </a:solidFill>
                <a:latin typeface="Consolas"/>
              </a:rPr>
              <a:t>CLEAN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59" y="4114800"/>
            <a:ext cx="46021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0E3A4"/>
                </a:solidFill>
                <a:latin typeface="Consolas"/>
              </a:rPr>
              <a:t>lương thấp quản_lý thiếu minh_bạch thường_xuyên phải ot không lương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59" y="5257800"/>
            <a:ext cx="46021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BBA"/>
                </a:solidFill>
                <a:latin typeface="Calibri"/>
              </a:rPr>
              <a:t>Từ ghép được nối bằng “_” để TF-IDF coi là một đặc trưng duy nhất.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AA7FF"/>
                </a:solidFill>
                <a:latin typeface="Consolas"/>
              </a:rPr>
              <a:t>04 ·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Khám phá dữ liệu: lệch nhãn, độ dài, khía cạnh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alibri"/>
              </a:rPr>
              <a:t>ITviec Sentiment Analysis  ·  Nhóm Máy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EABBA"/>
                </a:solidFill>
                <a:latin typeface="Consolas"/>
              </a:rPr>
              <a:t>05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926080" cy="137160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56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0E3A4"/>
                </a:solidFill>
                <a:latin typeface="Consolas"/>
              </a:rPr>
              <a:t>POSITIVE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50E3A4"/>
                </a:solidFill>
                <a:latin typeface="Consolas"/>
              </a:rPr>
              <a:t>73,8%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EABBA"/>
                </a:solidFill>
                <a:latin typeface="Calibri"/>
              </a:rPr>
              <a:t>rating 4–5★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63824"/>
            <a:ext cx="2926080" cy="137160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665B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2841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4D35E"/>
                </a:solidFill>
                <a:latin typeface="Consolas"/>
              </a:rPr>
              <a:t>NEUTRAL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75304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4D35E"/>
                </a:solidFill>
                <a:latin typeface="Consolas"/>
              </a:rPr>
              <a:t>19,5%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15383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EABBA"/>
                </a:solidFill>
                <a:latin typeface="Calibri"/>
              </a:rPr>
              <a:t>rating 3★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81728"/>
            <a:ext cx="2926080" cy="137160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6B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6677"/>
                </a:solidFill>
                <a:latin typeface="Consolas"/>
              </a:rPr>
              <a:t>NEGATIVE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93208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6677"/>
                </a:solidFill>
                <a:latin typeface="Consolas"/>
              </a:rPr>
              <a:t>6,8%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733288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EABBA"/>
                </a:solidFill>
                <a:latin typeface="Calibri"/>
              </a:rPr>
              <a:t>rating 1–2★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39" y="1645920"/>
            <a:ext cx="4206240" cy="452628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178308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A7FF"/>
                </a:solidFill>
                <a:latin typeface="Consolas"/>
              </a:rPr>
              <a:t>TƯƠNG QUAN CÁC KHÍA CẠNH</a:t>
            </a:r>
          </a:p>
        </p:txBody>
      </p:sp>
      <p:pic>
        <p:nvPicPr>
          <p:cNvPr id="20" name="Picture 19" descr="eda_aspect_cor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420785"/>
            <a:ext cx="3840480" cy="334230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229600" y="1645920"/>
            <a:ext cx="3413455" cy="228600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783080"/>
            <a:ext cx="3047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A7FF"/>
                </a:solidFill>
                <a:latin typeface="Consolas"/>
              </a:rPr>
              <a:t>PHÂN BỐ ĐỘ DÀI</a:t>
            </a:r>
          </a:p>
        </p:txBody>
      </p:sp>
      <p:pic>
        <p:nvPicPr>
          <p:cNvPr id="23" name="Picture 22" descr="eda_text_length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408717"/>
            <a:ext cx="3139135" cy="1171885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229600" y="4114800"/>
            <a:ext cx="3413455" cy="205740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4297680"/>
            <a:ext cx="295625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</a:rPr>
              <a:t>Review dài, lệch phải </a:t>
            </a:r>
            <a:r>
              <a:rPr sz="1300" b="0" i="0">
                <a:solidFill>
                  <a:srgbClr val="9EABBA"/>
                </a:solidFill>
                <a:latin typeface="Calibri"/>
              </a:rPr>
              <a:t>→ cần TF-IDF thay vì đếm thô.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</a:rPr>
              <a:t>Khía cạnh tương quan cao </a:t>
            </a:r>
            <a:r>
              <a:rPr sz="1300" b="0" i="0">
                <a:solidFill>
                  <a:srgbClr val="9EABBA"/>
                </a:solidFill>
                <a:latin typeface="Calibri"/>
              </a:rPr>
              <a:t>→ sao tổng thể che lấp ý kiến từng mặt.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AA7FF"/>
                </a:solidFill>
                <a:latin typeface="Consolas"/>
              </a:rPr>
              <a:t>05 · ĐẶC TRƯNG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Trích xuất TF-IDF N-gram (1,2)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alibri"/>
              </a:rPr>
              <a:t>ITviec Sentiment Analysis  ·  Nhóm Máy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EABBA"/>
                </a:solidFill>
                <a:latin typeface="Consolas"/>
              </a:rPr>
              <a:t>06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754880" cy="100584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2880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EABBA"/>
                </a:solidFill>
                <a:latin typeface="Consolas"/>
              </a:rPr>
              <a:t>ngram_range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031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EABBA"/>
                </a:solidFill>
                <a:latin typeface="Calibri"/>
              </a:rPr>
              <a:t>cấu hình TF-IDF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78308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400" b="1" i="0">
                <a:solidFill>
                  <a:srgbClr val="7AA7FF"/>
                </a:solidFill>
                <a:latin typeface="Consolas"/>
              </a:rPr>
              <a:t>(1, 2)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88920"/>
            <a:ext cx="4754880" cy="100584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97180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EABBA"/>
                </a:solidFill>
                <a:latin typeface="Consolas"/>
              </a:rPr>
              <a:t>sublinear_tf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2461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EABBA"/>
                </a:solidFill>
                <a:latin typeface="Calibri"/>
              </a:rPr>
              <a:t>cấu hình TF-IDF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926079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400" b="1" i="0">
                <a:solidFill>
                  <a:srgbClr val="50E3A4"/>
                </a:solidFill>
                <a:latin typeface="Consolas"/>
              </a:rPr>
              <a:t>True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31920"/>
            <a:ext cx="4754880" cy="100584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EABBA"/>
                </a:solidFill>
                <a:latin typeface="Consolas"/>
              </a:rPr>
              <a:t>max_features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3891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EABBA"/>
                </a:solidFill>
                <a:latin typeface="Calibri"/>
              </a:rPr>
              <a:t>cấu hình TF-IDF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06908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400" b="1" i="0">
                <a:solidFill>
                  <a:srgbClr val="F4D35E"/>
                </a:solidFill>
                <a:latin typeface="Consolas"/>
              </a:rPr>
              <a:t>5.000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20640"/>
            <a:ext cx="4754880" cy="105156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25780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EABBA"/>
                </a:solidFill>
                <a:latin typeface="Calibri"/>
              </a:rPr>
              <a:t>Unigram + bigram bắt được cụm mang sắc thái: “không lương”, “thường_xuyên ot”.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77840" y="1645920"/>
            <a:ext cx="6065215" cy="260604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440" y="1783080"/>
            <a:ext cx="5608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A7FF"/>
                </a:solidFill>
                <a:latin typeface="Consolas"/>
              </a:rPr>
              <a:t>SO SÁNH N-GRAM (CV)</a:t>
            </a:r>
          </a:p>
        </p:txBody>
      </p:sp>
      <p:pic>
        <p:nvPicPr>
          <p:cNvPr id="22" name="Picture 21" descr="eda_tfidf_ngram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610" y="2103120"/>
            <a:ext cx="3673673" cy="20574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577840" y="4434840"/>
            <a:ext cx="6065215" cy="173736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6440" y="4572000"/>
            <a:ext cx="5608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A7FF"/>
                </a:solidFill>
                <a:latin typeface="Consolas"/>
              </a:rPr>
              <a:t>CHIA TẬP STRATIFIED 80 / 20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4983480"/>
            <a:ext cx="4486412" cy="457200"/>
          </a:xfrm>
          <a:prstGeom prst="roundRect">
            <a:avLst>
              <a:gd name="adj" fmla="val 30000"/>
            </a:avLst>
          </a:prstGeom>
          <a:solidFill>
            <a:srgbClr val="304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38572" y="4983480"/>
            <a:ext cx="1075883" cy="457200"/>
          </a:xfrm>
          <a:prstGeom prst="roundRect">
            <a:avLst>
              <a:gd name="adj" fmla="val 30000"/>
            </a:avLst>
          </a:prstGeom>
          <a:solidFill>
            <a:srgbClr val="774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4983480"/>
            <a:ext cx="44864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1F5F9"/>
                </a:solidFill>
                <a:latin typeface="Calibri"/>
              </a:rPr>
              <a:t>Development · 6.734 mẫu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92852" y="4983480"/>
            <a:ext cx="112160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1F5F9"/>
                </a:solidFill>
                <a:latin typeface="Calibri"/>
              </a:rPr>
              <a:t>Test 1.683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5623560"/>
            <a:ext cx="56080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BBA"/>
                </a:solidFill>
                <a:latin typeface="Calibri"/>
              </a:rPr>
              <a:t>Tập test khóa: chỉ dùng đúng một lần để báo cáo cuối.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AA7FF"/>
                </a:solidFill>
                <a:latin typeface="Consolas"/>
              </a:rPr>
              <a:t>06 · MÔ HÌNH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5 mô hình ML &amp; SMOTE chống rò rỉ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alibri"/>
              </a:rPr>
              <a:t>ITviec Sentiment Analysis  ·  Nhóm Máy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EABBA"/>
                </a:solidFill>
                <a:latin typeface="Consolas"/>
              </a:rPr>
              <a:t>07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11680" cy="160020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3B51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810512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1A2436"/>
          </a:solidFill>
          <a:ln w="9525">
            <a:solidFill>
              <a:srgbClr val="4159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7AA7FF"/>
                </a:solidFill>
                <a:latin typeface="Consolas"/>
              </a:rPr>
              <a:t>MNB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1645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Multinomial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Naive Bayes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9095" y="1645920"/>
            <a:ext cx="2011680" cy="160020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86C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01975" y="1810512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142E28"/>
          </a:solidFill>
          <a:ln w="9525">
            <a:solidFill>
              <a:srgbClr val="2C7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0E3A4"/>
                </a:solidFill>
                <a:latin typeface="Consolas"/>
              </a:rPr>
              <a:t>LR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1975" y="2286000"/>
            <a:ext cx="1645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Logistic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Regression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89550" y="1645920"/>
            <a:ext cx="2011680" cy="160020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7265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72430" y="1810512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2E2B1C"/>
          </a:solidFill>
          <a:ln w="9525">
            <a:solidFill>
              <a:srgbClr val="7E6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4D35E"/>
                </a:solidFill>
                <a:latin typeface="Consolas"/>
              </a:rPr>
              <a:t>SVM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2430" y="2286000"/>
            <a:ext cx="1645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Linear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SVM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005" y="1645920"/>
            <a:ext cx="2011680" cy="160020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774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42885" y="1810512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30221A"/>
          </a:solidFill>
          <a:ln w="9525">
            <a:solidFill>
              <a:srgbClr val="845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994F"/>
                </a:solidFill>
                <a:latin typeface="Consolas"/>
              </a:rPr>
              <a:t>RF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2885" y="2286000"/>
            <a:ext cx="1645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Random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Forest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30460" y="1645920"/>
            <a:ext cx="2011680" cy="160020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77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13340" y="1810512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301A20"/>
          </a:solidFill>
          <a:ln w="9525">
            <a:solidFill>
              <a:srgbClr val="8438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6677"/>
                </a:solidFill>
                <a:latin typeface="Consolas"/>
              </a:rPr>
              <a:t>STK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13340" y="2286000"/>
            <a:ext cx="1645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Stacking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Ensemble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20440"/>
            <a:ext cx="11094415" cy="265176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657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A7FF"/>
                </a:solidFill>
                <a:latin typeface="Consolas"/>
              </a:rPr>
              <a:t>SMOTE TRONG PIPELINE  ·  MỖI FOLD CV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59" y="4114800"/>
            <a:ext cx="2286000" cy="1737360"/>
          </a:xfrm>
          <a:prstGeom prst="roundRect">
            <a:avLst>
              <a:gd name="adj" fmla="val 5000"/>
            </a:avLst>
          </a:prstGeom>
          <a:solidFill>
            <a:srgbClr val="192231"/>
          </a:solidFill>
          <a:ln w="9525">
            <a:solidFill>
              <a:srgbClr val="4C69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39" y="42519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7AA7FF"/>
                </a:solidFill>
                <a:latin typeface="Calibri"/>
              </a:rPr>
              <a:t>Train fold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39" y="47548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4/5 dữ liệu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Development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200400" y="4846320"/>
            <a:ext cx="393192" cy="274320"/>
          </a:xfrm>
          <a:prstGeom prst="rightArrow">
            <a:avLst/>
          </a:prstGeom>
          <a:solidFill>
            <a:srgbClr val="7A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85031" y="4114800"/>
            <a:ext cx="2286000" cy="1737360"/>
          </a:xfrm>
          <a:prstGeom prst="roundRect">
            <a:avLst>
              <a:gd name="adj" fmla="val 5000"/>
            </a:avLst>
          </a:prstGeom>
          <a:solidFill>
            <a:srgbClr val="352D2C"/>
          </a:solidFill>
          <a:ln w="9525">
            <a:solidFill>
              <a:srgbClr val="9C6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7911" y="42519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994F"/>
                </a:solidFill>
                <a:latin typeface="Calibri"/>
              </a:rPr>
              <a:t>SMOTE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911" y="47548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Sinh mẫu thiểu số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chỉ trên train fold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062471" y="4846320"/>
            <a:ext cx="393192" cy="274320"/>
          </a:xfrm>
          <a:prstGeom prst="rightArrow">
            <a:avLst/>
          </a:prstGeom>
          <a:solidFill>
            <a:srgbClr val="FF9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47104" y="4114800"/>
            <a:ext cx="2286000" cy="1737360"/>
          </a:xfrm>
          <a:prstGeom prst="roundRect">
            <a:avLst>
              <a:gd name="adj" fmla="val 5000"/>
            </a:avLst>
          </a:prstGeom>
          <a:solidFill>
            <a:srgbClr val="17252C"/>
          </a:solidFill>
          <a:ln w="9525">
            <a:solidFill>
              <a:srgbClr val="338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9984" y="42519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50E3A4"/>
                </a:solidFill>
                <a:latin typeface="Calibri"/>
              </a:rPr>
              <a:t>Fit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47548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Học trên dữ liệu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đã cân bằng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924544" y="4846320"/>
            <a:ext cx="393192" cy="274320"/>
          </a:xfrm>
          <a:prstGeom prst="rightArrow">
            <a:avLst/>
          </a:prstGeom>
          <a:solidFill>
            <a:srgbClr val="50E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9176" y="4114800"/>
            <a:ext cx="2286000" cy="1737360"/>
          </a:xfrm>
          <a:prstGeom prst="roundRect">
            <a:avLst>
              <a:gd name="adj" fmla="val 5000"/>
            </a:avLst>
          </a:prstGeom>
          <a:solidFill>
            <a:srgbClr val="1F2429"/>
          </a:solidFill>
          <a:ln w="9525">
            <a:solidFill>
              <a:srgbClr val="968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92056" y="42519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4D35E"/>
                </a:solidFill>
                <a:latin typeface="Calibri"/>
              </a:rPr>
              <a:t>Validate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92056" y="47548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1/5 fold còn lại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NGUYÊN BẢN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AA7FF"/>
                </a:solidFill>
                <a:latin typeface="Consolas"/>
              </a:rPr>
              <a:t>07 · KẾT QUẢ CV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Bảng xếp hạng trên Development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alibri"/>
              </a:rPr>
              <a:t>ITviec Sentiment Analysis  ·  Nhóm Máy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EABBA"/>
                </a:solidFill>
                <a:latin typeface="Consolas"/>
              </a:rPr>
              <a:t>08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949440" cy="452628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1828800"/>
          <a:ext cx="658368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1645920"/>
            <a:ext cx="3870655" cy="219456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C7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783080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0E3A4"/>
                </a:solidFill>
                <a:latin typeface="Consolas"/>
              </a:rPr>
              <a:t>MÔ HÌNH ĐƯỢC CHỌN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103120"/>
            <a:ext cx="3413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1F5F9"/>
                </a:solidFill>
                <a:latin typeface="Calibri"/>
              </a:rPr>
              <a:t>Logistic Regression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606040"/>
            <a:ext cx="3413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50E3A4"/>
                </a:solidFill>
                <a:latin typeface="Consolas"/>
              </a:rPr>
              <a:t>0,5727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337560"/>
            <a:ext cx="3413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EABBA"/>
                </a:solidFill>
                <a:latin typeface="Consolas"/>
              </a:rPr>
              <a:t>C = 1.0  ·  SMOTE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4023360"/>
            <a:ext cx="3870655" cy="214884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4160520"/>
            <a:ext cx="341345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7AA7FF"/>
                </a:solidFill>
                <a:latin typeface="Calibri"/>
              </a:rPr>
              <a:t>Vì sao LR? 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Điểm CV cao nhất, độ lệch nhỏ (±0,011)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predict_proba trực tiếp cho demo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EABBA"/>
                </a:solidFill>
                <a:latin typeface="Calibri"/>
              </a:rPr>
              <a:t>Random Forest &amp; Stacking không vượt trội trên TF-IDF thưa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AA7FF"/>
                </a:solidFill>
                <a:latin typeface="Consolas"/>
              </a:rPr>
              <a:t>08 · FINAL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Kết quả độc lập &amp; ma trận nhầm lẫn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alibri"/>
              </a:rPr>
              <a:t>ITviec Sentiment Analysis  ·  Nhóm Máy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EABBA"/>
                </a:solidFill>
                <a:latin typeface="Consolas"/>
              </a:rPr>
              <a:t>09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246120" cy="109728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EABBA"/>
                </a:solidFill>
                <a:latin typeface="Consolas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2788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  <a:latin typeface="Consolas"/>
              </a:rPr>
              <a:t>73.74%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79" y="1600200"/>
            <a:ext cx="3246120" cy="109728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56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79" y="173736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0E3A4"/>
                </a:solidFill>
                <a:latin typeface="Consolas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11680"/>
            <a:ext cx="2788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50E3A4"/>
                </a:solidFill>
                <a:latin typeface="Consolas"/>
              </a:rPr>
              <a:t>0.5714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19" y="1600200"/>
            <a:ext cx="3246120" cy="109728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3649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19" y="173736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A7FF"/>
                </a:solidFill>
                <a:latin typeface="Consolas"/>
              </a:rPr>
              <a:t>WEIGHTED F1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19" y="2011680"/>
            <a:ext cx="2788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7AA7FF"/>
                </a:solidFill>
                <a:latin typeface="Consolas"/>
              </a:rPr>
              <a:t>0.7489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26080"/>
            <a:ext cx="5120640" cy="324612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017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A7FF"/>
                </a:solidFill>
                <a:latin typeface="Consolas"/>
              </a:rPr>
              <a:t>CONFUSION MATRIX  ·  n = 1.683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5021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9EABBA"/>
                </a:solidFill>
                <a:latin typeface="Consolas"/>
              </a:rPr>
              <a:t>NEG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9232" y="35021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9EABBA"/>
                </a:solidFill>
                <a:latin typeface="Consolas"/>
              </a:rPr>
              <a:t>NEU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6784" y="35021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9EABBA"/>
                </a:solidFill>
                <a:latin typeface="Consolas"/>
              </a:rPr>
              <a:t>POS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8404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onsolas"/>
              </a:rPr>
              <a:t>NEG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0" y="3749039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307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3749039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1F5F9"/>
                </a:solidFill>
                <a:latin typeface="Calibri"/>
              </a:rPr>
              <a:t>51</a:t>
            </a:r>
          </a:p>
          <a:p>
            <a:pPr algn="ctr"/>
            <a:r>
              <a:rPr sz="1000" b="0" i="0">
                <a:solidFill>
                  <a:srgbClr val="F1F5F9"/>
                </a:solidFill>
                <a:latin typeface="Calibri"/>
              </a:rPr>
              <a:t>45%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99232" y="3749039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71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99232" y="3749039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1F5F9"/>
                </a:solidFill>
                <a:latin typeface="Calibri"/>
              </a:rPr>
              <a:t>40</a:t>
            </a:r>
          </a:p>
          <a:p>
            <a:pPr algn="ctr"/>
            <a:r>
              <a:rPr sz="1000" b="0" i="0">
                <a:solidFill>
                  <a:srgbClr val="F1F5F9"/>
                </a:solidFill>
                <a:latin typeface="Calibri"/>
              </a:rPr>
              <a:t>35%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86784" y="3749039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583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86784" y="3749039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1F5F9"/>
                </a:solidFill>
                <a:latin typeface="Calibri"/>
              </a:rPr>
              <a:t>23</a:t>
            </a:r>
          </a:p>
          <a:p>
            <a:pPr algn="ctr"/>
            <a:r>
              <a:rPr sz="1000" b="0" i="0">
                <a:solidFill>
                  <a:srgbClr val="F1F5F9"/>
                </a:solidFill>
                <a:latin typeface="Calibri"/>
              </a:rPr>
              <a:t>20%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5720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onsolas"/>
              </a:rPr>
              <a:t>NEU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11680" y="4480559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522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11680" y="4480559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1F5F9"/>
                </a:solidFill>
                <a:latin typeface="Calibri"/>
              </a:rPr>
              <a:t>53</a:t>
            </a:r>
          </a:p>
          <a:p>
            <a:pPr algn="ctr"/>
            <a:r>
              <a:rPr sz="1000" b="0" i="0">
                <a:solidFill>
                  <a:srgbClr val="F1F5F9"/>
                </a:solidFill>
                <a:latin typeface="Calibri"/>
              </a:rPr>
              <a:t>16%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99232" y="4480559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338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99232" y="4480559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1F5F9"/>
                </a:solidFill>
                <a:latin typeface="Calibri"/>
              </a:rPr>
              <a:t>170</a:t>
            </a:r>
          </a:p>
          <a:p>
            <a:pPr algn="ctr"/>
            <a:r>
              <a:rPr sz="1000" b="0" i="0">
                <a:solidFill>
                  <a:srgbClr val="F1F5F9"/>
                </a:solidFill>
                <a:latin typeface="Calibri"/>
              </a:rPr>
              <a:t>52%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86784" y="4480559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6C3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86784" y="4480559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1F5F9"/>
                </a:solidFill>
                <a:latin typeface="Calibri"/>
              </a:rPr>
              <a:t>105</a:t>
            </a:r>
          </a:p>
          <a:p>
            <a:pPr algn="ctr"/>
            <a:r>
              <a:rPr sz="1000" b="0" i="0">
                <a:solidFill>
                  <a:srgbClr val="F1F5F9"/>
                </a:solidFill>
                <a:latin typeface="Calibri"/>
              </a:rPr>
              <a:t>32%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onsolas"/>
              </a:rPr>
              <a:t>POS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011680" y="5212079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3E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0" y="5212079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1F5F9"/>
                </a:solidFill>
                <a:latin typeface="Calibri"/>
              </a:rPr>
              <a:t>50</a:t>
            </a:r>
          </a:p>
          <a:p>
            <a:pPr algn="ctr"/>
            <a:r>
              <a:rPr sz="1000" b="0" i="0">
                <a:solidFill>
                  <a:srgbClr val="F1F5F9"/>
                </a:solidFill>
                <a:latin typeface="Calibri"/>
              </a:rPr>
              <a:t>4%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999232" y="5212079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4E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99232" y="5212079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1F5F9"/>
                </a:solidFill>
                <a:latin typeface="Calibri"/>
              </a:rPr>
              <a:t>171</a:t>
            </a:r>
          </a:p>
          <a:p>
            <a:pPr algn="ctr"/>
            <a:r>
              <a:rPr sz="1000" b="0" i="0">
                <a:solidFill>
                  <a:srgbClr val="F1F5F9"/>
                </a:solidFill>
                <a:latin typeface="Calibri"/>
              </a:rPr>
              <a:t>14%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86784" y="5212079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40A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86784" y="5212079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1F5F9"/>
                </a:solidFill>
                <a:latin typeface="Calibri"/>
              </a:rPr>
              <a:t>1020</a:t>
            </a:r>
          </a:p>
          <a:p>
            <a:pPr algn="ctr"/>
            <a:r>
              <a:rPr sz="1000" b="0" i="0">
                <a:solidFill>
                  <a:srgbClr val="F1F5F9"/>
                </a:solidFill>
                <a:latin typeface="Calibri"/>
              </a:rPr>
              <a:t>82%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11680" y="59161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9EABBA"/>
                </a:solidFill>
                <a:latin typeface="Calibri"/>
              </a:rPr>
              <a:t>Hàng = thực tế · Cột = dự đoán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0" y="2926080"/>
            <a:ext cx="5699455" cy="169164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0" y="3017520"/>
            <a:ext cx="5242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A7FF"/>
                </a:solidFill>
                <a:latin typeface="Consolas"/>
              </a:rPr>
              <a:t>F1 THEO LỚP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72200" y="33832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Negative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0" y="3438144"/>
            <a:ext cx="3230575" cy="182880"/>
          </a:xfrm>
          <a:prstGeom prst="roundRect">
            <a:avLst>
              <a:gd name="adj" fmla="val 50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315200" y="3438144"/>
            <a:ext cx="1229547" cy="182880"/>
          </a:xfrm>
          <a:prstGeom prst="roundRect">
            <a:avLst>
              <a:gd name="adj" fmla="val 50000"/>
            </a:avLst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728655" y="33832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6677"/>
                </a:solidFill>
                <a:latin typeface="Consolas"/>
              </a:rPr>
              <a:t>0.38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37856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Neutral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15200" y="3840480"/>
            <a:ext cx="3230575" cy="182880"/>
          </a:xfrm>
          <a:prstGeom prst="roundRect">
            <a:avLst>
              <a:gd name="adj" fmla="val 50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315200" y="3840480"/>
            <a:ext cx="1549218" cy="182880"/>
          </a:xfrm>
          <a:prstGeom prst="roundRect">
            <a:avLst>
              <a:gd name="adj" fmla="val 50000"/>
            </a:avLst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28655" y="37856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4D35E"/>
                </a:solidFill>
                <a:latin typeface="Consolas"/>
              </a:rPr>
              <a:t>0.48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Positive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200" y="4242816"/>
            <a:ext cx="3230575" cy="182880"/>
          </a:xfrm>
          <a:prstGeom prst="roundRect">
            <a:avLst>
              <a:gd name="adj" fmla="val 50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315200" y="4242816"/>
            <a:ext cx="2758632" cy="182880"/>
          </a:xfrm>
          <a:prstGeom prst="roundRect">
            <a:avLst>
              <a:gd name="adj" fmla="val 50000"/>
            </a:avLst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28655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50E3A4"/>
                </a:solidFill>
                <a:latin typeface="Consolas"/>
              </a:rPr>
              <a:t>0.85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43600" y="4800600"/>
            <a:ext cx="5699455" cy="1371600"/>
          </a:xfrm>
          <a:prstGeom prst="roundRect">
            <a:avLst>
              <a:gd name="adj" fmla="val 5000"/>
            </a:avLst>
          </a:prstGeom>
          <a:solidFill>
            <a:srgbClr val="2C282A"/>
          </a:solidFill>
          <a:ln w="9525">
            <a:solidFill>
              <a:srgbClr val="845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2200" y="4919472"/>
            <a:ext cx="5242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94F"/>
                </a:solidFill>
                <a:latin typeface="Consolas"/>
              </a:rPr>
              <a:t>BẪY ACCURACY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5230368"/>
            <a:ext cx="524225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Đoán toàn “Positive” đã đạt ~74% Accuracy. Chỉ Macro F1 (0,57) lộ ra Negative/Neutral còn yếu.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AA7FF"/>
                </a:solidFill>
                <a:latin typeface="Consolas"/>
              </a:rPr>
              <a:t>09 · ERROR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Vì sao mô hình sai? 3 nhóm nguyên nhân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alibri"/>
              </a:rPr>
              <a:t>ITviec Sentiment Analysis  ·  Nhóm Máy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EABBA"/>
                </a:solidFill>
                <a:latin typeface="Consolas"/>
              </a:rPr>
              <a:t>10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926080" cy="452628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6B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7451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6677"/>
                </a:solidFill>
                <a:latin typeface="Consolas"/>
              </a:rPr>
              <a:t>SAI TRÊN FINAL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4028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6677"/>
                </a:solidFill>
                <a:latin typeface="Consolas"/>
              </a:rPr>
              <a:t>442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2461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9EABBA"/>
                </a:solidFill>
                <a:latin typeface="Calibri"/>
              </a:rPr>
              <a:t>trên 1.683 mẫu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84048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1F5F9"/>
                </a:solidFill>
                <a:latin typeface="Calibri"/>
              </a:rPr>
              <a:t>26.3% tỉ lệ lỗi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66344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BBA"/>
                </a:solidFill>
                <a:latin typeface="Calibri"/>
              </a:rPr>
              <a:t>Phần lớn lỗi là Neutral ↔ lớp lân cận, không phải đảo cực Positive ↔ Negative.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1645920"/>
            <a:ext cx="7894015" cy="141732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77639" y="1847088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2E2B1C"/>
          </a:solidFill>
          <a:ln w="9525">
            <a:solidFill>
              <a:srgbClr val="7E6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4D35E"/>
                </a:solidFill>
                <a:latin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1828800"/>
            <a:ext cx="67052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Nhiều vế khen–chê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59" y="2212848"/>
            <a:ext cx="6705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EABBA"/>
                </a:solidFill>
                <a:latin typeface="Calibri"/>
              </a:rPr>
              <a:t>Từ tích cực ở đầu review lấn át phần phàn nàn về OT/lương.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2633472"/>
            <a:ext cx="67052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4D35E"/>
                </a:solidFill>
                <a:latin typeface="Consolas"/>
              </a:rPr>
              <a:t>“Môi trường tốt… chính sách OT thiếu minh bạch” → dự đoán Positive (97%)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3200400"/>
            <a:ext cx="7894015" cy="141732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977639" y="3401568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30221A"/>
          </a:solidFill>
          <a:ln w="9525">
            <a:solidFill>
              <a:srgbClr val="845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994F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3383280"/>
            <a:ext cx="67052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Nhãn nhiễu theo sao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3767328"/>
            <a:ext cx="6705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EABBA"/>
                </a:solidFill>
                <a:latin typeface="Calibri"/>
              </a:rPr>
              <a:t>Nhãn suy ra từ rating; người dùng cho 2★ nhưng viết nhiều ý tích cực.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59" y="4187952"/>
            <a:ext cx="67052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994F"/>
                </a:solidFill>
                <a:latin typeface="Consolas"/>
              </a:rPr>
              <a:t>“Môi trường năng động… OT quá nhiều, lương thấp” (2★) → Positive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39" y="4754880"/>
            <a:ext cx="7894015" cy="141732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77639" y="4956048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1A2436"/>
          </a:solidFill>
          <a:ln w="9525">
            <a:solidFill>
              <a:srgbClr val="4159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7AA7FF"/>
                </a:solidFill>
                <a:latin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59" y="4937760"/>
            <a:ext cx="67052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Review ngắn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59" y="5321808"/>
            <a:ext cx="6705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EABBA"/>
                </a:solidFill>
                <a:latin typeface="Calibri"/>
              </a:rPr>
              <a:t>Quá ít token, TF-IDF không đủ tín hiệu để phân biệt Neutral với Positive.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5742432"/>
            <a:ext cx="67052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AA7FF"/>
                </a:solidFill>
                <a:latin typeface="Consolas"/>
              </a:rPr>
              <a:t>Vài từ chung chung như “ổn”, “tạm được” → Neutral / Positive lẫn lộn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AA7FF"/>
                </a:solidFill>
                <a:latin typeface="Consolas"/>
              </a:rPr>
              <a:t>10 · INSIGHT NGÀNH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Cảm xúc theo công ty &amp; từ khóa nổi bật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alibri"/>
              </a:rPr>
              <a:t>ITviec Sentiment Analysis  ·  Nhóm Máy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EABBA"/>
                </a:solidFill>
                <a:latin typeface="Consolas"/>
              </a:rPr>
              <a:t>11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86400" cy="452628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A7FF"/>
                </a:solidFill>
                <a:latin typeface="Consolas"/>
              </a:rPr>
              <a:t>CẢM XÚC THEO CÔNG TY (%)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85800" y="2103120"/>
          <a:ext cx="5212080" cy="39776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09359" y="1645920"/>
            <a:ext cx="2529687" cy="265176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64792"/>
            <a:ext cx="2163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0E3A4"/>
                </a:solidFill>
                <a:latin typeface="Consolas"/>
              </a:rPr>
              <a:t>WORDCLOUD · TÍCH CỰC</a:t>
            </a:r>
          </a:p>
        </p:txBody>
      </p:sp>
      <p:pic>
        <p:nvPicPr>
          <p:cNvPr id="11" name="Picture 10" descr="wordcloud_positive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535188"/>
            <a:ext cx="2255367" cy="123898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113367" y="1645920"/>
            <a:ext cx="2529687" cy="265176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96247" y="1764792"/>
            <a:ext cx="2163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6677"/>
                </a:solidFill>
                <a:latin typeface="Consolas"/>
              </a:rPr>
              <a:t>WORDCLOUD · TIÊU CỰC</a:t>
            </a:r>
          </a:p>
        </p:txBody>
      </p:sp>
      <p:pic>
        <p:nvPicPr>
          <p:cNvPr id="14" name="Picture 13" descr="wordcloud_negative_a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0527" y="2535188"/>
            <a:ext cx="2255367" cy="123898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09359" y="4480560"/>
            <a:ext cx="5333695" cy="169164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4617720"/>
            <a:ext cx="487649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50E3A4"/>
                </a:solidFill>
                <a:latin typeface="Calibri"/>
              </a:rPr>
              <a:t>Khen: </a:t>
            </a:r>
            <a:r>
              <a:rPr sz="1300" b="0" i="0">
                <a:solidFill>
                  <a:srgbClr val="9EABBA"/>
                </a:solidFill>
                <a:latin typeface="Calibri"/>
              </a:rPr>
              <a:t>môi trường, đồng nghiệp, học hỏi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FF6677"/>
                </a:solidFill>
                <a:latin typeface="Calibri"/>
              </a:rPr>
              <a:t>Chê: </a:t>
            </a:r>
            <a:r>
              <a:rPr sz="1300" b="0" i="0">
                <a:solidFill>
                  <a:srgbClr val="9EABBA"/>
                </a:solidFill>
                <a:latin typeface="Calibri"/>
              </a:rPr>
              <a:t>OT, lương, quản lý, thưởng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FF994F"/>
                </a:solidFill>
                <a:latin typeface="Calibri"/>
              </a:rPr>
              <a:t>Bosch </a:t>
            </a:r>
            <a:r>
              <a:rPr sz="1300" b="0" i="0">
                <a:solidFill>
                  <a:srgbClr val="9EABBA"/>
                </a:solidFill>
                <a:latin typeface="Calibri"/>
              </a:rPr>
              <a:t>có 15% tiêu cực — cao nhất trong 5 công 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AA7FF"/>
                </a:solidFill>
                <a:latin typeface="Consolas"/>
              </a:rPr>
              <a:t>11 · WEB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Ứng dụng Streamlit Dark-tech · 5 phân hệ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alibri"/>
              </a:rPr>
              <a:t>ITviec Sentiment Analysis  ·  Nhóm Máy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EABBA"/>
                </a:solidFill>
                <a:latin typeface="Consolas"/>
              </a:rPr>
              <a:t>12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035040" cy="786384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432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883664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1A2436"/>
          </a:solidFill>
          <a:ln w="9525">
            <a:solidFill>
              <a:srgbClr val="4159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7AA7FF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Tổng quan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0574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BBA"/>
                </a:solidFill>
                <a:latin typeface="Calibri"/>
              </a:rPr>
              <a:t>KPI dữ liệu, phân bố nhãn, kiến trúc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51176"/>
            <a:ext cx="6035040" cy="786384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1A41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142E28"/>
          </a:solidFill>
          <a:ln w="9525">
            <a:solidFill>
              <a:srgbClr val="2C7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0E3A4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6426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Insight doanh nghiệp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96265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BBA"/>
                </a:solidFill>
                <a:latin typeface="Calibri"/>
              </a:rPr>
              <a:t>Chọn công ty, xem WordCloud &amp; từ khóa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56432"/>
            <a:ext cx="6035040" cy="786384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433D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3694176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2E2B1C"/>
          </a:solidFill>
          <a:ln w="9525">
            <a:solidFill>
              <a:srgbClr val="7E6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4D35E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19" y="354787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386791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BBA"/>
                </a:solidFill>
                <a:latin typeface="Calibri"/>
              </a:rPr>
              <a:t>Bảng xếp hạng 5 mô hình theo CV Macro F1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61688"/>
            <a:ext cx="6035040" cy="786384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462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4599431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30221A"/>
          </a:solidFill>
          <a:ln w="9525">
            <a:solidFill>
              <a:srgbClr val="845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994F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453127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Đánh giá lỗi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7731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BBA"/>
                </a:solidFill>
                <a:latin typeface="Calibri"/>
              </a:rPr>
              <a:t>Confusion matrix &amp; 15 ca sai điển hình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66944"/>
            <a:ext cx="6035040" cy="786384"/>
          </a:xfrm>
          <a:prstGeom prst="roundRect">
            <a:avLst>
              <a:gd name="adj" fmla="val 5000"/>
            </a:avLst>
          </a:prstGeom>
          <a:solidFill>
            <a:srgbClr val="302430"/>
          </a:solidFill>
          <a:ln w="9525">
            <a:solidFill>
              <a:srgbClr val="903D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5504688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301A20"/>
          </a:solidFill>
          <a:ln w="9525">
            <a:solidFill>
              <a:srgbClr val="8438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6677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5358383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Dự đoán real-time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567842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BBA"/>
                </a:solidFill>
                <a:latin typeface="Calibri"/>
              </a:rPr>
              <a:t>Nhập review → nhãn, xác suất, token kích hoạt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1645920"/>
            <a:ext cx="4785055" cy="443484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6B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0" y="1828800"/>
            <a:ext cx="4236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6677"/>
                </a:solidFill>
                <a:latin typeface="Consolas"/>
              </a:rPr>
              <a:t>LIVE DEMO  ·  REAL-TIME PREDICTION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2240280"/>
            <a:ext cx="42364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F1F5F9"/>
                </a:solidFill>
                <a:latin typeface="Consolas"/>
              </a:rPr>
              <a:t>“Lương thấp, quản lý thiếu minh bạch và thường xuyên phải OT không lương.”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3611880"/>
            <a:ext cx="4236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EABBA"/>
                </a:solidFill>
                <a:latin typeface="Consolas"/>
              </a:rPr>
              <a:t>KẾT QUẢ DỰ ĐOÁN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3931920"/>
            <a:ext cx="4236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6677"/>
                </a:solidFill>
                <a:latin typeface="Consolas"/>
              </a:rPr>
              <a:t>NEGATIVE </a:t>
            </a:r>
            <a:r>
              <a:rPr sz="3600" b="0" i="0">
                <a:solidFill>
                  <a:srgbClr val="F1F5F9"/>
                </a:solidFill>
                <a:latin typeface="Consolas"/>
              </a:rPr>
              <a:t>77,3%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892040"/>
            <a:ext cx="4236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BBA"/>
                </a:solidFill>
                <a:latin typeface="Consolas"/>
              </a:rPr>
              <a:t>streamlit run app.py  →  mở trình duyệt, chọn phân hệ “Dự đoán”.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AA7FF"/>
                </a:solidFill>
                <a:latin typeface="Consolas"/>
              </a:rPr>
              <a:t>12 · EXPLAINABILITY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Token TF-IDF nào kích hoạt quyết định?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alibri"/>
              </a:rPr>
              <a:t>ITviec Sentiment Analysis  ·  Nhóm Máy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EABBA"/>
                </a:solidFill>
                <a:latin typeface="Consolas"/>
              </a:rPr>
              <a:t>13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766560" cy="452628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A7FF"/>
                </a:solidFill>
                <a:latin typeface="Consolas"/>
              </a:rPr>
              <a:t>TOP TOKEN TF-IDF TRONG CÂU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85800" y="2103120"/>
          <a:ext cx="6492240" cy="39776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89520" y="1645920"/>
            <a:ext cx="4053535" cy="251460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6B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783080"/>
            <a:ext cx="35963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6677"/>
                </a:solidFill>
                <a:latin typeface="Consolas"/>
              </a:rPr>
              <a:t>XÁC SUẤT DỰ ĐOÁN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94560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Negative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267712"/>
            <a:ext cx="1584655" cy="182880"/>
          </a:xfrm>
          <a:prstGeom prst="roundRect">
            <a:avLst>
              <a:gd name="adj" fmla="val 50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869680" y="2267712"/>
            <a:ext cx="1224938" cy="182880"/>
          </a:xfrm>
          <a:prstGeom prst="roundRect">
            <a:avLst>
              <a:gd name="adj" fmla="val 50000"/>
            </a:avLst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45775" y="2194560"/>
            <a:ext cx="868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6677"/>
                </a:solidFill>
                <a:latin typeface="Consolas"/>
              </a:rPr>
              <a:t>77,3%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834639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Neutral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2907791"/>
            <a:ext cx="1584655" cy="182880"/>
          </a:xfrm>
          <a:prstGeom prst="roundRect">
            <a:avLst>
              <a:gd name="adj" fmla="val 50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69680" y="2907791"/>
            <a:ext cx="339116" cy="182880"/>
          </a:xfrm>
          <a:prstGeom prst="roundRect">
            <a:avLst>
              <a:gd name="adj" fmla="val 50000"/>
            </a:avLst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45775" y="2834639"/>
            <a:ext cx="868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4D35E"/>
                </a:solidFill>
                <a:latin typeface="Consolas"/>
              </a:rPr>
              <a:t>21,4%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3474720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Positive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0" y="3547872"/>
            <a:ext cx="1584655" cy="182880"/>
          </a:xfrm>
          <a:prstGeom prst="roundRect">
            <a:avLst>
              <a:gd name="adj" fmla="val 50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9680" y="3547872"/>
            <a:ext cx="73152" cy="182880"/>
          </a:xfrm>
          <a:prstGeom prst="roundRect">
            <a:avLst>
              <a:gd name="adj" fmla="val 50000"/>
            </a:avLst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45775" y="3474720"/>
            <a:ext cx="868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50E3A4"/>
                </a:solidFill>
                <a:latin typeface="Consolas"/>
              </a:rPr>
              <a:t>1,4%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4343400"/>
            <a:ext cx="4053535" cy="182880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18120" y="4480560"/>
            <a:ext cx="35963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7AA7FF"/>
                </a:solidFill>
                <a:latin typeface="Calibri"/>
              </a:rPr>
              <a:t>Bigram quan trọng: </a:t>
            </a:r>
            <a:r>
              <a:rPr sz="1300" b="0" i="0">
                <a:solidFill>
                  <a:srgbClr val="9EABBA"/>
                </a:solidFill>
                <a:latin typeface="Calibri"/>
              </a:rPr>
              <a:t>“không lương”, “thường_xuyên không” bắt phủ định mà unigram bỏ sót.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50E3A4"/>
                </a:solidFill>
                <a:latin typeface="Calibri"/>
              </a:rPr>
              <a:t>Diễn giải được </a:t>
            </a:r>
            <a:r>
              <a:rPr sz="1300" b="0" i="0">
                <a:solidFill>
                  <a:srgbClr val="9EABBA"/>
                </a:solidFill>
                <a:latin typeface="Calibri"/>
              </a:rPr>
              <a:t>nhờ mô hình tuyến tính trên TF-IDF.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AA7FF"/>
                </a:solidFill>
                <a:latin typeface="Consolas"/>
              </a:rPr>
              <a:t>13 · TỔNG KẾT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Thành tựu, bài học &amp; hạn chế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alibri"/>
              </a:rPr>
              <a:t>ITviec Sentiment Analysis  ·  Nhóm Máy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EABBA"/>
                </a:solidFill>
                <a:latin typeface="Consolas"/>
              </a:rPr>
              <a:t>14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56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59" y="1874519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142E28"/>
          </a:solidFill>
          <a:ln w="9525">
            <a:solidFill>
              <a:srgbClr val="2C7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0E3A4"/>
                </a:solidFill>
                <a:latin typeface="Consolas"/>
              </a:rPr>
              <a:t>THÀNH TỰU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14600"/>
            <a:ext cx="2966618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50E3A4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1F5F9"/>
                </a:solidFill>
                <a:latin typeface="Calibri"/>
              </a:rPr>
              <a:t>Pipeline end-to-end trên 8.417 review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50E3A4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1F5F9"/>
                </a:solidFill>
                <a:latin typeface="Calibri"/>
              </a:rPr>
              <a:t>5 mô hình, chọn bằng CV Macro F1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50E3A4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1F5F9"/>
                </a:solidFill>
                <a:latin typeface="Calibri"/>
              </a:rPr>
              <a:t>Final Test độc lập 1.683 mẫu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50E3A4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1F5F9"/>
                </a:solidFill>
                <a:latin typeface="Calibri"/>
              </a:rPr>
              <a:t>Web demo Streamlit 5 phân hệ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3649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12538" y="1874519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1A2436"/>
          </a:solidFill>
          <a:ln w="9525">
            <a:solidFill>
              <a:srgbClr val="4159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7AA7FF"/>
                </a:solidFill>
                <a:latin typeface="Consolas"/>
              </a:rPr>
              <a:t>BÀI HỌC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2538" y="2514600"/>
            <a:ext cx="2966618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7AA7FF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1F5F9"/>
                </a:solidFill>
                <a:latin typeface="Calibri"/>
              </a:rPr>
              <a:t>Accuracy đánh lừa khi lệch 11:1 → dùng Macro F1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7AA7FF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1F5F9"/>
                </a:solidFill>
                <a:latin typeface="Calibri"/>
              </a:rPr>
              <a:t>SMOTE phải nằm trong Pipeline theo fold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7AA7FF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1F5F9"/>
                </a:solidFill>
                <a:latin typeface="Calibri"/>
              </a:rPr>
              <a:t>Mô hình đơn giản (LR) thắng RF/Stacking trên TF-IDF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7AA7FF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1F5F9"/>
                </a:solidFill>
                <a:latin typeface="Calibri"/>
              </a:rPr>
              <a:t>Khóa tập test, chỉ dùng một lần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645920"/>
            <a:ext cx="3515258" cy="452628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6B4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02116" y="1874519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0221A"/>
          </a:solidFill>
          <a:ln w="9525">
            <a:solidFill>
              <a:srgbClr val="845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994F"/>
                </a:solidFill>
                <a:latin typeface="Consolas"/>
              </a:rPr>
              <a:t>HẠN CHẾ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2116" y="2514600"/>
            <a:ext cx="2966618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FF994F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1F5F9"/>
                </a:solidFill>
                <a:latin typeface="Calibri"/>
              </a:rPr>
              <a:t>Nhãn suy ra từ sao → nhiễu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FF994F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1F5F9"/>
                </a:solidFill>
                <a:latin typeface="Calibri"/>
              </a:rPr>
              <a:t>Neutral &amp; Negative F1 còn thấp (0,48 / 0,38)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FF994F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1F5F9"/>
                </a:solidFill>
                <a:latin typeface="Calibri"/>
              </a:rPr>
              <a:t>Review nhiều vế dễ bị dự đoán lệch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FF994F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1F5F9"/>
                </a:solidFill>
                <a:latin typeface="Calibri"/>
              </a:rPr>
              <a:t>TF-IDF chưa nắm ngữ cảnh sâu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AA7FF"/>
                </a:solidFill>
                <a:latin typeface="Consolas"/>
              </a:rPr>
              <a:t>14 · KẾT LUẬN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EABBA"/>
                </a:solidFill>
                <a:latin typeface="Calibri"/>
              </a:rPr>
              <a:t>ITviec Sentiment Analysis  ·  Nhóm Máy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EABBA"/>
                </a:solidFill>
                <a:latin typeface="Consolas"/>
              </a:rPr>
              <a:t>15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86400" cy="4526280"/>
          </a:xfrm>
          <a:prstGeom prst="roundRect">
            <a:avLst>
              <a:gd name="adj" fmla="val 5000"/>
            </a:avLst>
          </a:prstGeom>
          <a:solidFill>
            <a:srgbClr val="1B2433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288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0E3A4"/>
                </a:solidFill>
                <a:latin typeface="Consolas"/>
              </a:rPr>
              <a:t>ĐÓNG GÓP CHÍNH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4028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50E3A4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1F5F9"/>
                </a:solidFill>
                <a:latin typeface="Calibri"/>
              </a:rPr>
              <a:t>Hệ thống 3 lớp cảm xúc end-to-end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50E3A4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1F5F9"/>
                </a:solidFill>
                <a:latin typeface="Calibri"/>
              </a:rPr>
              <a:t>Logistic Regression + SMOTE: Macro F1 0,5714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50E3A4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1F5F9"/>
                </a:solidFill>
                <a:latin typeface="Calibri"/>
              </a:rPr>
              <a:t>Insight văn hóa làm việc 5 công ty IT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50E3A4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1F5F9"/>
                </a:solidFill>
                <a:latin typeface="Calibri"/>
              </a:rPr>
              <a:t>Web demo dự đoán real-time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645920"/>
            <a:ext cx="5333695" cy="2148840"/>
          </a:xfrm>
          <a:prstGeom prst="roundRect">
            <a:avLst>
              <a:gd name="adj" fmla="val 5000"/>
            </a:avLst>
          </a:prstGeom>
          <a:solidFill>
            <a:srgbClr val="141B26"/>
          </a:solidFill>
          <a:ln w="9525">
            <a:solidFill>
              <a:srgbClr val="2A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79" y="18288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A7FF"/>
                </a:solidFill>
                <a:latin typeface="Consolas"/>
              </a:rPr>
              <a:t>HƯỚNG PHÁT TRIỂN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79" y="23317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1A2436"/>
          </a:solidFill>
          <a:ln w="9525">
            <a:solidFill>
              <a:srgbClr val="4159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7AA7FF"/>
                </a:solidFill>
                <a:latin typeface="Consolas"/>
              </a:rPr>
              <a:t>ABSA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40864"/>
            <a:ext cx="3047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EABBA"/>
                </a:solidFill>
                <a:latin typeface="Calibri"/>
              </a:rPr>
              <a:t>Cảm xúc theo từng khía cạnh: lương, OT, quản lý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79" y="304495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E2B1C"/>
          </a:solidFill>
          <a:ln w="9525">
            <a:solidFill>
              <a:srgbClr val="7E6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D35E"/>
                </a:solidFill>
                <a:latin typeface="Consolas"/>
              </a:rPr>
              <a:t>LLM / PhoBERT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054096"/>
            <a:ext cx="3047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EABBA"/>
                </a:solidFill>
                <a:latin typeface="Calibri"/>
              </a:rPr>
              <a:t>Hiểu ngữ cảnh, xử lý review nhiều vế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3977639"/>
            <a:ext cx="5333695" cy="2194560"/>
          </a:xfrm>
          <a:prstGeom prst="roundRect">
            <a:avLst>
              <a:gd name="adj" fmla="val 5000"/>
            </a:avLst>
          </a:prstGeom>
          <a:solidFill>
            <a:srgbClr val="192B30"/>
          </a:solidFill>
          <a:ln w="9525">
            <a:solidFill>
              <a:srgbClr val="2C7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79" y="4206240"/>
            <a:ext cx="47850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50E3A4"/>
                </a:solidFill>
                <a:latin typeface="Calibri"/>
              </a:rPr>
              <a:t>Xin cảm ơn!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5029200"/>
            <a:ext cx="478505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1F5F9"/>
                </a:solidFill>
                <a:latin typeface="Calibri"/>
              </a:rPr>
              <a:t>Cảm ơn GVHD và Hội đồng đã lắng nghe.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1F5F9"/>
                </a:solidFill>
                <a:latin typeface="Calibri"/>
              </a:rPr>
              <a:t>Sẵn sàng Q&amp;A và Live Demo.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